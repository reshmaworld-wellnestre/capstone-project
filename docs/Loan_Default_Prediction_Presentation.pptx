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The problem" id="{15f9eebb-527d-4ab9-778c-9bc9dabb3899}">
          <p14:sldIdLst>
            <p14:sldId id="256"/>
            <p14:sldId id="257"/>
            <p14:sldId id="258"/>
            <p14:sldId id="259"/>
            <p14:sldId id="260"/>
          </p14:sldIdLst>
        </p14:section>
        <p14:section name="Part 2 · The clues in the data" id="{7fa335cf-384c-2b08-e566-a2bef88511d6}">
          <p14:sldIdLst>
            <p14:sldId id="261"/>
            <p14:sldId id="262"/>
            <p14:sldId id="263"/>
            <p14:sldId id="264"/>
            <p14:sldId id="265"/>
            <p14:sldId id="266"/>
            <p14:sldId id="267"/>
            <p14:sldId id="268"/>
            <p14:sldId id="269"/>
            <p14:sldId id="270"/>
          </p14:sldIdLst>
        </p14:section>
        <p14:section name="Part 3 · The solution" id="{29f5d686-f051-3dac-7ffa-bbe73715f1cf}">
          <p14:sldIdLst>
            <p14:sldId id="271"/>
            <p14:sldId id="272"/>
            <p14:sldId id="273"/>
            <p14:sldId id="274"/>
          </p14:sldIdLst>
        </p14:section>
        <p14:section name="Part 4 · Putting it to work" id="{7ef516c3-48d4-343c-cb4b-4bef6ea0435e}">
          <p14:sldIdLst>
            <p14:sldId id="275"/>
            <p14:sldId id="276"/>
            <p14:sldId id="277"/>
          </p14:sldIdLst>
        </p14:section>
        <p14:section name="The ending" id="{927629a9-145e-fa89-ac95-e7f17a5e0420}">
          <p14:sldIdLst>
            <p14:sldId id="278"/>
            <p14:sldId id="279"/>
            <p14:sldId id="280"/>
          </p14:sldIdLst>
        </p14:section>
        <p14:section name="Appendix" id="{676dcd33-8b1b-3b06-0f4b-65698a37ad59}">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Number of loans by status (blue = good, orange = went bad)</a:t>
            </a:r>
          </a:p>
        </c:rich>
      </c:tx>
      <c:layout/>
      <c:overlay val="0"/>
    </c:title>
    <c:autoTitleDeleted val="0"/>
    <c:plotArea>
      <c:layout/>
      <c:barChart>
        <c:barDir val="col"/>
        <c:grouping val="clustered"/>
        <c:varyColors val="0"/>
        <c:ser>
          <c:idx val="0"/>
          <c:order val="0"/>
          <c:tx>
            <c:strRef>
              <c:f>Sheet1!$B$1</c:f>
              <c:strCache>
                <c:ptCount val="1"/>
                <c:pt idx="0">
                  <c:v>Loans</c:v>
                </c:pt>
              </c:strCache>
            </c:strRef>
          </c:tx>
          <c:spPr>
            <a:solidFill>
              <a:srgbClr val="2A78D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E8622C"/>
              </a:solidFill>
              <a:effectLst/>
            </c:spPr>
          </c:dPt>
          <c:dPt>
            <c:idx val="3"/>
            <c:invertIfNegative val="0"/>
            <c:bubble3D val="0"/>
            <c:spPr>
              <a:solidFill>
                <a:srgbClr val="E8622C"/>
              </a:solidFill>
              <a:effectLst/>
            </c:spPr>
          </c:dPt>
          <c:cat>
            <c:multiLvlStrRef>
              <c:f>Sheet1!$A$2:$A$5</c:f>
              <c:multiLvlStrCache>
                <c:ptCount val="4"/>
                <c:lvl>
                  <c:pt idx="0">
                    <c:v>A: finished, paid</c:v>
                  </c:pt>
                  <c:pt idx="1">
                    <c:v>C: running, OK</c:v>
                  </c:pt>
                  <c:pt idx="2">
                    <c:v>B: finished, NOT paid</c:v>
                  </c:pt>
                  <c:pt idx="3">
                    <c:v>D: running, in debt</c:v>
                  </c:pt>
                </c:lvl>
              </c:multiLvlStrCache>
            </c:multiLvlStrRef>
          </c:cat>
          <c:val>
            <c:numRef>
              <c:f>Sheet1!$B$2:$B$5</c:f>
              <c:numCache>
                <c:formatCode>General</c:formatCode>
                <c:ptCount val="4"/>
                <c:pt idx="0">
                  <c:v>203</c:v>
                </c:pt>
                <c:pt idx="1">
                  <c:v>403</c:v>
                </c:pt>
                <c:pt idx="2">
                  <c:v>31</c:v>
                </c:pt>
                <c:pt idx="3">
                  <c:v>45</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45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Overdrawn before the loan?</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2A78D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8622C"/>
              </a:solidFill>
              <a:effectLst/>
            </c:spPr>
          </c:dPt>
          <c:cat>
            <c:multiLvlStrRef>
              <c:f>Sheet1!$A$2:$A$3</c:f>
              <c:multiLvlStrCache>
                <c:ptCount val="2"/>
                <c:lvl>
                  <c:pt idx="0">
                    <c:v>Never (655)</c:v>
                  </c:pt>
                  <c:pt idx="1">
                    <c:v>Yes (27)</c:v>
                  </c:pt>
                </c:lvl>
              </c:multiLvlStrCache>
            </c:multiLvlStrRef>
          </c:cat>
          <c:val>
            <c:numRef>
              <c:f>Sheet1!$B$2:$B$3</c:f>
              <c:numCache>
                <c:formatCode>General</c:formatCode>
                <c:ptCount val="2"/>
                <c:pt idx="0">
                  <c:v>0.075</c:v>
                </c:pt>
                <c:pt idx="1">
                  <c:v>1</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Penalty interest charged?</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2A78D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8622C"/>
              </a:solidFill>
              <a:effectLst/>
            </c:spPr>
          </c:dPt>
          <c:cat>
            <c:multiLvlStrRef>
              <c:f>Sheet1!$A$2:$A$3</c:f>
              <c:multiLvlStrCache>
                <c:ptCount val="2"/>
                <c:lvl>
                  <c:pt idx="0">
                    <c:v>Never (653)</c:v>
                  </c:pt>
                  <c:pt idx="1">
                    <c:v>Yes (29)</c:v>
                  </c:pt>
                </c:lvl>
              </c:multiLvlStrCache>
            </c:multiLvlStrRef>
          </c:cat>
          <c:val>
            <c:numRef>
              <c:f>Sheet1!$B$2:$B$3</c:f>
              <c:numCache>
                <c:formatCode>General</c:formatCode>
                <c:ptCount val="2"/>
                <c:pt idx="0">
                  <c:v>0.077</c:v>
                </c:pt>
                <c:pt idx="1">
                  <c:v>0.897</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Payment vs usual balance</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2A78D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8622C"/>
              </a:solidFill>
              <a:effectLst/>
            </c:spPr>
          </c:dPt>
          <c:cat>
            <c:multiLvlStrRef>
              <c:f>Sheet1!$A$2:$A$3</c:f>
              <c:multiLvlStrCache>
                <c:ptCount val="2"/>
                <c:lvl>
                  <c:pt idx="0">
                    <c:v>Smallest 25%</c:v>
                  </c:pt>
                  <c:pt idx="1">
                    <c:v>Largest 25%</c:v>
                  </c:pt>
                </c:lvl>
              </c:multiLvlStrCache>
            </c:multiLvlStrRef>
          </c:cat>
          <c:val>
            <c:numRef>
              <c:f>Sheet1!$B$2:$B$3</c:f>
              <c:numCache>
                <c:formatCode>General</c:formatCode>
                <c:ptCount val="2"/>
                <c:pt idx="0">
                  <c:v>0.029</c:v>
                </c:pt>
                <c:pt idx="1">
                  <c:v>0.234</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People on the account</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2A78D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8622C"/>
              </a:solidFill>
              <a:effectLst/>
            </c:spPr>
          </c:dPt>
          <c:cat>
            <c:multiLvlStrRef>
              <c:f>Sheet1!$A$2:$A$3</c:f>
              <c:multiLvlStrCache>
                <c:ptCount val="2"/>
                <c:lvl>
                  <c:pt idx="0">
                    <c:v>Two (145)</c:v>
                  </c:pt>
                  <c:pt idx="1">
                    <c:v>One (537)</c:v>
                  </c:pt>
                </c:lvl>
              </c:multiLvlStrCache>
            </c:multiLvlStrRef>
          </c:cat>
          <c:val>
            <c:numRef>
              <c:f>Sheet1!$B$2:$B$3</c:f>
              <c:numCache>
                <c:formatCode>General</c:formatCode>
                <c:ptCount val="2"/>
                <c:pt idx="0">
                  <c:v>0</c:v>
                </c:pt>
                <c:pt idx="1">
                  <c:v>0.142</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43A"/>
                </a:solidFill>
                <a:latin typeface="+mn-lt"/>
              </a:defRPr>
            </a:pPr>
            <a:r>
              <a:rPr sz="1400" b="0" i="0" u="none" strike="noStrike">
                <a:solidFill>
                  <a:srgbClr val="16243A"/>
                </a:solidFill>
                <a:latin typeface="+mn-lt"/>
              </a:rPr>
              <a:t>F1 score per model, 5-fold cross-validation (pass mark 0.50)</a:t>
            </a:r>
          </a:p>
        </c:rich>
      </c:tx>
      <c:layout/>
      <c:overlay val="0"/>
    </c:title>
    <c:autoTitleDeleted val="0"/>
    <c:plotArea>
      <c:layout/>
      <c:barChart>
        <c:barDir val="bar"/>
        <c:grouping val="clustered"/>
        <c:varyColors val="0"/>
        <c:ser>
          <c:idx val="0"/>
          <c:order val="0"/>
          <c:tx>
            <c:strRef>
              <c:f>Sheet1!$B$1</c:f>
              <c:strCache>
                <c:ptCount val="1"/>
                <c:pt idx="0">
                  <c:v>F1 score</c:v>
                </c:pt>
              </c:strCache>
            </c:strRef>
          </c:tx>
          <c:spPr>
            <a:solidFill>
              <a:srgbClr val="2A78D6"/>
            </a:solidFill>
            <a:effectLst/>
          </c:spPr>
          <c:invertIfNegative val="0"/>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Baseline</c:v>
                  </c:pt>
                  <c:pt idx="1">
                    <c:v>Decision Tree</c:v>
                  </c:pt>
                  <c:pt idx="2">
                    <c:v>Logistic Regression</c:v>
                  </c:pt>
                  <c:pt idx="3">
                    <c:v>Gradient Boosting</c:v>
                  </c:pt>
                  <c:pt idx="4">
                    <c:v>Random Forest</c:v>
                  </c:pt>
                </c:lvl>
              </c:multiLvlStrCache>
            </c:multiLvlStrRef>
          </c:cat>
          <c:val>
            <c:numRef>
              <c:f>Sheet1!$B$2:$B$6</c:f>
              <c:numCache>
                <c:formatCode>General</c:formatCode>
                <c:ptCount val="5"/>
                <c:pt idx="0">
                  <c:v>0</c:v>
                </c:pt>
                <c:pt idx="1">
                  <c:v>0.364</c:v>
                </c:pt>
                <c:pt idx="2">
                  <c:v>0.464</c:v>
                </c:pt>
                <c:pt idx="3">
                  <c:v>0.528</c:v>
                </c:pt>
                <c:pt idx="4">
                  <c:v>0.541</c:v>
                </c:pt>
              </c:numCache>
            </c:numRef>
          </c:val>
        </c:ser>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6EA"/>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43A"/>
                </a:solidFill>
                <a:latin typeface="+mn-lt"/>
              </a:defRPr>
            </a:pPr>
            <a:r>
              <a:rPr sz="1400" b="0" i="0" u="none" strike="noStrike">
                <a:solidFill>
                  <a:srgbClr val="16243A"/>
                </a:solidFill>
                <a:latin typeface="+mn-lt"/>
              </a:rPr>
              <a:t>Default rate by loan year</a:t>
            </a:r>
          </a:p>
        </c:rich>
      </c:tx>
      <c:layout/>
      <c:overlay val="0"/>
    </c:title>
    <c:autoTitleDeleted val="0"/>
    <c:plotArea>
      <c:layout/>
      <c:lineChart>
        <c:varyColors val="0"/>
        <c:ser>
          <c:idx val="0"/>
          <c:order val="0"/>
          <c:tx>
            <c:strRef>
              <c:f>Sheet1!$B$1</c:f>
              <c:strCache>
                <c:ptCount val="1"/>
                <c:pt idx="0">
                  <c:v>Default rate</c:v>
                </c:pt>
              </c:strCache>
            </c:strRef>
          </c:tx>
          <c:spPr>
            <a:solidFill>
              <a:srgbClr val="E8622C"/>
            </a:solidFill>
            <a:ln w="31750" cap="flat">
              <a:solidFill>
                <a:srgbClr val="E8622C"/>
              </a:solidFill>
              <a:prstDash val="solid"/>
              <a:round/>
            </a:ln>
            <a:effectLst/>
          </c:spPr>
          <c:invertIfNegative val="0"/>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c:symbol val="circle"/>
            <c:size val="9"/>
            <c:spPr>
              <a:solidFill>
                <a:srgbClr val="E8622C"/>
              </a:solidFill>
              <a:ln w="9525" cap="flat">
                <a:solidFill>
                  <a:srgbClr val="E8622C"/>
                </a:solidFill>
                <a:prstDash val="solid"/>
                <a:round/>
              </a:ln>
              <a:effectLst/>
            </c:spPr>
          </c:marker>
          <c:cat>
            <c:multiLvlStrRef>
              <c:f>Sheet1!$A$2:$A$6</c:f>
              <c:multiLvlStrCache>
                <c:ptCount val="5"/>
                <c:lvl>
                  <c:pt idx="0">
                    <c:v>1993–94</c:v>
                  </c:pt>
                  <c:pt idx="1">
                    <c:v>1995</c:v>
                  </c:pt>
                  <c:pt idx="2">
                    <c:v>1996</c:v>
                  </c:pt>
                  <c:pt idx="3">
                    <c:v>1997</c:v>
                  </c:pt>
                  <c:pt idx="4">
                    <c:v>1998</c:v>
                  </c:pt>
                </c:lvl>
              </c:multiLvlStrCache>
            </c:multiLvlStrRef>
          </c:cat>
          <c:val>
            <c:numRef>
              <c:f>Sheet1!$B$2:$B$6</c:f>
              <c:numCache>
                <c:formatCode>General</c:formatCode>
                <c:ptCount val="5"/>
                <c:pt idx="0">
                  <c:v>0.149</c:v>
                </c:pt>
                <c:pt idx="1">
                  <c:v>0.133</c:v>
                </c:pt>
                <c:pt idx="2">
                  <c:v>0.137</c:v>
                </c:pt>
                <c:pt idx="3">
                  <c:v>0.133</c:v>
                </c:pt>
                <c:pt idx="4">
                  <c:v>0.025</c:v>
                </c:pt>
              </c:numCache>
            </c:numRef>
          </c:val>
          <c:smooth val="0"/>
        </c:ser>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30 seconds):
Good morning everyone. My name is Reshma, and my capstone project is about predicting loan default, which means predicting whether a borrower will fail to repay a loan.
I used real data from a Czech bank, given to us as eight linked files.
In the next 15 minutes I will cover the problem, how I cleaned and joined the data, the model I built, how well it works, and how a bank could use it.
TIP: Speak slowly. Smile. You know this project better than anyone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30 seconds):
I'll tell this project as a story in four parts.
Part 1, the problem: some borrowers don't repay, and the bank wants to spot them before saying yes.
Part 2, the clues: the bank's own data, eight files about accounts, transactions, people and districts.
Part 3, the solution: a model that gives every loan application a risk score.
Part 4, putting it to work: an app the bank can actually use, and how to keep it working.
Our main character is a credit officer with a 100,000 CZK loan application on the desk. By the end, we'll help them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Imagine our credit officer. A customer wants 100,000 CZK. Say yes to a good customer and the bank earns interest; say yes to the wrong one and the bank loses money.
SAY (about 45 seconds):
Banks lend money every day, and some borrowers do not pay it back. In this bank, about one in nine loans went bad.
My goal: look at a loan application and the customer's bank account history, and predict before approval whether the loan is likely to default.
I chose this project because predicting credit risk is one of the most common uses of predictive analytics in banking, and it let me do the full journey: data, model, and a working app.
IF ASKED "What does default mean here?": a loan with status B (finished but not fully paid) or D (still running but the customer is in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1 minute):
To solve the problem, I set six research objectives.
One: clean the eight files and join them into one reliable table, with one row per loan.
Two: find out whether account behaviour before the loan, like balances, income and overdrafts, is linked to default.
Three: check whether the loan terms, meaning amount, length and monthly payment, matter.
Four: check whether customer and regional factors, like age, card and district, matter.
Five: build and compare five prediction models, with a target F1 score of at least 0.50 on loans the model has never seen.
Six: find the main risk drivers and turn them into recommendations for the bank.
I'll come back to these at the end and show what I found for each one.
IF ASKED "Why these objectives?": they follow the process in the capstone brief: understand and prepare the data, explore it, build and test a model, then interpret the results and recommend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45 seconds):
Why this kind of project? Data analytics is often shown as a ladder.
Descriptive: what happened. That is the Excel and Power BI dashboards from the course.
Diagnostic: why it happened, using SQL and statistics.
Predictive: what will happen. That is this project, using Python and machine learning.
[PERSONALISE: one sentence about your own background, e.g. "In my previous role I worked with ... and I want to move into ..."]
This project shows the skills employers look for in analyst roles in banking: cleaning data, building and testing a model, and putting it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So that's the problem. Now, where do we find clues? In the bank's own data.
SAY (about 40 seconds):
These are the eight files from the capstone. The Loan file has 682 loans and a status column; that status is what I predict.
The other files describe each loan's bank account, more than one million transactions, the people on the account, their cards, and their district.
The Order file has no dates, so I did not use it in the model. I will explain why on the next slides.
IF ASKED "Why only 682 loans when there are 4,500 accounts?": only 682 accounts took a loan. The other accounts help describe the bank but have no loan outcome to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45 seconds):
Where does the number 682 come from? It is simply the number of rows in the Loan file: every loan the bank gave between 1993 and 1998.
The bank has 4,500 accounts, but only 682 of them ever took a loan, and each took exactly one. Only those loans have a known outcome, so only they can teach the model.
Of the 682, 606 were good, status A or C, and 76 defaulted, status B or D. That is 11 percent.
For modelling I split them: 545 loans to learn from and 137 hidden for the final exam, both keeping the same 11 percent default rate.
And I kept all 682 the whole way: I started every join from the loans, used left joins, checked the row count after every join, and the cleaning fixed values without deleting any loans.
IF ASKED "What about the other 3,818 accounts?": they never took a loan, so there is no answer to learn from. They are still part of the bank's data but not part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This diagram shows how the files link together. Account, in blue, is the centre.
Each loan belongs to one account. Each account sits in a district and has transactions and orders.
The Disp file links accounts to people, and says who is the owner and who is an extra user. Cards belong to a person on an account.
Before joining, I checked that every loan has exactly one account and every account has exactly one owner.
IF ASKED "What is a key?": an ID column that appears in two files, like account_id, so we can match the rows up.
IF ASKED "What is Disp?": short for disposition. It says which client can use which account, as owner or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1 minute):
Why do we need to join the tables? The answer, whether a loan defaulted, is only in the Loan file. But the Loan file knows very little about the customer: just the amount, the length and the monthly payment.
Everything that tells us what kind of customer this is sits in the other files. Transactions show how they manage their money. Disp shows if the account is shared. Client gives their age. Card shows if they had a card. District describes where they live.
A model can only learn from one table, with one row per loan and all the facts in its columns. So we join each file onto the loan using the shared ID columns, like a VLOOKUP in Excel.
The Order file was left out because it has no dates.
IF ASKED "Why not just use the Loan file?": the model would only see amount and length, and could not tell a careful saver from someone who keeps going overdrawn. The strongest clues came from the joined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The data had no duplicates and no broken links, but it needed tidying.
Codes were in Czech, so I translated them to English.
Some codes were blank, so I labelled them 'unknown'.
One district was missing its 1995 figures, so I used its 1996 figures.
Transaction amounts were all positive, so I added a minus sign for money going out.
Every change is recorded in a cleaning log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30 seconds):
These are the checks I ran on every file, each just one or two lines of Python.
No duplicates, every ID unique, no records pointing to something that does not exist, and the loan maths adds up: amount equals months times monthly payment.
I kept negative balances, because overdrafts are real customer behaviour, and they turned out to be the strongest warning sign.
IF ASKED "Why not remove negative balances as outliers?": they are not errors; the bank allows overdrafts, and they carry important information about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50 seconds):
To get one table, I started with the 682 loans and added the other files one at a time, checking the row count after each step: always 682.
The transaction file is huge, so for each account I summarised it into a few numbers, such as the average and lowest balance.
The most important rule: only use what the bank knew on the loan date. Using later information is called data leakage; it makes a model look great in testing but fail in real life.
So I kept only the 54,694 transactions made before each loan, only cards issued before the loan, and left the Order file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Feature engineering means creating useful inputs from raw data.
From each customer's transactions before the loan, I calculated their average, lowest and latest balance, how much the balance jumps around, how many times they went overdrawn, and how often the bank charged penalty interest.
I also created an affordability measure: the monthly payment divided by the average balance.
In total the model uses 24 inputs. I left out gender on purpose for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Only 76 of the 682 loans defaulted, about 11 percent.
This creates a trap. A lazy model that always says 'this person will repay' would be 89 percent accurate, but it would catch zero defaulters.
So accuracy alone is misleading here. Instead I use the confusion matrix and the scores we learned in the course: recall, precision and the F1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50 seconds):
This is my most important finding from exploring the data.
All 27 accounts that went overdrawn before the loan later defaulted, compared with 7.5 percent of the others. The group is small, but the signal is very clear.
Penalty interest tells the same story.
When the monthly payment was large compared with the usual balance, 23 percent defaulted, against 3 percent for the most comfortable customers.
And accounts shared by two people never defaulted.
Statistical tests confirmed 11 inputs are clearly linked to default; region and card type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45 seconds):
Here is how I built and tested the models, in six steps.
First I hid 20 percent of the loans, 137 of them, as the final exam.
Then I prepared the data: turning text like card type into numbers.
I compared five models, from a simple guess up to a forest of trees.
Each one did five practice rounds on the training loans, and I told the models that missing a defaulter is worse than a false alarm.
I tried 12 settings for the best model and kept the one with the best F1 score.
Finally, I scored the hidden loans once, at the very end.
IF ASKED "What is stratified?": both parts keep the same 11 percent default rate.
IF ASKED "What are class weights?": a way of telling the model that defaulters are rare and important, so mistakes on them count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How does the chosen model, the Random Forest, actually decide?
On the left is one decision tree, simplified. It asks yes or no questions: was the account overdrawn before the loan? If yes, high risk. If no, is the payment large compared with the balance? And so on.
A Random Forest builds 250 such trees, each from a slightly different sample of loans. Each tree votes, and the share of votes becomes the risk score. If 200 of 250 trees say default, the risk is 80 percent.
It is like asking 250 credit officers and going with the majority.
IF ASKED "Why many trees instead of one?": one tree can be fooled by a few unusual loans; averaging many trees is more stable and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40 seconds):
This compares the five models on the five practice rounds, using the F1 score.
The baseline, which always guesses 'repay', scores 0 because it never catches anyone.
The decision tree reaches 0.36 and Logistic Regression 0.46. Gradient Boosting reaches 0.53 and Random Forest 0.54: these two pass my 0.50 mark.
The table shows why: Logistic Regression catches the most defaulters, 72 percent, but only 35 percent of its flags are right, so it raises many false alarms.
I tuned the Random Forest and took it to the final exam.
IF ASKED "Why not Logistic Regression, since it catches more defaulters?": it flags too many good customers. The forest is the better balance, and I keep Logistic Regression as the easy-to-explain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35 seconds):
Which inputs matter most to the forest? The Random Forest reports how much each input helped its trees tell defaulters from good borrowers. That is called feature importance.
The top inputs are all about account behaviour: the latest and lowest balance before the loan, the payment compared with the balance, how much the balance jumps around, and overdrafts.
District, salary and age matter much less. This matches what I found when exploring the data, which gives me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have a solution that works. But a model in a notebook doesn't help anyone. Part 4: putting it to work.
SAY (about 45 seconds):
Deployment means turning the model into something people can use.
I saved the trained model as a small file and wrapped it in a function: put in an applicant's details, get back their risk.
It can be used in three ways: a batch report that Excel or Power BI can open, a web app for staff, and an API so other bank systems can ask for a score.
The risk bands work well: on the test loans, all 9 High-risk loans defaulted, against 1 percent of Low-risk loans.
My quality bar was an F1 of 0.50; the model scores 0.77, so I recommend a pilot, with a credit officer reviewing every High and Medium flag.
IF ASKED "What is an API?": a way for one computer system to ask another for an answer automatically, without a person typing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Remember our credit officer with the 100,000 CZK application? Let's help them decide.
DO (about 2 minutes):
1. Switch to the browser tab with the app (opened earlier from Loan_Risk_Demo.ipynb; click the gradio.live link).
2. SAY: "This is a simple app built on my model. On the left is the loan, in the middle the account history."
3. Click "Healthy account", then "Check risk". SAY: "A 100,000 CZK loan, steady balance, never overdrawn. About 2 percent: Low risk, approve."
4. Click "Stretched account", then "Check risk". SAY: "Same loan, but lower balances and three overdrafts. Risk jumps to about 67 percent: High, refer to a credit officer."
5. Point to "What the model noticed". SAY: "The app also shows the warning signs, so staff can see why."
6. Optional: change one number live, e.g. set overdrafts back to 0, and click Check risk again.
BEFORE THE TALK: open the app 10 minutes early and keep the tab open. The gradio.live link expires after about 72 hours.
IF THE APP FAILS: stay calm, say "Here is the same result from my earlier run", and point at this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45 seconds):
Two points on running this for real.
Scalability: it scores about 140,000 loans per second, so it can easily handle a whole bank's loan book.
Adaptability: one function retrains it on new data. Trained on 1993 to 1996 and tested on 1997 to 1998, it still scored an F1 of 0.65.
Monitoring: every month I would check three things. Are applicants changing? That is the PSI number. Is the F1 score still at or above 0.50? And is the default rate shifting?
The default-rate alert you see is expected: 1998 loans are too new to have defaulted yet. The lesson is to compare loans of the same age.
IF ASKED "What is PSI?": Population Stability Index. It measures how different new applicants are from the ones the model learned on. Under 0.10 is stable, 0.10 to 0.25 watch, above 0.25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I finish, let's go back to the six research objectives from the start.
SAY (about 1 minute):
One: I cleaned and joined the eight files into one table, and no loan was lost.
Two: account behaviour matters most. Low or unstable balances and overdrafts before the loan were the strongest warning signs.
Three: loan terms matter: when the monthly payment is large compared with the usual balance, risk goes up.
Four: customer and regional factors matter much less, although accounts shared by two people were safer.
Five: my best model scored an F1 of 0.77 on loans it had never seen, well above the 0.50 pass mark.
Six: my recommendation is a pilot with a credit officer, with monthly monitoring. I'll go through the details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So, back to where we started: can the bank spot risky borrowers before saying yes? Yes.
SAY (about 1 minute):
Here is the final result, on the 137 loans the model had never seen.
The grid shows what the model said against what really happened. It approved 121 good customers correctly and caught 10 of the 15 bad loans. It raised only 1 false alarm, and missed 5.
That gives an F1 score of 0.77, well above my 0.50 pass mark. When it warns, it is right 10 times out of 11, 91 percent. It catches two thirds of the bad loans, and overall accuracy is 96 percent.
What matters most is account behaviour before the loan: balances, overdrafts, and how big the payment is compared with the balance. Region, salary and age matter much less.
And it is reliable: when I scrambled the answers its F1 dropped to almost zero, and trained only on older loans it still scored 0.65 on 1997 and 1998. So it is ready for a pilot, with a credit officer checking its warnings.
IF ASKED "Why does it miss 5 of 15?": at a 50 percent cut-off it is careful. If the bank also reviews the Medium band, above 30 percent, 14 of the 15 bad loans are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(about 45 seconds, then stop):
My recommendations.
One: pilot the model, scoring every application, with a credit officer reviewing High-risk flags.
Two: treat overdrafts and low balances before a loan as early warning signs, even without a model.
Three: add dates to standing orders so that data can be used safely in future.
Four: monitor monthly, using PSI, the F1 score and the default rate, and retrain when an alert fires.
Five: keep gender out of credit decisions and check that outcomes are fair.
Six: use the simple scorecard to explain decisions to customers.
Thank you. I am happy to take questions.
TIP: for questions, the backup slides have simple answers to the most likely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Do not present it; jump here only if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Do not present it; jump here only if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Each box shows the middle half of customers; the line inside is the median (middle value). Orange = defaulters. They had clearly lower balances, especially the latest balance before the loan (median 21,959 vs 39,416 CZK), and a larger payment compared with their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Correlation shows which inputs move together with default (closer to +1 or -1 = stronger link). Overdrafts and an unstable balance link most strongly to default.
The default rate is steady at 13 to 15 percent each year until 1998. 1998 looks safe only because those loans are too new to have gone bad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Tests used:
Mann-Whitney U for number inputs: checks whether defaulters and good customers have different values.
Chi-square for category inputs: checks whether the default rate differs between groups.
p below 0.05 means the difference is very unlikely to be chance. Account behaviour and loan size are significant; region, card type and salary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Left: the confusion matrix for the 137 test loans: 121 correct approvals, 10 defaulters caught, 5 missed, 1 false alarm. Right: the four scores. Accuracy 96 percent, precision 91 percent, recall 67 percent, F1 0.77 (pass mark 0.50, dashed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scoring function takes a new applicant's details, fills anything missing with typical values, calculates the monthly payment and affordability, asks the model for a probability, and turns it into a band: Low under 30 percent, Medium 30 to 60, High 60 and above. The batch report scores many loans at once and saves a CSV for Excel or Power BI. On the test loans: Low 112 loans, 1 percent defaulted; Medium 16 loans, 31 percent; High 9 loans,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PSI compares each input for older and newer applicants. Below 0.10 stable, 0.10 to 0.25 watch, above 0.25 retrain. A few inputs, such as spending, are in the watch zone, which is normal over several years and a reason for scheduled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Everything was done in a Jupyter notebook on Google Colab: pandas and NumPy for data work, Matplotlib and Seaborn for charts, SciPy for statistical tests, scikit-learn for the machine learning and the confusion-matrix scores, joblib to save the model, and Gradio to turn it into a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Loan Default Prediction  ·  NTUC Associate DA Capstone</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29-1.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3.xml"/><Relationship Id="rId10"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ircle"/>
          <p:cNvSpPr/>
          <p:nvPr/>
        </p:nvSpPr>
        <p:spPr>
          <a:xfrm>
            <a:off x="548640" y="1143000"/>
            <a:ext cx="868680" cy="868680"/>
          </a:xfrm>
          <a:prstGeom prst="ellipse">
            <a:avLst/>
          </a:prstGeom>
          <a:solidFill>
            <a:srgbClr val="E8622C"/>
          </a:solidFill>
          <a:ln/>
        </p:spPr>
      </p:sp>
      <p:pic>
        <p:nvPicPr>
          <p:cNvPr id="3" name="Title icon" descr="preencoded.png">    </p:cNvPr>
          <p:cNvPicPr>
            <a:picLocks noChangeAspect="1"/>
          </p:cNvPicPr>
          <p:nvPr/>
        </p:nvPicPr>
        <p:blipFill>
          <a:blip r:embed="rId1"/>
          <a:stretch>
            <a:fillRect/>
          </a:stretch>
        </p:blipFill>
        <p:spPr>
          <a:xfrm>
            <a:off x="783184" y="1377544"/>
            <a:ext cx="399593" cy="399593"/>
          </a:xfrm>
          <a:prstGeom prst="rect">
            <a:avLst/>
          </a:prstGeom>
        </p:spPr>
      </p:pic>
      <p:sp>
        <p:nvSpPr>
          <p:cNvPr id="4" name="Text 1"/>
          <p:cNvSpPr txBox="1"/>
          <p:nvPr/>
        </p:nvSpPr>
        <p:spPr>
          <a:xfrm>
            <a:off x="548640" y="2240280"/>
            <a:ext cx="10058400" cy="100584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Predicting Loan Default</a:t>
            </a:r>
            <a:endParaRPr lang="en-US" sz="4800" dirty="0"/>
          </a:p>
        </p:txBody>
      </p:sp>
      <p:sp>
        <p:nvSpPr>
          <p:cNvPr id="5" name="Text 2"/>
          <p:cNvSpPr txBox="1"/>
          <p:nvPr/>
        </p:nvSpPr>
        <p:spPr>
          <a:xfrm>
            <a:off x="548640" y="3291840"/>
            <a:ext cx="10058400" cy="548640"/>
          </a:xfrm>
          <a:prstGeom prst="rect">
            <a:avLst/>
          </a:prstGeom>
          <a:noFill/>
          <a:ln/>
        </p:spPr>
        <p:txBody>
          <a:bodyPr wrap="square" lIns="0" tIns="0" rIns="0" bIns="0" rtlCol="0" anchor="t"/>
          <a:lstStyle/>
          <a:p>
            <a:pPr indent="0" marL="0">
              <a:buNone/>
            </a:pPr>
            <a:r>
              <a:rPr lang="en-US" sz="2200" dirty="0">
                <a:solidFill>
                  <a:srgbClr val="CADCFC"/>
                </a:solidFill>
              </a:rPr>
              <a:t>A story in four parts: the problem, the clues, the solution, and putting it to work</a:t>
            </a:r>
            <a:endParaRPr lang="en-US" sz="2200" dirty="0"/>
          </a:p>
        </p:txBody>
      </p:sp>
      <p:sp>
        <p:nvSpPr>
          <p:cNvPr id="6" name="Text 3"/>
          <p:cNvSpPr txBox="1"/>
          <p:nvPr/>
        </p:nvSpPr>
        <p:spPr>
          <a:xfrm>
            <a:off x="548640" y="4846320"/>
            <a:ext cx="10058400" cy="7315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Presented by Reshma</a:t>
            </a:r>
            <a:endParaRPr lang="en-US" sz="1600" dirty="0"/>
          </a:p>
          <a:p>
            <a:pPr indent="0" marL="0">
              <a:spcAft>
                <a:spcPts val="400"/>
              </a:spcAft>
              <a:buNone/>
            </a:pPr>
            <a:r>
              <a:rPr lang="en-US" sz="1600" dirty="0">
                <a:solidFill>
                  <a:schemeClr val="bg1"/>
                </a:solidFill>
              </a:rPr>
              <a:t>NTUC Associate Data Analyst Capstone  ·  Finance track (PKDD bank data, 8 linked tables)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1 · THE PROBLEM</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story in four parts</a:t>
            </a:r>
            <a:endParaRPr lang="en-US" sz="3400" dirty="0"/>
          </a:p>
        </p:txBody>
      </p:sp>
      <p:sp>
        <p:nvSpPr>
          <p:cNvPr id="5" name="Part card 0"/>
          <p:cNvSpPr/>
          <p:nvPr/>
        </p:nvSpPr>
        <p:spPr>
          <a:xfrm>
            <a:off x="548640" y="1463040"/>
            <a:ext cx="2423160" cy="3383280"/>
          </a:xfrm>
          <a:prstGeom prst="roundRect">
            <a:avLst>
              <a:gd name="adj" fmla="val 3019"/>
            </a:avLst>
          </a:prstGeom>
          <a:solidFill>
            <a:srgbClr val="FCE6DC"/>
          </a:solidFill>
          <a:ln/>
        </p:spPr>
      </p:sp>
      <p:sp>
        <p:nvSpPr>
          <p:cNvPr id="6" name="Part 0 circle"/>
          <p:cNvSpPr/>
          <p:nvPr/>
        </p:nvSpPr>
        <p:spPr>
          <a:xfrm>
            <a:off x="822960" y="1737360"/>
            <a:ext cx="731520" cy="731520"/>
          </a:xfrm>
          <a:prstGeom prst="ellipse">
            <a:avLst/>
          </a:prstGeom>
          <a:solidFill>
            <a:srgbClr val="E8622C"/>
          </a:solidFill>
          <a:ln/>
        </p:spPr>
      </p:sp>
      <p:pic>
        <p:nvPicPr>
          <p:cNvPr id="7" name="Part 0 icon" descr="preencoded.png">    </p:cNvPr>
          <p:cNvPicPr>
            <a:picLocks noChangeAspect="1"/>
          </p:cNvPicPr>
          <p:nvPr/>
        </p:nvPicPr>
        <p:blipFill>
          <a:blip r:embed="rId1"/>
          <a:stretch>
            <a:fillRect/>
          </a:stretch>
        </p:blipFill>
        <p:spPr>
          <a:xfrm>
            <a:off x="1020470" y="1934870"/>
            <a:ext cx="336499" cy="336499"/>
          </a:xfrm>
          <a:prstGeom prst="rect">
            <a:avLst/>
          </a:prstGeom>
        </p:spPr>
      </p:pic>
      <p:sp>
        <p:nvSpPr>
          <p:cNvPr id="8" name="Text 5"/>
          <p:cNvSpPr txBox="1"/>
          <p:nvPr/>
        </p:nvSpPr>
        <p:spPr>
          <a:xfrm>
            <a:off x="1691640" y="1783080"/>
            <a:ext cx="1188720" cy="320040"/>
          </a:xfrm>
          <a:prstGeom prst="rect">
            <a:avLst/>
          </a:prstGeom>
          <a:noFill/>
          <a:ln/>
        </p:spPr>
        <p:txBody>
          <a:bodyPr wrap="square" lIns="0" tIns="0" rIns="0" bIns="0" rtlCol="0" anchor="t"/>
          <a:lstStyle/>
          <a:p>
            <a:pPr indent="0" marL="0">
              <a:buNone/>
            </a:pPr>
            <a:r>
              <a:rPr lang="en-US" sz="1200" b="1" dirty="0">
                <a:solidFill>
                  <a:schemeClr val="accent1"/>
                </a:solidFill>
              </a:rPr>
              <a:t>PART 1</a:t>
            </a:r>
            <a:endParaRPr lang="en-US" sz="1200" dirty="0"/>
          </a:p>
        </p:txBody>
      </p:sp>
      <p:sp>
        <p:nvSpPr>
          <p:cNvPr id="9" name="Text 6"/>
          <p:cNvSpPr txBox="1"/>
          <p:nvPr/>
        </p:nvSpPr>
        <p:spPr>
          <a:xfrm>
            <a:off x="822960" y="2651760"/>
            <a:ext cx="205740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The problem</a:t>
            </a:r>
            <a:endParaRPr lang="en-US" sz="1900" dirty="0"/>
          </a:p>
        </p:txBody>
      </p:sp>
      <p:sp>
        <p:nvSpPr>
          <p:cNvPr id="10" name="Text 7"/>
          <p:cNvSpPr txBox="1"/>
          <p:nvPr/>
        </p:nvSpPr>
        <p:spPr>
          <a:xfrm>
            <a:off x="822960" y="3429000"/>
            <a:ext cx="1965960" cy="1325880"/>
          </a:xfrm>
          <a:prstGeom prst="rect">
            <a:avLst/>
          </a:prstGeom>
          <a:noFill/>
          <a:ln/>
        </p:spPr>
        <p:txBody>
          <a:bodyPr wrap="square" lIns="0" tIns="0" rIns="0" bIns="0" rtlCol="0" anchor="t"/>
          <a:lstStyle/>
          <a:p>
            <a:pPr indent="0" marL="0">
              <a:buNone/>
            </a:pPr>
            <a:r>
              <a:rPr lang="en-US" sz="1500" dirty="0">
                <a:solidFill>
                  <a:schemeClr val="tx1"/>
                </a:solidFill>
              </a:rPr>
              <a:t>Some borrowers don't repay. Can we spot them before saying yes?</a:t>
            </a:r>
            <a:endParaRPr lang="en-US" sz="1500" dirty="0"/>
          </a:p>
        </p:txBody>
      </p:sp>
      <p:sp>
        <p:nvSpPr>
          <p:cNvPr id="11" name="Part arrow 0"/>
          <p:cNvSpPr/>
          <p:nvPr/>
        </p:nvSpPr>
        <p:spPr>
          <a:xfrm>
            <a:off x="3044952" y="2971800"/>
            <a:ext cx="292608" cy="365760"/>
          </a:xfrm>
          <a:prstGeom prst="rightArrow">
            <a:avLst/>
          </a:prstGeom>
          <a:solidFill>
            <a:srgbClr val="E8622C"/>
          </a:solidFill>
          <a:ln/>
        </p:spPr>
      </p:sp>
      <p:sp>
        <p:nvSpPr>
          <p:cNvPr id="12" name="Part card 1"/>
          <p:cNvSpPr/>
          <p:nvPr/>
        </p:nvSpPr>
        <p:spPr>
          <a:xfrm>
            <a:off x="3410712" y="1463040"/>
            <a:ext cx="2423160" cy="3383280"/>
          </a:xfrm>
          <a:prstGeom prst="roundRect">
            <a:avLst>
              <a:gd name="adj" fmla="val 3019"/>
            </a:avLst>
          </a:prstGeom>
          <a:solidFill>
            <a:schemeClr val="bg2"/>
          </a:solidFill>
          <a:ln/>
        </p:spPr>
      </p:sp>
      <p:sp>
        <p:nvSpPr>
          <p:cNvPr id="13" name="Part 1 circle"/>
          <p:cNvSpPr/>
          <p:nvPr/>
        </p:nvSpPr>
        <p:spPr>
          <a:xfrm>
            <a:off x="3685032" y="1737360"/>
            <a:ext cx="731520" cy="731520"/>
          </a:xfrm>
          <a:prstGeom prst="ellipse">
            <a:avLst/>
          </a:prstGeom>
          <a:solidFill>
            <a:srgbClr val="16243A"/>
          </a:solidFill>
          <a:ln/>
        </p:spPr>
      </p:sp>
      <p:pic>
        <p:nvPicPr>
          <p:cNvPr id="14" name="Part 1 icon" descr="preencoded.png">    </p:cNvPr>
          <p:cNvPicPr>
            <a:picLocks noChangeAspect="1"/>
          </p:cNvPicPr>
          <p:nvPr/>
        </p:nvPicPr>
        <p:blipFill>
          <a:blip r:embed="rId2"/>
          <a:stretch>
            <a:fillRect/>
          </a:stretch>
        </p:blipFill>
        <p:spPr>
          <a:xfrm>
            <a:off x="3882542" y="1934870"/>
            <a:ext cx="336499" cy="336499"/>
          </a:xfrm>
          <a:prstGeom prst="rect">
            <a:avLst/>
          </a:prstGeom>
        </p:spPr>
      </p:pic>
      <p:sp>
        <p:nvSpPr>
          <p:cNvPr id="15" name="Text 11"/>
          <p:cNvSpPr txBox="1"/>
          <p:nvPr/>
        </p:nvSpPr>
        <p:spPr>
          <a:xfrm>
            <a:off x="4553712" y="1783080"/>
            <a:ext cx="1188720" cy="320040"/>
          </a:xfrm>
          <a:prstGeom prst="rect">
            <a:avLst/>
          </a:prstGeom>
          <a:noFill/>
          <a:ln/>
        </p:spPr>
        <p:txBody>
          <a:bodyPr wrap="square" lIns="0" tIns="0" rIns="0" bIns="0" rtlCol="0" anchor="t"/>
          <a:lstStyle/>
          <a:p>
            <a:pPr indent="0" marL="0">
              <a:buNone/>
            </a:pPr>
            <a:r>
              <a:rPr lang="en-US" sz="1200" b="1" dirty="0">
                <a:solidFill>
                  <a:schemeClr val="accent1"/>
                </a:solidFill>
              </a:rPr>
              <a:t>PART 2</a:t>
            </a:r>
            <a:endParaRPr lang="en-US" sz="1200" dirty="0"/>
          </a:p>
        </p:txBody>
      </p:sp>
      <p:sp>
        <p:nvSpPr>
          <p:cNvPr id="16" name="Text 12"/>
          <p:cNvSpPr txBox="1"/>
          <p:nvPr/>
        </p:nvSpPr>
        <p:spPr>
          <a:xfrm>
            <a:off x="3685032" y="2651760"/>
            <a:ext cx="205740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The clues</a:t>
            </a:r>
            <a:endParaRPr lang="en-US" sz="1900" dirty="0"/>
          </a:p>
        </p:txBody>
      </p:sp>
      <p:sp>
        <p:nvSpPr>
          <p:cNvPr id="17" name="Text 13"/>
          <p:cNvSpPr txBox="1"/>
          <p:nvPr/>
        </p:nvSpPr>
        <p:spPr>
          <a:xfrm>
            <a:off x="3685032" y="3429000"/>
            <a:ext cx="1965960" cy="1325880"/>
          </a:xfrm>
          <a:prstGeom prst="rect">
            <a:avLst/>
          </a:prstGeom>
          <a:noFill/>
          <a:ln/>
        </p:spPr>
        <p:txBody>
          <a:bodyPr wrap="square" lIns="0" tIns="0" rIns="0" bIns="0" rtlCol="0" anchor="t"/>
          <a:lstStyle/>
          <a:p>
            <a:pPr indent="0" marL="0">
              <a:buNone/>
            </a:pPr>
            <a:r>
              <a:rPr lang="en-US" sz="1500" dirty="0">
                <a:solidFill>
                  <a:schemeClr val="tx1"/>
                </a:solidFill>
              </a:rPr>
              <a:t>8 files of the bank's own data: accounts, transactions, people, districts</a:t>
            </a:r>
            <a:endParaRPr lang="en-US" sz="1500" dirty="0"/>
          </a:p>
        </p:txBody>
      </p:sp>
      <p:sp>
        <p:nvSpPr>
          <p:cNvPr id="18" name="Part arrow 1"/>
          <p:cNvSpPr/>
          <p:nvPr/>
        </p:nvSpPr>
        <p:spPr>
          <a:xfrm>
            <a:off x="5907024" y="2971800"/>
            <a:ext cx="292608" cy="365760"/>
          </a:xfrm>
          <a:prstGeom prst="rightArrow">
            <a:avLst/>
          </a:prstGeom>
          <a:solidFill>
            <a:srgbClr val="E8622C"/>
          </a:solidFill>
          <a:ln/>
        </p:spPr>
      </p:sp>
      <p:sp>
        <p:nvSpPr>
          <p:cNvPr id="19" name="Part card 2"/>
          <p:cNvSpPr/>
          <p:nvPr/>
        </p:nvSpPr>
        <p:spPr>
          <a:xfrm>
            <a:off x="6272784" y="1463040"/>
            <a:ext cx="2423160" cy="3383280"/>
          </a:xfrm>
          <a:prstGeom prst="roundRect">
            <a:avLst>
              <a:gd name="adj" fmla="val 3019"/>
            </a:avLst>
          </a:prstGeom>
          <a:solidFill>
            <a:schemeClr val="bg2"/>
          </a:solidFill>
          <a:ln/>
        </p:spPr>
      </p:sp>
      <p:sp>
        <p:nvSpPr>
          <p:cNvPr id="20" name="Part 2 circle"/>
          <p:cNvSpPr/>
          <p:nvPr/>
        </p:nvSpPr>
        <p:spPr>
          <a:xfrm>
            <a:off x="6547104" y="1737360"/>
            <a:ext cx="731520" cy="731520"/>
          </a:xfrm>
          <a:prstGeom prst="ellipse">
            <a:avLst/>
          </a:prstGeom>
          <a:solidFill>
            <a:srgbClr val="16243A"/>
          </a:solidFill>
          <a:ln/>
        </p:spPr>
      </p:sp>
      <p:pic>
        <p:nvPicPr>
          <p:cNvPr id="21" name="Part 2 icon" descr="preencoded.png">    </p:cNvPr>
          <p:cNvPicPr>
            <a:picLocks noChangeAspect="1"/>
          </p:cNvPicPr>
          <p:nvPr/>
        </p:nvPicPr>
        <p:blipFill>
          <a:blip r:embed="rId3"/>
          <a:stretch>
            <a:fillRect/>
          </a:stretch>
        </p:blipFill>
        <p:spPr>
          <a:xfrm>
            <a:off x="6744614" y="1934870"/>
            <a:ext cx="336499" cy="336499"/>
          </a:xfrm>
          <a:prstGeom prst="rect">
            <a:avLst/>
          </a:prstGeom>
        </p:spPr>
      </p:pic>
      <p:sp>
        <p:nvSpPr>
          <p:cNvPr id="22" name="Text 17"/>
          <p:cNvSpPr txBox="1"/>
          <p:nvPr/>
        </p:nvSpPr>
        <p:spPr>
          <a:xfrm>
            <a:off x="7415784" y="1783080"/>
            <a:ext cx="1188720" cy="320040"/>
          </a:xfrm>
          <a:prstGeom prst="rect">
            <a:avLst/>
          </a:prstGeom>
          <a:noFill/>
          <a:ln/>
        </p:spPr>
        <p:txBody>
          <a:bodyPr wrap="square" lIns="0" tIns="0" rIns="0" bIns="0" rtlCol="0" anchor="t"/>
          <a:lstStyle/>
          <a:p>
            <a:pPr indent="0" marL="0">
              <a:buNone/>
            </a:pPr>
            <a:r>
              <a:rPr lang="en-US" sz="1200" b="1" dirty="0">
                <a:solidFill>
                  <a:schemeClr val="accent1"/>
                </a:solidFill>
              </a:rPr>
              <a:t>PART 3</a:t>
            </a:r>
            <a:endParaRPr lang="en-US" sz="1200" dirty="0"/>
          </a:p>
        </p:txBody>
      </p:sp>
      <p:sp>
        <p:nvSpPr>
          <p:cNvPr id="23" name="Text 18"/>
          <p:cNvSpPr txBox="1"/>
          <p:nvPr/>
        </p:nvSpPr>
        <p:spPr>
          <a:xfrm>
            <a:off x="6547104" y="2651760"/>
            <a:ext cx="205740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The solution</a:t>
            </a:r>
            <a:endParaRPr lang="en-US" sz="1900" dirty="0"/>
          </a:p>
        </p:txBody>
      </p:sp>
      <p:sp>
        <p:nvSpPr>
          <p:cNvPr id="24" name="Text 19"/>
          <p:cNvSpPr txBox="1"/>
          <p:nvPr/>
        </p:nvSpPr>
        <p:spPr>
          <a:xfrm>
            <a:off x="6547104" y="3429000"/>
            <a:ext cx="1965960" cy="1325880"/>
          </a:xfrm>
          <a:prstGeom prst="rect">
            <a:avLst/>
          </a:prstGeom>
          <a:noFill/>
          <a:ln/>
        </p:spPr>
        <p:txBody>
          <a:bodyPr wrap="square" lIns="0" tIns="0" rIns="0" bIns="0" rtlCol="0" anchor="t"/>
          <a:lstStyle/>
          <a:p>
            <a:pPr indent="0" marL="0">
              <a:buNone/>
            </a:pPr>
            <a:r>
              <a:rPr lang="en-US" sz="1500" dirty="0">
                <a:solidFill>
                  <a:schemeClr val="tx1"/>
                </a:solidFill>
              </a:rPr>
              <a:t>A model that gives every application a risk score</a:t>
            </a:r>
            <a:endParaRPr lang="en-US" sz="1500" dirty="0"/>
          </a:p>
        </p:txBody>
      </p:sp>
      <p:sp>
        <p:nvSpPr>
          <p:cNvPr id="25" name="Part arrow 2"/>
          <p:cNvSpPr/>
          <p:nvPr/>
        </p:nvSpPr>
        <p:spPr>
          <a:xfrm>
            <a:off x="8769096" y="2971800"/>
            <a:ext cx="292608" cy="365760"/>
          </a:xfrm>
          <a:prstGeom prst="rightArrow">
            <a:avLst/>
          </a:prstGeom>
          <a:solidFill>
            <a:srgbClr val="E8622C"/>
          </a:solidFill>
          <a:ln/>
        </p:spPr>
      </p:sp>
      <p:sp>
        <p:nvSpPr>
          <p:cNvPr id="26" name="Part card 3"/>
          <p:cNvSpPr/>
          <p:nvPr/>
        </p:nvSpPr>
        <p:spPr>
          <a:xfrm>
            <a:off x="9134856" y="1463040"/>
            <a:ext cx="2423160" cy="3383280"/>
          </a:xfrm>
          <a:prstGeom prst="roundRect">
            <a:avLst>
              <a:gd name="adj" fmla="val 3019"/>
            </a:avLst>
          </a:prstGeom>
          <a:solidFill>
            <a:schemeClr val="bg2"/>
          </a:solidFill>
          <a:ln/>
        </p:spPr>
      </p:sp>
      <p:sp>
        <p:nvSpPr>
          <p:cNvPr id="27" name="Part 3 circle"/>
          <p:cNvSpPr/>
          <p:nvPr/>
        </p:nvSpPr>
        <p:spPr>
          <a:xfrm>
            <a:off x="9409176" y="1737360"/>
            <a:ext cx="731520" cy="731520"/>
          </a:xfrm>
          <a:prstGeom prst="ellipse">
            <a:avLst/>
          </a:prstGeom>
          <a:solidFill>
            <a:srgbClr val="16243A"/>
          </a:solidFill>
          <a:ln/>
        </p:spPr>
      </p:sp>
      <p:pic>
        <p:nvPicPr>
          <p:cNvPr id="28" name="Part 3 icon" descr="preencoded.png">    </p:cNvPr>
          <p:cNvPicPr>
            <a:picLocks noChangeAspect="1"/>
          </p:cNvPicPr>
          <p:nvPr/>
        </p:nvPicPr>
        <p:blipFill>
          <a:blip r:embed="rId4"/>
          <a:stretch>
            <a:fillRect/>
          </a:stretch>
        </p:blipFill>
        <p:spPr>
          <a:xfrm>
            <a:off x="9606686" y="1934870"/>
            <a:ext cx="336499" cy="336499"/>
          </a:xfrm>
          <a:prstGeom prst="rect">
            <a:avLst/>
          </a:prstGeom>
        </p:spPr>
      </p:pic>
      <p:sp>
        <p:nvSpPr>
          <p:cNvPr id="29" name="Text 23"/>
          <p:cNvSpPr txBox="1"/>
          <p:nvPr/>
        </p:nvSpPr>
        <p:spPr>
          <a:xfrm>
            <a:off x="10277856" y="1783080"/>
            <a:ext cx="1188720" cy="320040"/>
          </a:xfrm>
          <a:prstGeom prst="rect">
            <a:avLst/>
          </a:prstGeom>
          <a:noFill/>
          <a:ln/>
        </p:spPr>
        <p:txBody>
          <a:bodyPr wrap="square" lIns="0" tIns="0" rIns="0" bIns="0" rtlCol="0" anchor="t"/>
          <a:lstStyle/>
          <a:p>
            <a:pPr indent="0" marL="0">
              <a:buNone/>
            </a:pPr>
            <a:r>
              <a:rPr lang="en-US" sz="1200" b="1" dirty="0">
                <a:solidFill>
                  <a:schemeClr val="accent1"/>
                </a:solidFill>
              </a:rPr>
              <a:t>PART 4</a:t>
            </a:r>
            <a:endParaRPr lang="en-US" sz="1200" dirty="0"/>
          </a:p>
        </p:txBody>
      </p:sp>
      <p:sp>
        <p:nvSpPr>
          <p:cNvPr id="30" name="Text 24"/>
          <p:cNvSpPr txBox="1"/>
          <p:nvPr/>
        </p:nvSpPr>
        <p:spPr>
          <a:xfrm>
            <a:off x="9409176" y="2651760"/>
            <a:ext cx="205740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Putting it to work</a:t>
            </a:r>
            <a:endParaRPr lang="en-US" sz="1900" dirty="0"/>
          </a:p>
        </p:txBody>
      </p:sp>
      <p:sp>
        <p:nvSpPr>
          <p:cNvPr id="31" name="Text 25"/>
          <p:cNvSpPr txBox="1"/>
          <p:nvPr/>
        </p:nvSpPr>
        <p:spPr>
          <a:xfrm>
            <a:off x="9409176" y="3429000"/>
            <a:ext cx="1965960" cy="1325880"/>
          </a:xfrm>
          <a:prstGeom prst="rect">
            <a:avLst/>
          </a:prstGeom>
          <a:noFill/>
          <a:ln/>
        </p:spPr>
        <p:txBody>
          <a:bodyPr wrap="square" lIns="0" tIns="0" rIns="0" bIns="0" rtlCol="0" anchor="t"/>
          <a:lstStyle/>
          <a:p>
            <a:pPr indent="0" marL="0">
              <a:buNone/>
            </a:pPr>
            <a:r>
              <a:rPr lang="en-US" sz="1500" dirty="0">
                <a:solidFill>
                  <a:schemeClr val="tx1"/>
                </a:solidFill>
              </a:rPr>
              <a:t>An app the bank can use, kept healthy with monthly checks</a:t>
            </a:r>
            <a:endParaRPr lang="en-US" sz="1500" dirty="0"/>
          </a:p>
        </p:txBody>
      </p:sp>
      <p:sp>
        <p:nvSpPr>
          <p:cNvPr id="32" name="Hero card"/>
          <p:cNvSpPr/>
          <p:nvPr/>
        </p:nvSpPr>
        <p:spPr>
          <a:xfrm>
            <a:off x="548640" y="5120640"/>
            <a:ext cx="11094415" cy="1005840"/>
          </a:xfrm>
          <a:prstGeom prst="roundRect">
            <a:avLst>
              <a:gd name="adj" fmla="val 7273"/>
            </a:avLst>
          </a:prstGeom>
          <a:solidFill>
            <a:srgbClr val="16243A"/>
          </a:solidFill>
          <a:ln/>
        </p:spPr>
      </p:sp>
      <p:sp>
        <p:nvSpPr>
          <p:cNvPr id="33" name="Hero circle"/>
          <p:cNvSpPr/>
          <p:nvPr/>
        </p:nvSpPr>
        <p:spPr>
          <a:xfrm>
            <a:off x="777240" y="5257800"/>
            <a:ext cx="731520" cy="731520"/>
          </a:xfrm>
          <a:prstGeom prst="ellipse">
            <a:avLst/>
          </a:prstGeom>
          <a:solidFill>
            <a:srgbClr val="E8622C"/>
          </a:solidFill>
          <a:ln/>
        </p:spPr>
      </p:sp>
      <p:pic>
        <p:nvPicPr>
          <p:cNvPr id="34" name="Hero icon" descr="preencoded.png">    </p:cNvPr>
          <p:cNvPicPr>
            <a:picLocks noChangeAspect="1"/>
          </p:cNvPicPr>
          <p:nvPr/>
        </p:nvPicPr>
        <p:blipFill>
          <a:blip r:embed="rId5"/>
          <a:stretch>
            <a:fillRect/>
          </a:stretch>
        </p:blipFill>
        <p:spPr>
          <a:xfrm>
            <a:off x="974750" y="5455310"/>
            <a:ext cx="336499" cy="336499"/>
          </a:xfrm>
          <a:prstGeom prst="rect">
            <a:avLst/>
          </a:prstGeom>
        </p:spPr>
      </p:pic>
      <p:sp>
        <p:nvSpPr>
          <p:cNvPr id="35" name="Text 28"/>
          <p:cNvSpPr txBox="1"/>
          <p:nvPr/>
        </p:nvSpPr>
        <p:spPr>
          <a:xfrm>
            <a:off x="1737360" y="5257800"/>
            <a:ext cx="9631375" cy="731520"/>
          </a:xfrm>
          <a:prstGeom prst="rect">
            <a:avLst/>
          </a:prstGeom>
          <a:noFill/>
          <a:ln/>
        </p:spPr>
        <p:txBody>
          <a:bodyPr wrap="square" lIns="0" tIns="0" rIns="0" bIns="0" rtlCol="0" anchor="ctr"/>
          <a:lstStyle/>
          <a:p>
            <a:pPr indent="0" marL="0">
              <a:buNone/>
            </a:pPr>
            <a:r>
              <a:rPr lang="en-US" sz="1700" b="1" dirty="0">
                <a:solidFill>
                  <a:schemeClr val="accent1"/>
                </a:solidFill>
              </a:rPr>
              <a:t>Our main character: </a:t>
            </a:r>
            <a:pPr indent="0" marL="0">
              <a:buNone/>
            </a:pPr>
            <a:r>
              <a:rPr lang="en-US" sz="1700" dirty="0">
                <a:solidFill>
                  <a:schemeClr val="bg1"/>
                </a:solidFill>
              </a:rPr>
              <a:t>a credit officer with a 100,000 CZK loan application on the desk. Approve or decline?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1 · THE PROBLEM</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Every loan is a bet</a:t>
            </a:r>
            <a:endParaRPr lang="en-US" sz="3400" dirty="0"/>
          </a:p>
        </p:txBody>
      </p:sp>
      <p:sp>
        <p:nvSpPr>
          <p:cNvPr id="5" name="Why card 0"/>
          <p:cNvSpPr/>
          <p:nvPr/>
        </p:nvSpPr>
        <p:spPr>
          <a:xfrm>
            <a:off x="548640" y="1371600"/>
            <a:ext cx="3520440" cy="4754880"/>
          </a:xfrm>
          <a:prstGeom prst="roundRect">
            <a:avLst>
              <a:gd name="adj" fmla="val 2078"/>
            </a:avLst>
          </a:prstGeom>
          <a:solidFill>
            <a:srgbClr val="FCE6DC"/>
          </a:solidFill>
          <a:ln/>
        </p:spPr>
      </p:sp>
      <p:sp>
        <p:nvSpPr>
          <p:cNvPr id="6" name="Why 0 circle"/>
          <p:cNvSpPr/>
          <p:nvPr/>
        </p:nvSpPr>
        <p:spPr>
          <a:xfrm>
            <a:off x="868680" y="1691640"/>
            <a:ext cx="777240" cy="777240"/>
          </a:xfrm>
          <a:prstGeom prst="ellipse">
            <a:avLst/>
          </a:prstGeom>
          <a:solidFill>
            <a:srgbClr val="E8622C"/>
          </a:solidFill>
          <a:ln/>
        </p:spPr>
      </p:sp>
      <p:pic>
        <p:nvPicPr>
          <p:cNvPr id="7" name="Why 0 icon" descr="preencoded.png">    </p:cNvPr>
          <p:cNvPicPr>
            <a:picLocks noChangeAspect="1"/>
          </p:cNvPicPr>
          <p:nvPr/>
        </p:nvPicPr>
        <p:blipFill>
          <a:blip r:embed="rId1"/>
          <a:stretch>
            <a:fillRect/>
          </a:stretch>
        </p:blipFill>
        <p:spPr>
          <a:xfrm>
            <a:off x="1078535" y="1901495"/>
            <a:ext cx="357530" cy="357530"/>
          </a:xfrm>
          <a:prstGeom prst="rect">
            <a:avLst/>
          </a:prstGeom>
        </p:spPr>
      </p:pic>
      <p:sp>
        <p:nvSpPr>
          <p:cNvPr id="8" name="Text 5"/>
          <p:cNvSpPr txBox="1"/>
          <p:nvPr/>
        </p:nvSpPr>
        <p:spPr>
          <a:xfrm>
            <a:off x="868680" y="2697480"/>
            <a:ext cx="28803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The problem</a:t>
            </a:r>
            <a:endParaRPr lang="en-US" sz="2200" dirty="0"/>
          </a:p>
        </p:txBody>
      </p:sp>
      <p:sp>
        <p:nvSpPr>
          <p:cNvPr id="9" name="Text 6"/>
          <p:cNvSpPr txBox="1"/>
          <p:nvPr/>
        </p:nvSpPr>
        <p:spPr>
          <a:xfrm>
            <a:off x="868680" y="3246120"/>
            <a:ext cx="2880360" cy="1325880"/>
          </a:xfrm>
          <a:prstGeom prst="rect">
            <a:avLst/>
          </a:prstGeom>
          <a:noFill/>
          <a:ln/>
        </p:spPr>
        <p:txBody>
          <a:bodyPr wrap="square" lIns="0" tIns="0" rIns="0" bIns="0" rtlCol="0" anchor="t"/>
          <a:lstStyle/>
          <a:p>
            <a:pPr indent="0" marL="0">
              <a:buNone/>
            </a:pPr>
            <a:r>
              <a:rPr lang="en-US" sz="1600" dirty="0">
                <a:solidFill>
                  <a:schemeClr val="tx1"/>
                </a:solidFill>
              </a:rPr>
              <a:t>Banks lose money when borrowers don't repay their loans.</a:t>
            </a:r>
            <a:endParaRPr lang="en-US" sz="1600" dirty="0"/>
          </a:p>
        </p:txBody>
      </p:sp>
      <p:sp>
        <p:nvSpPr>
          <p:cNvPr id="10" name="Text 7"/>
          <p:cNvSpPr txBox="1"/>
          <p:nvPr/>
        </p:nvSpPr>
        <p:spPr>
          <a:xfrm>
            <a:off x="868680" y="4663440"/>
            <a:ext cx="2880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 in 9</a:t>
            </a:r>
            <a:endParaRPr lang="en-US" sz="3000" dirty="0"/>
          </a:p>
        </p:txBody>
      </p:sp>
      <p:sp>
        <p:nvSpPr>
          <p:cNvPr id="11" name="Text 8"/>
          <p:cNvSpPr txBox="1"/>
          <p:nvPr/>
        </p:nvSpPr>
        <p:spPr>
          <a:xfrm>
            <a:off x="868680" y="5303520"/>
            <a:ext cx="2880360" cy="365760"/>
          </a:xfrm>
          <a:prstGeom prst="rect">
            <a:avLst/>
          </a:prstGeom>
          <a:noFill/>
          <a:ln/>
        </p:spPr>
        <p:txBody>
          <a:bodyPr wrap="square" lIns="0" tIns="0" rIns="0" bIns="0" rtlCol="0" anchor="t"/>
          <a:lstStyle/>
          <a:p>
            <a:pPr indent="0" marL="0">
              <a:buNone/>
            </a:pPr>
            <a:r>
              <a:rPr lang="en-US" sz="1400" dirty="0">
                <a:solidFill>
                  <a:schemeClr val="accent5"/>
                </a:solidFill>
              </a:rPr>
              <a:t>loans in this bank defaulted</a:t>
            </a:r>
            <a:endParaRPr lang="en-US" sz="1400" dirty="0"/>
          </a:p>
        </p:txBody>
      </p:sp>
      <p:sp>
        <p:nvSpPr>
          <p:cNvPr id="12" name="Why card 1"/>
          <p:cNvSpPr/>
          <p:nvPr/>
        </p:nvSpPr>
        <p:spPr>
          <a:xfrm>
            <a:off x="4343400" y="1371600"/>
            <a:ext cx="3520440" cy="4754880"/>
          </a:xfrm>
          <a:prstGeom prst="roundRect">
            <a:avLst>
              <a:gd name="adj" fmla="val 2078"/>
            </a:avLst>
          </a:prstGeom>
          <a:solidFill>
            <a:schemeClr val="bg2"/>
          </a:solidFill>
          <a:ln/>
        </p:spPr>
      </p:sp>
      <p:sp>
        <p:nvSpPr>
          <p:cNvPr id="13" name="Why 1 circle"/>
          <p:cNvSpPr/>
          <p:nvPr/>
        </p:nvSpPr>
        <p:spPr>
          <a:xfrm>
            <a:off x="4663440" y="1691640"/>
            <a:ext cx="777240" cy="777240"/>
          </a:xfrm>
          <a:prstGeom prst="ellipse">
            <a:avLst/>
          </a:prstGeom>
          <a:solidFill>
            <a:srgbClr val="16243A"/>
          </a:solidFill>
          <a:ln/>
        </p:spPr>
      </p:sp>
      <p:pic>
        <p:nvPicPr>
          <p:cNvPr id="14" name="Why 1 icon" descr="preencoded.png">    </p:cNvPr>
          <p:cNvPicPr>
            <a:picLocks noChangeAspect="1"/>
          </p:cNvPicPr>
          <p:nvPr/>
        </p:nvPicPr>
        <p:blipFill>
          <a:blip r:embed="rId2"/>
          <a:stretch>
            <a:fillRect/>
          </a:stretch>
        </p:blipFill>
        <p:spPr>
          <a:xfrm>
            <a:off x="4873295" y="1901495"/>
            <a:ext cx="357530" cy="357530"/>
          </a:xfrm>
          <a:prstGeom prst="rect">
            <a:avLst/>
          </a:prstGeom>
        </p:spPr>
      </p:pic>
      <p:sp>
        <p:nvSpPr>
          <p:cNvPr id="15" name="Text 11"/>
          <p:cNvSpPr txBox="1"/>
          <p:nvPr/>
        </p:nvSpPr>
        <p:spPr>
          <a:xfrm>
            <a:off x="4663440" y="2697480"/>
            <a:ext cx="28803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The goal</a:t>
            </a:r>
            <a:endParaRPr lang="en-US" sz="2200" dirty="0"/>
          </a:p>
        </p:txBody>
      </p:sp>
      <p:sp>
        <p:nvSpPr>
          <p:cNvPr id="16" name="Text 12"/>
          <p:cNvSpPr txBox="1"/>
          <p:nvPr/>
        </p:nvSpPr>
        <p:spPr>
          <a:xfrm>
            <a:off x="4663440" y="3246120"/>
            <a:ext cx="2880360" cy="1325880"/>
          </a:xfrm>
          <a:prstGeom prst="rect">
            <a:avLst/>
          </a:prstGeom>
          <a:noFill/>
          <a:ln/>
        </p:spPr>
        <p:txBody>
          <a:bodyPr wrap="square" lIns="0" tIns="0" rIns="0" bIns="0" rtlCol="0" anchor="t"/>
          <a:lstStyle/>
          <a:p>
            <a:pPr indent="0" marL="0">
              <a:buNone/>
            </a:pPr>
            <a:r>
              <a:rPr lang="en-US" sz="1600" dirty="0">
                <a:solidFill>
                  <a:schemeClr val="tx1"/>
                </a:solidFill>
              </a:rPr>
              <a:t>Predict, before a loan is approved, whether the borrower is likely to default.</a:t>
            </a:r>
            <a:endParaRPr lang="en-US" sz="1600" dirty="0"/>
          </a:p>
        </p:txBody>
      </p:sp>
      <p:sp>
        <p:nvSpPr>
          <p:cNvPr id="17" name="Text 13"/>
          <p:cNvSpPr txBox="1"/>
          <p:nvPr/>
        </p:nvSpPr>
        <p:spPr>
          <a:xfrm>
            <a:off x="4663440" y="4663440"/>
            <a:ext cx="2880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682</a:t>
            </a:r>
            <a:endParaRPr lang="en-US" sz="3000" dirty="0"/>
          </a:p>
        </p:txBody>
      </p:sp>
      <p:sp>
        <p:nvSpPr>
          <p:cNvPr id="18" name="Text 14"/>
          <p:cNvSpPr txBox="1"/>
          <p:nvPr/>
        </p:nvSpPr>
        <p:spPr>
          <a:xfrm>
            <a:off x="4663440" y="5303520"/>
            <a:ext cx="2880360" cy="365760"/>
          </a:xfrm>
          <a:prstGeom prst="rect">
            <a:avLst/>
          </a:prstGeom>
          <a:noFill/>
          <a:ln/>
        </p:spPr>
        <p:txBody>
          <a:bodyPr wrap="square" lIns="0" tIns="0" rIns="0" bIns="0" rtlCol="0" anchor="t"/>
          <a:lstStyle/>
          <a:p>
            <a:pPr indent="0" marL="0">
              <a:buNone/>
            </a:pPr>
            <a:r>
              <a:rPr lang="en-US" sz="1400" dirty="0">
                <a:solidFill>
                  <a:schemeClr val="accent5"/>
                </a:solidFill>
              </a:rPr>
              <a:t>past loans, 8 data tables</a:t>
            </a:r>
            <a:endParaRPr lang="en-US" sz="1400" dirty="0"/>
          </a:p>
        </p:txBody>
      </p:sp>
      <p:sp>
        <p:nvSpPr>
          <p:cNvPr id="19" name="Why card 2"/>
          <p:cNvSpPr/>
          <p:nvPr/>
        </p:nvSpPr>
        <p:spPr>
          <a:xfrm>
            <a:off x="8138160" y="1371600"/>
            <a:ext cx="3520440" cy="4754880"/>
          </a:xfrm>
          <a:prstGeom prst="roundRect">
            <a:avLst>
              <a:gd name="adj" fmla="val 2078"/>
            </a:avLst>
          </a:prstGeom>
          <a:solidFill>
            <a:schemeClr val="bg2"/>
          </a:solidFill>
          <a:ln/>
        </p:spPr>
      </p:sp>
      <p:sp>
        <p:nvSpPr>
          <p:cNvPr id="20" name="Why 2 circle"/>
          <p:cNvSpPr/>
          <p:nvPr/>
        </p:nvSpPr>
        <p:spPr>
          <a:xfrm>
            <a:off x="8458200" y="1691640"/>
            <a:ext cx="777240" cy="777240"/>
          </a:xfrm>
          <a:prstGeom prst="ellipse">
            <a:avLst/>
          </a:prstGeom>
          <a:solidFill>
            <a:srgbClr val="16243A"/>
          </a:solidFill>
          <a:ln/>
        </p:spPr>
      </p:sp>
      <p:pic>
        <p:nvPicPr>
          <p:cNvPr id="21" name="Why 2 icon" descr="preencoded.png">    </p:cNvPr>
          <p:cNvPicPr>
            <a:picLocks noChangeAspect="1"/>
          </p:cNvPicPr>
          <p:nvPr/>
        </p:nvPicPr>
        <p:blipFill>
          <a:blip r:embed="rId3"/>
          <a:stretch>
            <a:fillRect/>
          </a:stretch>
        </p:blipFill>
        <p:spPr>
          <a:xfrm>
            <a:off x="8668055" y="1901495"/>
            <a:ext cx="357530" cy="357530"/>
          </a:xfrm>
          <a:prstGeom prst="rect">
            <a:avLst/>
          </a:prstGeom>
        </p:spPr>
      </p:pic>
      <p:sp>
        <p:nvSpPr>
          <p:cNvPr id="22" name="Text 17"/>
          <p:cNvSpPr txBox="1"/>
          <p:nvPr/>
        </p:nvSpPr>
        <p:spPr>
          <a:xfrm>
            <a:off x="8458200" y="2697480"/>
            <a:ext cx="28803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Why this project</a:t>
            </a:r>
            <a:endParaRPr lang="en-US" sz="2200" dirty="0"/>
          </a:p>
        </p:txBody>
      </p:sp>
      <p:sp>
        <p:nvSpPr>
          <p:cNvPr id="23" name="Text 18"/>
          <p:cNvSpPr txBox="1"/>
          <p:nvPr/>
        </p:nvSpPr>
        <p:spPr>
          <a:xfrm>
            <a:off x="8458200" y="3246120"/>
            <a:ext cx="2880360" cy="1325880"/>
          </a:xfrm>
          <a:prstGeom prst="rect">
            <a:avLst/>
          </a:prstGeom>
          <a:noFill/>
          <a:ln/>
        </p:spPr>
        <p:txBody>
          <a:bodyPr wrap="square" lIns="0" tIns="0" rIns="0" bIns="0" rtlCol="0" anchor="t"/>
          <a:lstStyle/>
          <a:p>
            <a:pPr indent="0" marL="0">
              <a:buNone/>
            </a:pPr>
            <a:r>
              <a:rPr lang="en-US" sz="1600" dirty="0">
                <a:solidFill>
                  <a:schemeClr val="tx1"/>
                </a:solidFill>
              </a:rPr>
              <a:t>To predict credit risk is one of the most common uses of Predictive data analytics in banking, with clear business value.</a:t>
            </a:r>
            <a:endParaRPr lang="en-US" sz="1600" dirty="0"/>
          </a:p>
        </p:txBody>
      </p:sp>
      <p:sp>
        <p:nvSpPr>
          <p:cNvPr id="24" name="Text 19"/>
          <p:cNvSpPr txBox="1"/>
          <p:nvPr/>
        </p:nvSpPr>
        <p:spPr>
          <a:xfrm>
            <a:off x="8458200" y="4663440"/>
            <a:ext cx="2880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Full journey</a:t>
            </a:r>
            <a:endParaRPr lang="en-US" sz="3000" dirty="0"/>
          </a:p>
        </p:txBody>
      </p:sp>
      <p:sp>
        <p:nvSpPr>
          <p:cNvPr id="25" name="Text 20"/>
          <p:cNvSpPr txBox="1"/>
          <p:nvPr/>
        </p:nvSpPr>
        <p:spPr>
          <a:xfrm>
            <a:off x="8458200" y="5303520"/>
            <a:ext cx="2880360" cy="365760"/>
          </a:xfrm>
          <a:prstGeom prst="rect">
            <a:avLst/>
          </a:prstGeom>
          <a:noFill/>
          <a:ln/>
        </p:spPr>
        <p:txBody>
          <a:bodyPr wrap="square" lIns="0" tIns="0" rIns="0" bIns="0" rtlCol="0" anchor="t"/>
          <a:lstStyle/>
          <a:p>
            <a:pPr indent="0" marL="0">
              <a:buNone/>
            </a:pPr>
            <a:r>
              <a:rPr lang="en-US" sz="1400" dirty="0">
                <a:solidFill>
                  <a:schemeClr val="accent5"/>
                </a:solidFill>
              </a:rPr>
              <a:t>data → model → live app</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1 · THE PROBLEM</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Research objectives</a:t>
            </a:r>
            <a:endParaRPr lang="en-US" sz="3400" dirty="0"/>
          </a:p>
        </p:txBody>
      </p:sp>
      <p:sp>
        <p:nvSpPr>
          <p:cNvPr id="5" name="Objective 0"/>
          <p:cNvSpPr/>
          <p:nvPr/>
        </p:nvSpPr>
        <p:spPr>
          <a:xfrm>
            <a:off x="548640" y="1371600"/>
            <a:ext cx="5422392" cy="1463040"/>
          </a:xfrm>
          <a:prstGeom prst="roundRect">
            <a:avLst>
              <a:gd name="adj" fmla="val 5000"/>
            </a:avLst>
          </a:prstGeom>
          <a:solidFill>
            <a:schemeClr val="bg2"/>
          </a:solidFill>
          <a:ln/>
        </p:spPr>
      </p:sp>
      <p:sp>
        <p:nvSpPr>
          <p:cNvPr id="6" name="Obj num 0"/>
          <p:cNvSpPr/>
          <p:nvPr/>
        </p:nvSpPr>
        <p:spPr>
          <a:xfrm>
            <a:off x="777240" y="1600200"/>
            <a:ext cx="548640" cy="548640"/>
          </a:xfrm>
          <a:prstGeom prst="ellipse">
            <a:avLst/>
          </a:prstGeom>
          <a:solidFill>
            <a:srgbClr val="16243A"/>
          </a:solidFill>
          <a:ln/>
        </p:spPr>
      </p:sp>
      <p:sp>
        <p:nvSpPr>
          <p:cNvPr id="7" name="Text 5"/>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554480" y="1554480"/>
            <a:ext cx="4233672" cy="411480"/>
          </a:xfrm>
          <a:prstGeom prst="rect">
            <a:avLst/>
          </a:prstGeom>
          <a:noFill/>
          <a:ln/>
        </p:spPr>
        <p:txBody>
          <a:bodyPr wrap="square" lIns="0" tIns="0" rIns="0" bIns="0" rtlCol="0" anchor="t"/>
          <a:lstStyle/>
          <a:p>
            <a:pPr indent="0" marL="0">
              <a:buNone/>
            </a:pPr>
            <a:r>
              <a:rPr lang="en-US" sz="1700" b="1" dirty="0">
                <a:solidFill>
                  <a:schemeClr val="tx2"/>
                </a:solidFill>
              </a:rPr>
              <a:t>Clean and join the data</a:t>
            </a:r>
            <a:endParaRPr lang="en-US" sz="1700" dirty="0"/>
          </a:p>
        </p:txBody>
      </p:sp>
      <p:sp>
        <p:nvSpPr>
          <p:cNvPr id="9" name="Text 7"/>
          <p:cNvSpPr txBox="1"/>
          <p:nvPr/>
        </p:nvSpPr>
        <p:spPr>
          <a:xfrm>
            <a:off x="1554480" y="1965960"/>
            <a:ext cx="4233672" cy="548640"/>
          </a:xfrm>
          <a:prstGeom prst="rect">
            <a:avLst/>
          </a:prstGeom>
          <a:noFill/>
          <a:ln/>
        </p:spPr>
        <p:txBody>
          <a:bodyPr wrap="square" lIns="0" tIns="0" rIns="0" bIns="0" rtlCol="0" anchor="t"/>
          <a:lstStyle/>
          <a:p>
            <a:pPr indent="0" marL="0">
              <a:buNone/>
            </a:pPr>
            <a:r>
              <a:rPr lang="en-US" sz="1400" dirty="0">
                <a:solidFill>
                  <a:schemeClr val="tx1"/>
                </a:solidFill>
              </a:rPr>
              <a:t>Clean the 8 tables and combine them into one table, one row per loan.</a:t>
            </a:r>
            <a:endParaRPr lang="en-US" sz="1400" dirty="0"/>
          </a:p>
        </p:txBody>
      </p:sp>
      <p:sp>
        <p:nvSpPr>
          <p:cNvPr id="10" name="Text 8"/>
          <p:cNvSpPr txBox="1"/>
          <p:nvPr/>
        </p:nvSpPr>
        <p:spPr>
          <a:xfrm>
            <a:off x="1554480" y="248716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Cleaning log, key checks, row counts</a:t>
            </a:r>
            <a:endParaRPr lang="en-US" sz="1200" dirty="0"/>
          </a:p>
        </p:txBody>
      </p:sp>
      <p:sp>
        <p:nvSpPr>
          <p:cNvPr id="11" name="Objective 1"/>
          <p:cNvSpPr/>
          <p:nvPr/>
        </p:nvSpPr>
        <p:spPr>
          <a:xfrm>
            <a:off x="6199632" y="1371600"/>
            <a:ext cx="5422392" cy="1463040"/>
          </a:xfrm>
          <a:prstGeom prst="roundRect">
            <a:avLst>
              <a:gd name="adj" fmla="val 5000"/>
            </a:avLst>
          </a:prstGeom>
          <a:solidFill>
            <a:schemeClr val="bg2"/>
          </a:solidFill>
          <a:ln/>
        </p:spPr>
      </p:sp>
      <p:sp>
        <p:nvSpPr>
          <p:cNvPr id="12" name="Obj num 1"/>
          <p:cNvSpPr/>
          <p:nvPr/>
        </p:nvSpPr>
        <p:spPr>
          <a:xfrm>
            <a:off x="6428232" y="1600200"/>
            <a:ext cx="548640" cy="548640"/>
          </a:xfrm>
          <a:prstGeom prst="ellipse">
            <a:avLst/>
          </a:prstGeom>
          <a:solidFill>
            <a:srgbClr val="16243A"/>
          </a:solidFill>
          <a:ln/>
        </p:spPr>
      </p:sp>
      <p:sp>
        <p:nvSpPr>
          <p:cNvPr id="13" name="Text 11"/>
          <p:cNvSpPr txBox="1"/>
          <p:nvPr/>
        </p:nvSpPr>
        <p:spPr>
          <a:xfrm>
            <a:off x="6428232"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7205472" y="1554480"/>
            <a:ext cx="4233672" cy="411480"/>
          </a:xfrm>
          <a:prstGeom prst="rect">
            <a:avLst/>
          </a:prstGeom>
          <a:noFill/>
          <a:ln/>
        </p:spPr>
        <p:txBody>
          <a:bodyPr wrap="square" lIns="0" tIns="0" rIns="0" bIns="0" rtlCol="0" anchor="t"/>
          <a:lstStyle/>
          <a:p>
            <a:pPr indent="0" marL="0">
              <a:buNone/>
            </a:pPr>
            <a:r>
              <a:rPr lang="en-US" sz="1700" b="1" dirty="0">
                <a:solidFill>
                  <a:schemeClr val="tx2"/>
                </a:solidFill>
              </a:rPr>
              <a:t>Account behaviour</a:t>
            </a:r>
            <a:endParaRPr lang="en-US" sz="1700" dirty="0"/>
          </a:p>
        </p:txBody>
      </p:sp>
      <p:sp>
        <p:nvSpPr>
          <p:cNvPr id="15" name="Text 13"/>
          <p:cNvSpPr txBox="1"/>
          <p:nvPr/>
        </p:nvSpPr>
        <p:spPr>
          <a:xfrm>
            <a:off x="7205472" y="1965960"/>
            <a:ext cx="4233672" cy="548640"/>
          </a:xfrm>
          <a:prstGeom prst="rect">
            <a:avLst/>
          </a:prstGeom>
          <a:noFill/>
          <a:ln/>
        </p:spPr>
        <p:txBody>
          <a:bodyPr wrap="square" lIns="0" tIns="0" rIns="0" bIns="0" rtlCol="0" anchor="t"/>
          <a:lstStyle/>
          <a:p>
            <a:pPr indent="0" marL="0">
              <a:buNone/>
            </a:pPr>
            <a:r>
              <a:rPr lang="en-US" sz="1400" dirty="0">
                <a:solidFill>
                  <a:schemeClr val="tx1"/>
                </a:solidFill>
              </a:rPr>
              <a:t>Is how customers run their account before the loan (balances, income, overdrafts) linked to default?</a:t>
            </a:r>
            <a:endParaRPr lang="en-US" sz="1400" dirty="0"/>
          </a:p>
        </p:txBody>
      </p:sp>
      <p:sp>
        <p:nvSpPr>
          <p:cNvPr id="16" name="Text 14"/>
          <p:cNvSpPr txBox="1"/>
          <p:nvPr/>
        </p:nvSpPr>
        <p:spPr>
          <a:xfrm>
            <a:off x="7205472" y="248716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Charts and statistical tests</a:t>
            </a:r>
            <a:endParaRPr lang="en-US" sz="1200" dirty="0"/>
          </a:p>
        </p:txBody>
      </p:sp>
      <p:sp>
        <p:nvSpPr>
          <p:cNvPr id="17" name="Objective 2"/>
          <p:cNvSpPr/>
          <p:nvPr/>
        </p:nvSpPr>
        <p:spPr>
          <a:xfrm>
            <a:off x="548640" y="3017520"/>
            <a:ext cx="5422392" cy="1463040"/>
          </a:xfrm>
          <a:prstGeom prst="roundRect">
            <a:avLst>
              <a:gd name="adj" fmla="val 5000"/>
            </a:avLst>
          </a:prstGeom>
          <a:solidFill>
            <a:schemeClr val="bg2"/>
          </a:solidFill>
          <a:ln/>
        </p:spPr>
      </p:sp>
      <p:sp>
        <p:nvSpPr>
          <p:cNvPr id="18" name="Obj num 2"/>
          <p:cNvSpPr/>
          <p:nvPr/>
        </p:nvSpPr>
        <p:spPr>
          <a:xfrm>
            <a:off x="777240" y="3246120"/>
            <a:ext cx="548640" cy="548640"/>
          </a:xfrm>
          <a:prstGeom prst="ellipse">
            <a:avLst/>
          </a:prstGeom>
          <a:solidFill>
            <a:srgbClr val="16243A"/>
          </a:solidFill>
          <a:ln/>
        </p:spPr>
      </p:sp>
      <p:sp>
        <p:nvSpPr>
          <p:cNvPr id="19" name="Text 17"/>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1554480" y="3200400"/>
            <a:ext cx="4233672" cy="411480"/>
          </a:xfrm>
          <a:prstGeom prst="rect">
            <a:avLst/>
          </a:prstGeom>
          <a:noFill/>
          <a:ln/>
        </p:spPr>
        <p:txBody>
          <a:bodyPr wrap="square" lIns="0" tIns="0" rIns="0" bIns="0" rtlCol="0" anchor="t"/>
          <a:lstStyle/>
          <a:p>
            <a:pPr indent="0" marL="0">
              <a:buNone/>
            </a:pPr>
            <a:r>
              <a:rPr lang="en-US" sz="1700" b="1" dirty="0">
                <a:solidFill>
                  <a:schemeClr val="tx2"/>
                </a:solidFill>
              </a:rPr>
              <a:t>Loan terms</a:t>
            </a:r>
            <a:endParaRPr lang="en-US" sz="1700" dirty="0"/>
          </a:p>
        </p:txBody>
      </p:sp>
      <p:sp>
        <p:nvSpPr>
          <p:cNvPr id="21" name="Text 19"/>
          <p:cNvSpPr txBox="1"/>
          <p:nvPr/>
        </p:nvSpPr>
        <p:spPr>
          <a:xfrm>
            <a:off x="1554480" y="3611880"/>
            <a:ext cx="4233672" cy="548640"/>
          </a:xfrm>
          <a:prstGeom prst="rect">
            <a:avLst/>
          </a:prstGeom>
          <a:noFill/>
          <a:ln/>
        </p:spPr>
        <p:txBody>
          <a:bodyPr wrap="square" lIns="0" tIns="0" rIns="0" bIns="0" rtlCol="0" anchor="t"/>
          <a:lstStyle/>
          <a:p>
            <a:pPr indent="0" marL="0">
              <a:buNone/>
            </a:pPr>
            <a:r>
              <a:rPr lang="en-US" sz="1400" dirty="0">
                <a:solidFill>
                  <a:schemeClr val="tx1"/>
                </a:solidFill>
              </a:rPr>
              <a:t>Are loan amount, length and monthly payment linked to default?</a:t>
            </a:r>
            <a:endParaRPr lang="en-US" sz="1400" dirty="0"/>
          </a:p>
        </p:txBody>
      </p:sp>
      <p:sp>
        <p:nvSpPr>
          <p:cNvPr id="22" name="Text 20"/>
          <p:cNvSpPr txBox="1"/>
          <p:nvPr/>
        </p:nvSpPr>
        <p:spPr>
          <a:xfrm>
            <a:off x="1554480" y="413308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Default rate by group, tests</a:t>
            </a:r>
            <a:endParaRPr lang="en-US" sz="1200" dirty="0"/>
          </a:p>
        </p:txBody>
      </p:sp>
      <p:sp>
        <p:nvSpPr>
          <p:cNvPr id="23" name="Objective 3"/>
          <p:cNvSpPr/>
          <p:nvPr/>
        </p:nvSpPr>
        <p:spPr>
          <a:xfrm>
            <a:off x="6199632" y="3017520"/>
            <a:ext cx="5422392" cy="1463040"/>
          </a:xfrm>
          <a:prstGeom prst="roundRect">
            <a:avLst>
              <a:gd name="adj" fmla="val 5000"/>
            </a:avLst>
          </a:prstGeom>
          <a:solidFill>
            <a:schemeClr val="bg2"/>
          </a:solidFill>
          <a:ln/>
        </p:spPr>
      </p:sp>
      <p:sp>
        <p:nvSpPr>
          <p:cNvPr id="24" name="Obj num 3"/>
          <p:cNvSpPr/>
          <p:nvPr/>
        </p:nvSpPr>
        <p:spPr>
          <a:xfrm>
            <a:off x="6428232" y="3246120"/>
            <a:ext cx="548640" cy="548640"/>
          </a:xfrm>
          <a:prstGeom prst="ellipse">
            <a:avLst/>
          </a:prstGeom>
          <a:solidFill>
            <a:srgbClr val="16243A"/>
          </a:solidFill>
          <a:ln/>
        </p:spPr>
      </p:sp>
      <p:sp>
        <p:nvSpPr>
          <p:cNvPr id="25" name="Text 23"/>
          <p:cNvSpPr txBox="1"/>
          <p:nvPr/>
        </p:nvSpPr>
        <p:spPr>
          <a:xfrm>
            <a:off x="6428232"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4"/>
          <p:cNvSpPr txBox="1"/>
          <p:nvPr/>
        </p:nvSpPr>
        <p:spPr>
          <a:xfrm>
            <a:off x="7205472" y="3200400"/>
            <a:ext cx="4233672" cy="411480"/>
          </a:xfrm>
          <a:prstGeom prst="rect">
            <a:avLst/>
          </a:prstGeom>
          <a:noFill/>
          <a:ln/>
        </p:spPr>
        <p:txBody>
          <a:bodyPr wrap="square" lIns="0" tIns="0" rIns="0" bIns="0" rtlCol="0" anchor="t"/>
          <a:lstStyle/>
          <a:p>
            <a:pPr indent="0" marL="0">
              <a:buNone/>
            </a:pPr>
            <a:r>
              <a:rPr lang="en-US" sz="1700" b="1" dirty="0">
                <a:solidFill>
                  <a:schemeClr val="tx2"/>
                </a:solidFill>
              </a:rPr>
              <a:t>Customer and region</a:t>
            </a:r>
            <a:endParaRPr lang="en-US" sz="1700" dirty="0"/>
          </a:p>
        </p:txBody>
      </p:sp>
      <p:sp>
        <p:nvSpPr>
          <p:cNvPr id="27" name="Text 25"/>
          <p:cNvSpPr txBox="1"/>
          <p:nvPr/>
        </p:nvSpPr>
        <p:spPr>
          <a:xfrm>
            <a:off x="7205472" y="3611880"/>
            <a:ext cx="4233672" cy="548640"/>
          </a:xfrm>
          <a:prstGeom prst="rect">
            <a:avLst/>
          </a:prstGeom>
          <a:noFill/>
          <a:ln/>
        </p:spPr>
        <p:txBody>
          <a:bodyPr wrap="square" lIns="0" tIns="0" rIns="0" bIns="0" rtlCol="0" anchor="t"/>
          <a:lstStyle/>
          <a:p>
            <a:pPr indent="0" marL="0">
              <a:buNone/>
            </a:pPr>
            <a:r>
              <a:rPr lang="en-US" sz="1400" dirty="0">
                <a:solidFill>
                  <a:schemeClr val="tx1"/>
                </a:solidFill>
              </a:rPr>
              <a:t>Do age, card ownership and district (salary, unemployment, crime) matter?</a:t>
            </a:r>
            <a:endParaRPr lang="en-US" sz="1400" dirty="0"/>
          </a:p>
        </p:txBody>
      </p:sp>
      <p:sp>
        <p:nvSpPr>
          <p:cNvPr id="28" name="Text 26"/>
          <p:cNvSpPr txBox="1"/>
          <p:nvPr/>
        </p:nvSpPr>
        <p:spPr>
          <a:xfrm>
            <a:off x="7205472" y="413308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Chi-square and Mann-Whitney tests</a:t>
            </a:r>
            <a:endParaRPr lang="en-US" sz="1200" dirty="0"/>
          </a:p>
        </p:txBody>
      </p:sp>
      <p:sp>
        <p:nvSpPr>
          <p:cNvPr id="29" name="Objective 4"/>
          <p:cNvSpPr/>
          <p:nvPr/>
        </p:nvSpPr>
        <p:spPr>
          <a:xfrm>
            <a:off x="548640" y="4663440"/>
            <a:ext cx="5422392" cy="1463040"/>
          </a:xfrm>
          <a:prstGeom prst="roundRect">
            <a:avLst>
              <a:gd name="adj" fmla="val 5000"/>
            </a:avLst>
          </a:prstGeom>
          <a:solidFill>
            <a:srgbClr val="FCE6DC"/>
          </a:solidFill>
          <a:ln/>
        </p:spPr>
      </p:sp>
      <p:sp>
        <p:nvSpPr>
          <p:cNvPr id="30" name="Obj num 4"/>
          <p:cNvSpPr/>
          <p:nvPr/>
        </p:nvSpPr>
        <p:spPr>
          <a:xfrm>
            <a:off x="777240" y="4892040"/>
            <a:ext cx="548640" cy="548640"/>
          </a:xfrm>
          <a:prstGeom prst="ellipse">
            <a:avLst/>
          </a:prstGeom>
          <a:solidFill>
            <a:srgbClr val="E8622C"/>
          </a:solidFill>
          <a:ln/>
        </p:spPr>
      </p:sp>
      <p:sp>
        <p:nvSpPr>
          <p:cNvPr id="31" name="Text 29"/>
          <p:cNvSpPr txBox="1"/>
          <p:nvPr/>
        </p:nvSpPr>
        <p:spPr>
          <a:xfrm>
            <a:off x="777240"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2" name="Text 30"/>
          <p:cNvSpPr txBox="1"/>
          <p:nvPr/>
        </p:nvSpPr>
        <p:spPr>
          <a:xfrm>
            <a:off x="1554480" y="4846320"/>
            <a:ext cx="4233672" cy="411480"/>
          </a:xfrm>
          <a:prstGeom prst="rect">
            <a:avLst/>
          </a:prstGeom>
          <a:noFill/>
          <a:ln/>
        </p:spPr>
        <p:txBody>
          <a:bodyPr wrap="square" lIns="0" tIns="0" rIns="0" bIns="0" rtlCol="0" anchor="t"/>
          <a:lstStyle/>
          <a:p>
            <a:pPr indent="0" marL="0">
              <a:buNone/>
            </a:pPr>
            <a:r>
              <a:rPr lang="en-US" sz="1700" b="1" dirty="0">
                <a:solidFill>
                  <a:schemeClr val="tx2"/>
                </a:solidFill>
              </a:rPr>
              <a:t>Prediction model</a:t>
            </a:r>
            <a:endParaRPr lang="en-US" sz="1700" dirty="0"/>
          </a:p>
        </p:txBody>
      </p:sp>
      <p:sp>
        <p:nvSpPr>
          <p:cNvPr id="33" name="Text 31"/>
          <p:cNvSpPr txBox="1"/>
          <p:nvPr/>
        </p:nvSpPr>
        <p:spPr>
          <a:xfrm>
            <a:off x="1554480" y="5257800"/>
            <a:ext cx="4233672" cy="548640"/>
          </a:xfrm>
          <a:prstGeom prst="rect">
            <a:avLst/>
          </a:prstGeom>
          <a:noFill/>
          <a:ln/>
        </p:spPr>
        <p:txBody>
          <a:bodyPr wrap="square" lIns="0" tIns="0" rIns="0" bIns="0" rtlCol="0" anchor="t"/>
          <a:lstStyle/>
          <a:p>
            <a:pPr indent="0" marL="0">
              <a:buNone/>
            </a:pPr>
            <a:r>
              <a:rPr lang="en-US" sz="1400" dirty="0">
                <a:solidFill>
                  <a:schemeClr val="tx1"/>
                </a:solidFill>
              </a:rPr>
              <a:t>Build and compare 5 models; reach an F1 score of at least 0.50 on unseen loans.</a:t>
            </a:r>
            <a:endParaRPr lang="en-US" sz="1400" dirty="0"/>
          </a:p>
        </p:txBody>
      </p:sp>
      <p:sp>
        <p:nvSpPr>
          <p:cNvPr id="34" name="Text 32"/>
          <p:cNvSpPr txBox="1"/>
          <p:nvPr/>
        </p:nvSpPr>
        <p:spPr>
          <a:xfrm>
            <a:off x="1554480" y="577900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Confusion matrix, cross-validation</a:t>
            </a:r>
            <a:endParaRPr lang="en-US" sz="1200" dirty="0"/>
          </a:p>
        </p:txBody>
      </p:sp>
      <p:sp>
        <p:nvSpPr>
          <p:cNvPr id="35" name="Objective 5"/>
          <p:cNvSpPr/>
          <p:nvPr/>
        </p:nvSpPr>
        <p:spPr>
          <a:xfrm>
            <a:off x="6199632" y="4663440"/>
            <a:ext cx="5422392" cy="1463040"/>
          </a:xfrm>
          <a:prstGeom prst="roundRect">
            <a:avLst>
              <a:gd name="adj" fmla="val 5000"/>
            </a:avLst>
          </a:prstGeom>
          <a:solidFill>
            <a:schemeClr val="bg2"/>
          </a:solidFill>
          <a:ln/>
        </p:spPr>
      </p:sp>
      <p:sp>
        <p:nvSpPr>
          <p:cNvPr id="36" name="Obj num 5"/>
          <p:cNvSpPr/>
          <p:nvPr/>
        </p:nvSpPr>
        <p:spPr>
          <a:xfrm>
            <a:off x="6428232" y="4892040"/>
            <a:ext cx="548640" cy="548640"/>
          </a:xfrm>
          <a:prstGeom prst="ellipse">
            <a:avLst/>
          </a:prstGeom>
          <a:solidFill>
            <a:srgbClr val="16243A"/>
          </a:solidFill>
          <a:ln/>
        </p:spPr>
      </p:sp>
      <p:sp>
        <p:nvSpPr>
          <p:cNvPr id="37" name="Text 35"/>
          <p:cNvSpPr txBox="1"/>
          <p:nvPr/>
        </p:nvSpPr>
        <p:spPr>
          <a:xfrm>
            <a:off x="6428232"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8" name="Text 36"/>
          <p:cNvSpPr txBox="1"/>
          <p:nvPr/>
        </p:nvSpPr>
        <p:spPr>
          <a:xfrm>
            <a:off x="7205472" y="4846320"/>
            <a:ext cx="4233672" cy="411480"/>
          </a:xfrm>
          <a:prstGeom prst="rect">
            <a:avLst/>
          </a:prstGeom>
          <a:noFill/>
          <a:ln/>
        </p:spPr>
        <p:txBody>
          <a:bodyPr wrap="square" lIns="0" tIns="0" rIns="0" bIns="0" rtlCol="0" anchor="t"/>
          <a:lstStyle/>
          <a:p>
            <a:pPr indent="0" marL="0">
              <a:buNone/>
            </a:pPr>
            <a:r>
              <a:rPr lang="en-US" sz="1700" b="1" dirty="0">
                <a:solidFill>
                  <a:schemeClr val="tx2"/>
                </a:solidFill>
              </a:rPr>
              <a:t>Drivers and actions</a:t>
            </a:r>
            <a:endParaRPr lang="en-US" sz="1700" dirty="0"/>
          </a:p>
        </p:txBody>
      </p:sp>
      <p:sp>
        <p:nvSpPr>
          <p:cNvPr id="39" name="Text 37"/>
          <p:cNvSpPr txBox="1"/>
          <p:nvPr/>
        </p:nvSpPr>
        <p:spPr>
          <a:xfrm>
            <a:off x="7205472" y="5257800"/>
            <a:ext cx="4233672" cy="548640"/>
          </a:xfrm>
          <a:prstGeom prst="rect">
            <a:avLst/>
          </a:prstGeom>
          <a:noFill/>
          <a:ln/>
        </p:spPr>
        <p:txBody>
          <a:bodyPr wrap="square" lIns="0" tIns="0" rIns="0" bIns="0" rtlCol="0" anchor="t"/>
          <a:lstStyle/>
          <a:p>
            <a:pPr indent="0" marL="0">
              <a:buNone/>
            </a:pPr>
            <a:r>
              <a:rPr lang="en-US" sz="1400" dirty="0">
                <a:solidFill>
                  <a:schemeClr val="tx1"/>
                </a:solidFill>
              </a:rPr>
              <a:t>Find the main risk drivers and turn them into recommendations for the bank.</a:t>
            </a:r>
            <a:endParaRPr lang="en-US" sz="1400" dirty="0"/>
          </a:p>
        </p:txBody>
      </p:sp>
      <p:sp>
        <p:nvSpPr>
          <p:cNvPr id="40" name="Text 38"/>
          <p:cNvSpPr txBox="1"/>
          <p:nvPr/>
        </p:nvSpPr>
        <p:spPr>
          <a:xfrm>
            <a:off x="7205472" y="5779008"/>
            <a:ext cx="4233672" cy="274320"/>
          </a:xfrm>
          <a:prstGeom prst="rect">
            <a:avLst/>
          </a:prstGeom>
          <a:noFill/>
          <a:ln/>
        </p:spPr>
        <p:txBody>
          <a:bodyPr wrap="square" lIns="0" tIns="0" rIns="0" bIns="0" rtlCol="0" anchor="t"/>
          <a:lstStyle/>
          <a:p>
            <a:pPr indent="0" marL="0">
              <a:buNone/>
            </a:pPr>
            <a:r>
              <a:rPr lang="en-US" sz="1200" b="1" dirty="0">
                <a:solidFill>
                  <a:schemeClr val="accent1"/>
                </a:solidFill>
              </a:rPr>
              <a:t>How: </a:t>
            </a:r>
            <a:pPr indent="0" marL="0">
              <a:buNone/>
            </a:pPr>
            <a:r>
              <a:rPr lang="en-US" sz="1200" dirty="0">
                <a:solidFill>
                  <a:schemeClr val="accent5"/>
                </a:solidFill>
              </a:rPr>
              <a:t>Feature importance, scorecard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1 · THE PROBLEM</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this story matters to me</a:t>
            </a:r>
            <a:endParaRPr lang="en-US" sz="3400" dirty="0"/>
          </a:p>
        </p:txBody>
      </p:sp>
      <p:sp>
        <p:nvSpPr>
          <p:cNvPr id="5" name="Step Descriptive"/>
          <p:cNvSpPr/>
          <p:nvPr/>
        </p:nvSpPr>
        <p:spPr>
          <a:xfrm>
            <a:off x="548640" y="4343400"/>
            <a:ext cx="1627632" cy="1783080"/>
          </a:xfrm>
          <a:prstGeom prst="roundRect">
            <a:avLst>
              <a:gd name="adj" fmla="val 4494"/>
            </a:avLst>
          </a:prstGeom>
          <a:solidFill>
            <a:schemeClr val="bg2"/>
          </a:solidFill>
          <a:ln/>
        </p:spPr>
      </p:sp>
      <p:sp>
        <p:nvSpPr>
          <p:cNvPr id="6" name="Text 4"/>
          <p:cNvSpPr txBox="1"/>
          <p:nvPr/>
        </p:nvSpPr>
        <p:spPr>
          <a:xfrm>
            <a:off x="685800" y="4480560"/>
            <a:ext cx="1353312" cy="365760"/>
          </a:xfrm>
          <a:prstGeom prst="rect">
            <a:avLst/>
          </a:prstGeom>
          <a:noFill/>
          <a:ln/>
        </p:spPr>
        <p:txBody>
          <a:bodyPr wrap="square" lIns="0" tIns="0" rIns="0" bIns="0" rtlCol="0" anchor="t"/>
          <a:lstStyle/>
          <a:p>
            <a:pPr indent="0" marL="0">
              <a:buNone/>
            </a:pPr>
            <a:r>
              <a:rPr lang="en-US" sz="1600" b="1" dirty="0">
                <a:solidFill>
                  <a:schemeClr val="tx2"/>
                </a:solidFill>
              </a:rPr>
              <a:t>Descriptive</a:t>
            </a:r>
            <a:endParaRPr lang="en-US" sz="1600" dirty="0"/>
          </a:p>
        </p:txBody>
      </p:sp>
      <p:sp>
        <p:nvSpPr>
          <p:cNvPr id="7" name="Text 5"/>
          <p:cNvSpPr txBox="1"/>
          <p:nvPr/>
        </p:nvSpPr>
        <p:spPr>
          <a:xfrm>
            <a:off x="685800" y="4846320"/>
            <a:ext cx="1353312" cy="502920"/>
          </a:xfrm>
          <a:prstGeom prst="rect">
            <a:avLst/>
          </a:prstGeom>
          <a:noFill/>
          <a:ln/>
        </p:spPr>
        <p:txBody>
          <a:bodyPr wrap="square" lIns="0" tIns="0" rIns="0" bIns="0" rtlCol="0" anchor="t"/>
          <a:lstStyle/>
          <a:p>
            <a:pPr indent="0" marL="0">
              <a:buNone/>
            </a:pPr>
            <a:r>
              <a:rPr lang="en-US" sz="1400" i="1" dirty="0">
                <a:solidFill>
                  <a:schemeClr val="tx1"/>
                </a:solidFill>
              </a:rPr>
              <a:t>What happened?</a:t>
            </a:r>
            <a:endParaRPr lang="en-US" sz="1400" dirty="0"/>
          </a:p>
        </p:txBody>
      </p:sp>
      <p:sp>
        <p:nvSpPr>
          <p:cNvPr id="8" name="Text 6"/>
          <p:cNvSpPr txBox="1"/>
          <p:nvPr/>
        </p:nvSpPr>
        <p:spPr>
          <a:xfrm>
            <a:off x="685800" y="5486400"/>
            <a:ext cx="1353312" cy="502920"/>
          </a:xfrm>
          <a:prstGeom prst="rect">
            <a:avLst/>
          </a:prstGeom>
          <a:noFill/>
          <a:ln/>
        </p:spPr>
        <p:txBody>
          <a:bodyPr wrap="square" lIns="0" tIns="0" rIns="0" bIns="0" rtlCol="0" anchor="t"/>
          <a:lstStyle/>
          <a:p>
            <a:pPr indent="0" marL="0">
              <a:buNone/>
            </a:pPr>
            <a:r>
              <a:rPr lang="en-US" sz="1300" dirty="0">
                <a:solidFill>
                  <a:schemeClr val="accent5"/>
                </a:solidFill>
              </a:rPr>
              <a:t>Excel, Power BI dashboards</a:t>
            </a:r>
            <a:endParaRPr lang="en-US" sz="1300" dirty="0"/>
          </a:p>
        </p:txBody>
      </p:sp>
      <p:sp>
        <p:nvSpPr>
          <p:cNvPr id="9" name="Step Diagnostic"/>
          <p:cNvSpPr/>
          <p:nvPr/>
        </p:nvSpPr>
        <p:spPr>
          <a:xfrm>
            <a:off x="2249424" y="3703320"/>
            <a:ext cx="1627632" cy="2423160"/>
          </a:xfrm>
          <a:prstGeom prst="roundRect">
            <a:avLst>
              <a:gd name="adj" fmla="val 4494"/>
            </a:avLst>
          </a:prstGeom>
          <a:solidFill>
            <a:schemeClr val="bg2"/>
          </a:solidFill>
          <a:ln/>
        </p:spPr>
      </p:sp>
      <p:sp>
        <p:nvSpPr>
          <p:cNvPr id="10" name="Text 8"/>
          <p:cNvSpPr txBox="1"/>
          <p:nvPr/>
        </p:nvSpPr>
        <p:spPr>
          <a:xfrm>
            <a:off x="2386584" y="3840480"/>
            <a:ext cx="1353312" cy="365760"/>
          </a:xfrm>
          <a:prstGeom prst="rect">
            <a:avLst/>
          </a:prstGeom>
          <a:noFill/>
          <a:ln/>
        </p:spPr>
        <p:txBody>
          <a:bodyPr wrap="square" lIns="0" tIns="0" rIns="0" bIns="0" rtlCol="0" anchor="t"/>
          <a:lstStyle/>
          <a:p>
            <a:pPr indent="0" marL="0">
              <a:buNone/>
            </a:pPr>
            <a:r>
              <a:rPr lang="en-US" sz="1600" b="1" dirty="0">
                <a:solidFill>
                  <a:schemeClr val="tx2"/>
                </a:solidFill>
              </a:rPr>
              <a:t>Diagnostic</a:t>
            </a:r>
            <a:endParaRPr lang="en-US" sz="1600" dirty="0"/>
          </a:p>
        </p:txBody>
      </p:sp>
      <p:sp>
        <p:nvSpPr>
          <p:cNvPr id="11" name="Text 9"/>
          <p:cNvSpPr txBox="1"/>
          <p:nvPr/>
        </p:nvSpPr>
        <p:spPr>
          <a:xfrm>
            <a:off x="2386584" y="4206240"/>
            <a:ext cx="1353312" cy="502920"/>
          </a:xfrm>
          <a:prstGeom prst="rect">
            <a:avLst/>
          </a:prstGeom>
          <a:noFill/>
          <a:ln/>
        </p:spPr>
        <p:txBody>
          <a:bodyPr wrap="square" lIns="0" tIns="0" rIns="0" bIns="0" rtlCol="0" anchor="t"/>
          <a:lstStyle/>
          <a:p>
            <a:pPr indent="0" marL="0">
              <a:buNone/>
            </a:pPr>
            <a:r>
              <a:rPr lang="en-US" sz="1400" i="1" dirty="0">
                <a:solidFill>
                  <a:schemeClr val="tx1"/>
                </a:solidFill>
              </a:rPr>
              <a:t>Why did it happen?</a:t>
            </a:r>
            <a:endParaRPr lang="en-US" sz="1400" dirty="0"/>
          </a:p>
        </p:txBody>
      </p:sp>
      <p:sp>
        <p:nvSpPr>
          <p:cNvPr id="12" name="Text 10"/>
          <p:cNvSpPr txBox="1"/>
          <p:nvPr/>
        </p:nvSpPr>
        <p:spPr>
          <a:xfrm>
            <a:off x="2386584" y="5486400"/>
            <a:ext cx="1353312" cy="502920"/>
          </a:xfrm>
          <a:prstGeom prst="rect">
            <a:avLst/>
          </a:prstGeom>
          <a:noFill/>
          <a:ln/>
        </p:spPr>
        <p:txBody>
          <a:bodyPr wrap="square" lIns="0" tIns="0" rIns="0" bIns="0" rtlCol="0" anchor="t"/>
          <a:lstStyle/>
          <a:p>
            <a:pPr indent="0" marL="0">
              <a:buNone/>
            </a:pPr>
            <a:r>
              <a:rPr lang="en-US" sz="1300" dirty="0">
                <a:solidFill>
                  <a:schemeClr val="accent5"/>
                </a:solidFill>
              </a:rPr>
              <a:t>SQL, statistics</a:t>
            </a:r>
            <a:endParaRPr lang="en-US" sz="1300" dirty="0"/>
          </a:p>
        </p:txBody>
      </p:sp>
      <p:sp>
        <p:nvSpPr>
          <p:cNvPr id="13" name="Step Predictive"/>
          <p:cNvSpPr/>
          <p:nvPr/>
        </p:nvSpPr>
        <p:spPr>
          <a:xfrm>
            <a:off x="3950208" y="3063240"/>
            <a:ext cx="1627632" cy="3063240"/>
          </a:xfrm>
          <a:prstGeom prst="roundRect">
            <a:avLst>
              <a:gd name="adj" fmla="val 4494"/>
            </a:avLst>
          </a:prstGeom>
          <a:solidFill>
            <a:srgbClr val="16243A"/>
          </a:solidFill>
          <a:ln/>
        </p:spPr>
      </p:sp>
      <p:sp>
        <p:nvSpPr>
          <p:cNvPr id="14" name="Text 12"/>
          <p:cNvSpPr txBox="1"/>
          <p:nvPr/>
        </p:nvSpPr>
        <p:spPr>
          <a:xfrm>
            <a:off x="4087368" y="3200400"/>
            <a:ext cx="1353312" cy="365760"/>
          </a:xfrm>
          <a:prstGeom prst="rect">
            <a:avLst/>
          </a:prstGeom>
          <a:noFill/>
          <a:ln/>
        </p:spPr>
        <p:txBody>
          <a:bodyPr wrap="square" lIns="0" tIns="0" rIns="0" bIns="0" rtlCol="0" anchor="t"/>
          <a:lstStyle/>
          <a:p>
            <a:pPr indent="0" marL="0">
              <a:buNone/>
            </a:pPr>
            <a:r>
              <a:rPr lang="en-US" sz="1600" b="1" dirty="0">
                <a:solidFill>
                  <a:schemeClr val="accent1"/>
                </a:solidFill>
              </a:rPr>
              <a:t>Predictive</a:t>
            </a:r>
            <a:endParaRPr lang="en-US" sz="1600" dirty="0"/>
          </a:p>
        </p:txBody>
      </p:sp>
      <p:sp>
        <p:nvSpPr>
          <p:cNvPr id="15" name="Text 13"/>
          <p:cNvSpPr txBox="1"/>
          <p:nvPr/>
        </p:nvSpPr>
        <p:spPr>
          <a:xfrm>
            <a:off x="4087368" y="3566160"/>
            <a:ext cx="1353312" cy="502920"/>
          </a:xfrm>
          <a:prstGeom prst="rect">
            <a:avLst/>
          </a:prstGeom>
          <a:noFill/>
          <a:ln/>
        </p:spPr>
        <p:txBody>
          <a:bodyPr wrap="square" lIns="0" tIns="0" rIns="0" bIns="0" rtlCol="0" anchor="t"/>
          <a:lstStyle/>
          <a:p>
            <a:pPr indent="0" marL="0">
              <a:buNone/>
            </a:pPr>
            <a:r>
              <a:rPr lang="en-US" sz="1400" i="1" dirty="0">
                <a:solidFill>
                  <a:schemeClr val="bg1"/>
                </a:solidFill>
              </a:rPr>
              <a:t>What will happen?</a:t>
            </a:r>
            <a:endParaRPr lang="en-US" sz="1400" dirty="0"/>
          </a:p>
        </p:txBody>
      </p:sp>
      <p:sp>
        <p:nvSpPr>
          <p:cNvPr id="16" name="Text 14"/>
          <p:cNvSpPr txBox="1"/>
          <p:nvPr/>
        </p:nvSpPr>
        <p:spPr>
          <a:xfrm>
            <a:off x="4087368" y="5486400"/>
            <a:ext cx="1353312" cy="502920"/>
          </a:xfrm>
          <a:prstGeom prst="rect">
            <a:avLst/>
          </a:prstGeom>
          <a:noFill/>
          <a:ln/>
        </p:spPr>
        <p:txBody>
          <a:bodyPr wrap="square" lIns="0" tIns="0" rIns="0" bIns="0" rtlCol="0" anchor="t"/>
          <a:lstStyle/>
          <a:p>
            <a:pPr indent="0" marL="0">
              <a:buNone/>
            </a:pPr>
            <a:r>
              <a:rPr lang="en-US" sz="1300" dirty="0">
                <a:solidFill>
                  <a:srgbClr val="CADCFC"/>
                </a:solidFill>
              </a:rPr>
              <a:t>Python, machine learning</a:t>
            </a:r>
            <a:endParaRPr lang="en-US" sz="1300" dirty="0"/>
          </a:p>
        </p:txBody>
      </p:sp>
      <p:sp>
        <p:nvSpPr>
          <p:cNvPr id="17" name="Step Prescriptive"/>
          <p:cNvSpPr/>
          <p:nvPr/>
        </p:nvSpPr>
        <p:spPr>
          <a:xfrm>
            <a:off x="5650992" y="2423160"/>
            <a:ext cx="1627632" cy="3703320"/>
          </a:xfrm>
          <a:prstGeom prst="roundRect">
            <a:avLst>
              <a:gd name="adj" fmla="val 4494"/>
            </a:avLst>
          </a:prstGeom>
          <a:solidFill>
            <a:srgbClr val="DCE9F9"/>
          </a:solidFill>
          <a:ln/>
        </p:spPr>
      </p:sp>
      <p:sp>
        <p:nvSpPr>
          <p:cNvPr id="18" name="Text 16"/>
          <p:cNvSpPr txBox="1"/>
          <p:nvPr/>
        </p:nvSpPr>
        <p:spPr>
          <a:xfrm>
            <a:off x="5788152" y="2560320"/>
            <a:ext cx="1353312" cy="365760"/>
          </a:xfrm>
          <a:prstGeom prst="rect">
            <a:avLst/>
          </a:prstGeom>
          <a:noFill/>
          <a:ln/>
        </p:spPr>
        <p:txBody>
          <a:bodyPr wrap="square" lIns="0" tIns="0" rIns="0" bIns="0" rtlCol="0" anchor="t"/>
          <a:lstStyle/>
          <a:p>
            <a:pPr indent="0" marL="0">
              <a:buNone/>
            </a:pPr>
            <a:r>
              <a:rPr lang="en-US" sz="1600" b="1" dirty="0">
                <a:solidFill>
                  <a:schemeClr val="tx2"/>
                </a:solidFill>
              </a:rPr>
              <a:t>Prescriptive</a:t>
            </a:r>
            <a:endParaRPr lang="en-US" sz="1600" dirty="0"/>
          </a:p>
        </p:txBody>
      </p:sp>
      <p:sp>
        <p:nvSpPr>
          <p:cNvPr id="19" name="Text 17"/>
          <p:cNvSpPr txBox="1"/>
          <p:nvPr/>
        </p:nvSpPr>
        <p:spPr>
          <a:xfrm>
            <a:off x="5788152" y="2926080"/>
            <a:ext cx="1353312" cy="502920"/>
          </a:xfrm>
          <a:prstGeom prst="rect">
            <a:avLst/>
          </a:prstGeom>
          <a:noFill/>
          <a:ln/>
        </p:spPr>
        <p:txBody>
          <a:bodyPr wrap="square" lIns="0" tIns="0" rIns="0" bIns="0" rtlCol="0" anchor="t"/>
          <a:lstStyle/>
          <a:p>
            <a:pPr indent="0" marL="0">
              <a:buNone/>
            </a:pPr>
            <a:r>
              <a:rPr lang="en-US" sz="1400" i="1" dirty="0">
                <a:solidFill>
                  <a:schemeClr val="tx1"/>
                </a:solidFill>
              </a:rPr>
              <a:t>What should we do?</a:t>
            </a:r>
            <a:endParaRPr lang="en-US" sz="1400" dirty="0"/>
          </a:p>
        </p:txBody>
      </p:sp>
      <p:sp>
        <p:nvSpPr>
          <p:cNvPr id="20" name="Text 18"/>
          <p:cNvSpPr txBox="1"/>
          <p:nvPr/>
        </p:nvSpPr>
        <p:spPr>
          <a:xfrm>
            <a:off x="5788152" y="5486400"/>
            <a:ext cx="1353312" cy="502920"/>
          </a:xfrm>
          <a:prstGeom prst="rect">
            <a:avLst/>
          </a:prstGeom>
          <a:noFill/>
          <a:ln/>
        </p:spPr>
        <p:txBody>
          <a:bodyPr wrap="square" lIns="0" tIns="0" rIns="0" bIns="0" rtlCol="0" anchor="t"/>
          <a:lstStyle/>
          <a:p>
            <a:pPr indent="0" marL="0">
              <a:buNone/>
            </a:pPr>
            <a:r>
              <a:rPr lang="en-US" sz="1300" dirty="0">
                <a:solidFill>
                  <a:schemeClr val="accent5"/>
                </a:solidFill>
              </a:rPr>
              <a:t>Next step</a:t>
            </a:r>
            <a:endParaRPr lang="en-US" sz="1300" dirty="0"/>
          </a:p>
        </p:txBody>
      </p:sp>
      <p:sp>
        <p:nvSpPr>
          <p:cNvPr id="21" name="This project tag"/>
          <p:cNvSpPr/>
          <p:nvPr/>
        </p:nvSpPr>
        <p:spPr>
          <a:xfrm>
            <a:off x="4041648" y="2496312"/>
            <a:ext cx="1444752" cy="384048"/>
          </a:xfrm>
          <a:prstGeom prst="roundRect">
            <a:avLst>
              <a:gd name="adj" fmla="val 19048"/>
            </a:avLst>
          </a:prstGeom>
          <a:solidFill>
            <a:srgbClr val="E8622C"/>
          </a:solidFill>
          <a:ln/>
        </p:spPr>
      </p:sp>
      <p:sp>
        <p:nvSpPr>
          <p:cNvPr id="22" name="Text 20"/>
          <p:cNvSpPr txBox="1"/>
          <p:nvPr/>
        </p:nvSpPr>
        <p:spPr>
          <a:xfrm>
            <a:off x="4041648" y="2496312"/>
            <a:ext cx="1444752" cy="384048"/>
          </a:xfrm>
          <a:prstGeom prst="rect">
            <a:avLst/>
          </a:prstGeom>
          <a:noFill/>
          <a:ln/>
        </p:spPr>
        <p:txBody>
          <a:bodyPr wrap="square" lIns="0" tIns="0" rIns="0" bIns="0" rtlCol="0" anchor="ctr"/>
          <a:lstStyle/>
          <a:p>
            <a:pPr algn="ctr" indent="0" marL="0">
              <a:buNone/>
            </a:pPr>
            <a:r>
              <a:rPr lang="en-US" sz="1300" b="1" dirty="0">
                <a:solidFill>
                  <a:schemeClr val="bg1"/>
                </a:solidFill>
              </a:rPr>
              <a:t>This project</a:t>
            </a:r>
            <a:endParaRPr lang="en-US" sz="1300" dirty="0"/>
          </a:p>
        </p:txBody>
      </p:sp>
      <p:sp>
        <p:nvSpPr>
          <p:cNvPr id="23" name="Text 21"/>
          <p:cNvSpPr txBox="1"/>
          <p:nvPr/>
        </p:nvSpPr>
        <p:spPr>
          <a:xfrm>
            <a:off x="548640" y="1371600"/>
            <a:ext cx="6675120" cy="411480"/>
          </a:xfrm>
          <a:prstGeom prst="rect">
            <a:avLst/>
          </a:prstGeom>
          <a:noFill/>
          <a:ln/>
        </p:spPr>
        <p:txBody>
          <a:bodyPr wrap="square" lIns="0" tIns="0" rIns="0" bIns="0" rtlCol="0" anchor="t"/>
          <a:lstStyle/>
          <a:p>
            <a:pPr indent="0" marL="0">
              <a:buNone/>
            </a:pPr>
            <a:r>
              <a:rPr lang="en-US" sz="1800" b="1" dirty="0">
                <a:solidFill>
                  <a:schemeClr val="tx2"/>
                </a:solidFill>
              </a:rPr>
              <a:t>Moving up the data analytics ladder</a:t>
            </a:r>
            <a:endParaRPr lang="en-US" sz="1800" dirty="0"/>
          </a:p>
        </p:txBody>
      </p:sp>
      <p:sp>
        <p:nvSpPr>
          <p:cNvPr id="24" name="Heading card"/>
          <p:cNvSpPr/>
          <p:nvPr/>
        </p:nvSpPr>
        <p:spPr>
          <a:xfrm>
            <a:off x="7589520" y="1371600"/>
            <a:ext cx="4050792" cy="1965960"/>
          </a:xfrm>
          <a:prstGeom prst="roundRect">
            <a:avLst>
              <a:gd name="adj" fmla="val 3721"/>
            </a:avLst>
          </a:prstGeom>
          <a:solidFill>
            <a:srgbClr val="16243A"/>
          </a:solidFill>
          <a:ln/>
        </p:spPr>
      </p:sp>
      <p:sp>
        <p:nvSpPr>
          <p:cNvPr id="25" name="Heading circle"/>
          <p:cNvSpPr/>
          <p:nvPr/>
        </p:nvSpPr>
        <p:spPr>
          <a:xfrm>
            <a:off x="7818120" y="1600200"/>
            <a:ext cx="640080" cy="640080"/>
          </a:xfrm>
          <a:prstGeom prst="ellipse">
            <a:avLst/>
          </a:prstGeom>
          <a:solidFill>
            <a:srgbClr val="E8622C"/>
          </a:solidFill>
          <a:ln/>
        </p:spPr>
      </p:sp>
      <p:pic>
        <p:nvPicPr>
          <p:cNvPr id="26" name="Heading icon" descr="preencoded.png">    </p:cNvPr>
          <p:cNvPicPr>
            <a:picLocks noChangeAspect="1"/>
          </p:cNvPicPr>
          <p:nvPr/>
        </p:nvPicPr>
        <p:blipFill>
          <a:blip r:embed="rId1"/>
          <a:stretch>
            <a:fillRect/>
          </a:stretch>
        </p:blipFill>
        <p:spPr>
          <a:xfrm>
            <a:off x="7990942" y="1773022"/>
            <a:ext cx="294437" cy="294437"/>
          </a:xfrm>
          <a:prstGeom prst="rect">
            <a:avLst/>
          </a:prstGeom>
        </p:spPr>
      </p:pic>
      <p:sp>
        <p:nvSpPr>
          <p:cNvPr id="27" name="Text 24"/>
          <p:cNvSpPr txBox="1"/>
          <p:nvPr/>
        </p:nvSpPr>
        <p:spPr>
          <a:xfrm>
            <a:off x="8595360" y="1600200"/>
            <a:ext cx="2926080" cy="640080"/>
          </a:xfrm>
          <a:prstGeom prst="rect">
            <a:avLst/>
          </a:prstGeom>
          <a:noFill/>
          <a:ln/>
        </p:spPr>
        <p:txBody>
          <a:bodyPr wrap="square" lIns="0" tIns="0" rIns="0" bIns="0" rtlCol="0" anchor="ctr"/>
          <a:lstStyle/>
          <a:p>
            <a:pPr indent="0" marL="0">
              <a:buNone/>
            </a:pPr>
            <a:r>
              <a:rPr lang="en-US" sz="1800" b="1" dirty="0">
                <a:solidFill>
                  <a:schemeClr val="bg1"/>
                </a:solidFill>
              </a:rPr>
              <a:t>Where I'm heading</a:t>
            </a:r>
            <a:endParaRPr lang="en-US" sz="1800" dirty="0"/>
          </a:p>
        </p:txBody>
      </p:sp>
      <p:sp>
        <p:nvSpPr>
          <p:cNvPr id="28" name="Text 25"/>
          <p:cNvSpPr txBox="1"/>
          <p:nvPr/>
        </p:nvSpPr>
        <p:spPr>
          <a:xfrm>
            <a:off x="7818120" y="2377440"/>
            <a:ext cx="3657600" cy="868680"/>
          </a:xfrm>
          <a:prstGeom prst="rect">
            <a:avLst/>
          </a:prstGeom>
          <a:noFill/>
          <a:ln/>
        </p:spPr>
        <p:txBody>
          <a:bodyPr wrap="square" lIns="0" tIns="0" rIns="0" bIns="0" rtlCol="0" anchor="t"/>
          <a:lstStyle/>
          <a:p>
            <a:pPr indent="0" marL="0">
              <a:buNone/>
            </a:pPr>
            <a:r>
              <a:rPr lang="en-US" sz="1400" dirty="0">
                <a:solidFill>
                  <a:schemeClr val="bg1"/>
                </a:solidFill>
              </a:rPr>
              <a:t>Analyst roles that use machine learning, e.g. credit risk, fraud or customer analytics in banking and fintech.</a:t>
            </a:r>
            <a:endParaRPr lang="en-US" sz="1400" dirty="0"/>
          </a:p>
        </p:txBody>
      </p:sp>
      <p:sp>
        <p:nvSpPr>
          <p:cNvPr id="29" name="Skills card"/>
          <p:cNvSpPr/>
          <p:nvPr/>
        </p:nvSpPr>
        <p:spPr>
          <a:xfrm>
            <a:off x="7589520" y="3566160"/>
            <a:ext cx="4050792" cy="2560320"/>
          </a:xfrm>
          <a:prstGeom prst="roundRect">
            <a:avLst>
              <a:gd name="adj" fmla="val 2857"/>
            </a:avLst>
          </a:prstGeom>
          <a:solidFill>
            <a:schemeClr val="bg2"/>
          </a:solidFill>
          <a:ln/>
        </p:spPr>
      </p:sp>
      <p:sp>
        <p:nvSpPr>
          <p:cNvPr id="30" name="Text 27"/>
          <p:cNvSpPr txBox="1"/>
          <p:nvPr/>
        </p:nvSpPr>
        <p:spPr>
          <a:xfrm>
            <a:off x="7818120" y="3703320"/>
            <a:ext cx="3657600" cy="411480"/>
          </a:xfrm>
          <a:prstGeom prst="rect">
            <a:avLst/>
          </a:prstGeom>
          <a:noFill/>
          <a:ln/>
        </p:spPr>
        <p:txBody>
          <a:bodyPr wrap="square" lIns="0" tIns="0" rIns="0" bIns="0" rtlCol="0" anchor="t"/>
          <a:lstStyle/>
          <a:p>
            <a:pPr indent="0" marL="0">
              <a:buNone/>
            </a:pPr>
            <a:r>
              <a:rPr lang="en-US" sz="1700" b="1" dirty="0">
                <a:solidFill>
                  <a:schemeClr val="tx2"/>
                </a:solidFill>
              </a:rPr>
              <a:t>Skills this project proves</a:t>
            </a:r>
            <a:endParaRPr lang="en-US" sz="1700" dirty="0"/>
          </a:p>
        </p:txBody>
      </p:sp>
      <p:sp>
        <p:nvSpPr>
          <p:cNvPr id="31" name="Skill Python"/>
          <p:cNvSpPr/>
          <p:nvPr/>
        </p:nvSpPr>
        <p:spPr>
          <a:xfrm>
            <a:off x="7818120" y="4251960"/>
            <a:ext cx="1737360" cy="438912"/>
          </a:xfrm>
          <a:prstGeom prst="roundRect">
            <a:avLst>
              <a:gd name="adj" fmla="val 20833"/>
            </a:avLst>
          </a:prstGeom>
          <a:solidFill>
            <a:srgbClr val="FFFFFF"/>
          </a:solidFill>
          <a:ln w="12700">
            <a:solidFill>
              <a:srgbClr val="16243A"/>
            </a:solidFill>
            <a:prstDash val="solid"/>
          </a:ln>
        </p:spPr>
      </p:sp>
      <p:sp>
        <p:nvSpPr>
          <p:cNvPr id="32" name="Text 29"/>
          <p:cNvSpPr txBox="1"/>
          <p:nvPr/>
        </p:nvSpPr>
        <p:spPr>
          <a:xfrm>
            <a:off x="7818120" y="4251960"/>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Python</a:t>
            </a:r>
            <a:endParaRPr lang="en-US" sz="1300" dirty="0"/>
          </a:p>
        </p:txBody>
      </p:sp>
      <p:sp>
        <p:nvSpPr>
          <p:cNvPr id="33" name="Skill Data cleaning"/>
          <p:cNvSpPr/>
          <p:nvPr/>
        </p:nvSpPr>
        <p:spPr>
          <a:xfrm>
            <a:off x="9692640" y="4251960"/>
            <a:ext cx="1737360" cy="438912"/>
          </a:xfrm>
          <a:prstGeom prst="roundRect">
            <a:avLst>
              <a:gd name="adj" fmla="val 20833"/>
            </a:avLst>
          </a:prstGeom>
          <a:solidFill>
            <a:srgbClr val="FFFFFF"/>
          </a:solidFill>
          <a:ln w="12700">
            <a:solidFill>
              <a:srgbClr val="16243A"/>
            </a:solidFill>
            <a:prstDash val="solid"/>
          </a:ln>
        </p:spPr>
      </p:sp>
      <p:sp>
        <p:nvSpPr>
          <p:cNvPr id="34" name="Text 31"/>
          <p:cNvSpPr txBox="1"/>
          <p:nvPr/>
        </p:nvSpPr>
        <p:spPr>
          <a:xfrm>
            <a:off x="9692640" y="4251960"/>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Data cleaning</a:t>
            </a:r>
            <a:endParaRPr lang="en-US" sz="1300" dirty="0"/>
          </a:p>
        </p:txBody>
      </p:sp>
      <p:sp>
        <p:nvSpPr>
          <p:cNvPr id="35" name="Skill Machine learning"/>
          <p:cNvSpPr/>
          <p:nvPr/>
        </p:nvSpPr>
        <p:spPr>
          <a:xfrm>
            <a:off x="7818120" y="4818888"/>
            <a:ext cx="1737360" cy="438912"/>
          </a:xfrm>
          <a:prstGeom prst="roundRect">
            <a:avLst>
              <a:gd name="adj" fmla="val 20833"/>
            </a:avLst>
          </a:prstGeom>
          <a:solidFill>
            <a:srgbClr val="FFFFFF"/>
          </a:solidFill>
          <a:ln w="12700">
            <a:solidFill>
              <a:srgbClr val="16243A"/>
            </a:solidFill>
            <a:prstDash val="solid"/>
          </a:ln>
        </p:spPr>
      </p:sp>
      <p:sp>
        <p:nvSpPr>
          <p:cNvPr id="36" name="Text 33"/>
          <p:cNvSpPr txBox="1"/>
          <p:nvPr/>
        </p:nvSpPr>
        <p:spPr>
          <a:xfrm>
            <a:off x="7818120" y="4818888"/>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Machine learning</a:t>
            </a:r>
            <a:endParaRPr lang="en-US" sz="1300" dirty="0"/>
          </a:p>
        </p:txBody>
      </p:sp>
      <p:sp>
        <p:nvSpPr>
          <p:cNvPr id="37" name="Skill Model testing"/>
          <p:cNvSpPr/>
          <p:nvPr/>
        </p:nvSpPr>
        <p:spPr>
          <a:xfrm>
            <a:off x="9692640" y="4818888"/>
            <a:ext cx="1737360" cy="438912"/>
          </a:xfrm>
          <a:prstGeom prst="roundRect">
            <a:avLst>
              <a:gd name="adj" fmla="val 20833"/>
            </a:avLst>
          </a:prstGeom>
          <a:solidFill>
            <a:srgbClr val="FFFFFF"/>
          </a:solidFill>
          <a:ln w="12700">
            <a:solidFill>
              <a:srgbClr val="16243A"/>
            </a:solidFill>
            <a:prstDash val="solid"/>
          </a:ln>
        </p:spPr>
      </p:sp>
      <p:sp>
        <p:nvSpPr>
          <p:cNvPr id="38" name="Text 35"/>
          <p:cNvSpPr txBox="1"/>
          <p:nvPr/>
        </p:nvSpPr>
        <p:spPr>
          <a:xfrm>
            <a:off x="9692640" y="4818888"/>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Model testing</a:t>
            </a:r>
            <a:endParaRPr lang="en-US" sz="1300" dirty="0"/>
          </a:p>
        </p:txBody>
      </p:sp>
      <p:sp>
        <p:nvSpPr>
          <p:cNvPr id="39" name="Skill Deployment"/>
          <p:cNvSpPr/>
          <p:nvPr/>
        </p:nvSpPr>
        <p:spPr>
          <a:xfrm>
            <a:off x="7818120" y="5385816"/>
            <a:ext cx="1737360" cy="438912"/>
          </a:xfrm>
          <a:prstGeom prst="roundRect">
            <a:avLst>
              <a:gd name="adj" fmla="val 20833"/>
            </a:avLst>
          </a:prstGeom>
          <a:solidFill>
            <a:srgbClr val="FFFFFF"/>
          </a:solidFill>
          <a:ln w="12700">
            <a:solidFill>
              <a:srgbClr val="16243A"/>
            </a:solidFill>
            <a:prstDash val="solid"/>
          </a:ln>
        </p:spPr>
      </p:sp>
      <p:sp>
        <p:nvSpPr>
          <p:cNvPr id="40" name="Text 37"/>
          <p:cNvSpPr txBox="1"/>
          <p:nvPr/>
        </p:nvSpPr>
        <p:spPr>
          <a:xfrm>
            <a:off x="7818120" y="5385816"/>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Deployment</a:t>
            </a:r>
            <a:endParaRPr lang="en-US" sz="1300" dirty="0"/>
          </a:p>
        </p:txBody>
      </p:sp>
      <p:sp>
        <p:nvSpPr>
          <p:cNvPr id="41" name="Skill Monitoring"/>
          <p:cNvSpPr/>
          <p:nvPr/>
        </p:nvSpPr>
        <p:spPr>
          <a:xfrm>
            <a:off x="9692640" y="5385816"/>
            <a:ext cx="1737360" cy="438912"/>
          </a:xfrm>
          <a:prstGeom prst="roundRect">
            <a:avLst>
              <a:gd name="adj" fmla="val 20833"/>
            </a:avLst>
          </a:prstGeom>
          <a:solidFill>
            <a:srgbClr val="FFFFFF"/>
          </a:solidFill>
          <a:ln w="12700">
            <a:solidFill>
              <a:srgbClr val="16243A"/>
            </a:solidFill>
            <a:prstDash val="solid"/>
          </a:ln>
        </p:spPr>
      </p:sp>
      <p:sp>
        <p:nvSpPr>
          <p:cNvPr id="42" name="Text 39"/>
          <p:cNvSpPr txBox="1"/>
          <p:nvPr/>
        </p:nvSpPr>
        <p:spPr>
          <a:xfrm>
            <a:off x="9692640" y="5385816"/>
            <a:ext cx="1737360" cy="438912"/>
          </a:xfrm>
          <a:prstGeom prst="rect">
            <a:avLst/>
          </a:prstGeom>
          <a:noFill/>
          <a:ln/>
        </p:spPr>
        <p:txBody>
          <a:bodyPr wrap="square" lIns="0" tIns="0" rIns="0" bIns="0" rtlCol="0" anchor="ctr"/>
          <a:lstStyle/>
          <a:p>
            <a:pPr algn="ctr" indent="0" marL="0">
              <a:buNone/>
            </a:pPr>
            <a:r>
              <a:rPr lang="en-US" sz="1300" b="1" dirty="0">
                <a:solidFill>
                  <a:schemeClr val="tx2"/>
                </a:solidFill>
              </a:rPr>
              <a:t>Monitoring</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evidence: 8 files from one bank</a:t>
            </a:r>
            <a:endParaRPr lang="en-US" sz="3400" dirty="0"/>
          </a:p>
        </p:txBody>
      </p:sp>
      <p:graphicFrame>
        <p:nvGraphicFramePr>
          <p:cNvPr id="7" name="Files table"/>
          <p:cNvGraphicFramePr>
            <a:graphicFrameLocks noGrp="1"/>
          </p:cNvGraphicFramePr>
          <p:nvPr>
            <p:extLst>
              <p:ext uri="{D42A27DB-BD31-4B8C-83A1-F6EECF244321}">
                <p14:modId xmlns:p14="http://schemas.microsoft.com/office/powerpoint/2010/main" val="1579011935"/>
              </p:ext>
            </p:extLst>
          </p:nvPr>
        </p:nvGraphicFramePr>
        <p:xfrm>
          <a:off x="548640" y="1325880"/>
          <a:ext cx="7680960" cy="914400"/>
        </p:xfrm>
        <a:graphic>
          <a:graphicData uri="http://schemas.openxmlformats.org/drawingml/2006/table">
            <a:tbl>
              <a:tblPr/>
              <a:tblGrid>
                <a:gridCol w="1737360"/>
                <a:gridCol w="1188720"/>
                <a:gridCol w="2514600"/>
                <a:gridCol w="2240280"/>
              </a:tblGrid>
              <a:tr h="47548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Rows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One row is…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Used for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Loan.csv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682</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loan (status = the target)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Target, loan terms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Account.csv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4,500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bank account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Account age, statement frequency</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Transaction.csv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1,056,320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an account transaction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Balances, income, overdrafts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Disp.csv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5,369</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client's role on an account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Owner, number of users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Client.csv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5,369</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customer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Age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Card.csv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892</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payment card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Card held before the loan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District.csv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region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Salary, unemployment, crime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Order.csv</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6,471</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 standing payment order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Description only (no dates)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6" name="Data tile 0"/>
          <p:cNvSpPr/>
          <p:nvPr/>
        </p:nvSpPr>
        <p:spPr>
          <a:xfrm>
            <a:off x="8549640" y="1325880"/>
            <a:ext cx="3090672" cy="1325880"/>
          </a:xfrm>
          <a:prstGeom prst="roundRect">
            <a:avLst>
              <a:gd name="adj" fmla="val 5517"/>
            </a:avLst>
          </a:prstGeom>
          <a:solidFill>
            <a:srgbClr val="16243A"/>
          </a:solidFill>
          <a:ln/>
        </p:spPr>
      </p:sp>
      <p:sp>
        <p:nvSpPr>
          <p:cNvPr id="7" name="Text 4"/>
          <p:cNvSpPr txBox="1"/>
          <p:nvPr/>
        </p:nvSpPr>
        <p:spPr>
          <a:xfrm>
            <a:off x="8778240" y="1463040"/>
            <a:ext cx="27432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8" name="Text 5"/>
          <p:cNvSpPr txBox="1"/>
          <p:nvPr/>
        </p:nvSpPr>
        <p:spPr>
          <a:xfrm>
            <a:off x="8778240" y="2148840"/>
            <a:ext cx="2743200" cy="365760"/>
          </a:xfrm>
          <a:prstGeom prst="rect">
            <a:avLst/>
          </a:prstGeom>
          <a:noFill/>
          <a:ln/>
        </p:spPr>
        <p:txBody>
          <a:bodyPr wrap="square" lIns="0" tIns="0" rIns="0" bIns="0" rtlCol="0" anchor="t"/>
          <a:lstStyle/>
          <a:p>
            <a:pPr indent="0" marL="0">
              <a:buNone/>
            </a:pPr>
            <a:r>
              <a:rPr lang="en-US" sz="1500" dirty="0">
                <a:solidFill>
                  <a:schemeClr val="bg1"/>
                </a:solidFill>
              </a:rPr>
              <a:t>linked tables</a:t>
            </a:r>
            <a:endParaRPr lang="en-US" sz="1500" dirty="0"/>
          </a:p>
        </p:txBody>
      </p:sp>
      <p:sp>
        <p:nvSpPr>
          <p:cNvPr id="9" name="Data tile 1"/>
          <p:cNvSpPr/>
          <p:nvPr/>
        </p:nvSpPr>
        <p:spPr>
          <a:xfrm>
            <a:off x="8549640" y="2807208"/>
            <a:ext cx="3090672" cy="1325880"/>
          </a:xfrm>
          <a:prstGeom prst="roundRect">
            <a:avLst>
              <a:gd name="adj" fmla="val 5517"/>
            </a:avLst>
          </a:prstGeom>
          <a:solidFill>
            <a:srgbClr val="16243A"/>
          </a:solidFill>
          <a:ln/>
        </p:spPr>
      </p:sp>
      <p:sp>
        <p:nvSpPr>
          <p:cNvPr id="10" name="Text 7"/>
          <p:cNvSpPr txBox="1"/>
          <p:nvPr/>
        </p:nvSpPr>
        <p:spPr>
          <a:xfrm>
            <a:off x="8778240" y="2944368"/>
            <a:ext cx="27432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1.06 M</a:t>
            </a:r>
            <a:endParaRPr lang="en-US" sz="3200" dirty="0"/>
          </a:p>
        </p:txBody>
      </p:sp>
      <p:sp>
        <p:nvSpPr>
          <p:cNvPr id="11" name="Text 8"/>
          <p:cNvSpPr txBox="1"/>
          <p:nvPr/>
        </p:nvSpPr>
        <p:spPr>
          <a:xfrm>
            <a:off x="8778240" y="3630168"/>
            <a:ext cx="2743200" cy="365760"/>
          </a:xfrm>
          <a:prstGeom prst="rect">
            <a:avLst/>
          </a:prstGeom>
          <a:noFill/>
          <a:ln/>
        </p:spPr>
        <p:txBody>
          <a:bodyPr wrap="square" lIns="0" tIns="0" rIns="0" bIns="0" rtlCol="0" anchor="t"/>
          <a:lstStyle/>
          <a:p>
            <a:pPr indent="0" marL="0">
              <a:buNone/>
            </a:pPr>
            <a:r>
              <a:rPr lang="en-US" sz="1500" dirty="0">
                <a:solidFill>
                  <a:schemeClr val="bg1"/>
                </a:solidFill>
              </a:rPr>
              <a:t>transactions</a:t>
            </a:r>
            <a:endParaRPr lang="en-US" sz="1500" dirty="0"/>
          </a:p>
        </p:txBody>
      </p:sp>
      <p:sp>
        <p:nvSpPr>
          <p:cNvPr id="12" name="Data tile 2"/>
          <p:cNvSpPr/>
          <p:nvPr/>
        </p:nvSpPr>
        <p:spPr>
          <a:xfrm>
            <a:off x="8549640" y="4288536"/>
            <a:ext cx="3090672" cy="1325880"/>
          </a:xfrm>
          <a:prstGeom prst="roundRect">
            <a:avLst>
              <a:gd name="adj" fmla="val 5517"/>
            </a:avLst>
          </a:prstGeom>
          <a:solidFill>
            <a:srgbClr val="16243A"/>
          </a:solidFill>
          <a:ln/>
        </p:spPr>
      </p:sp>
      <p:sp>
        <p:nvSpPr>
          <p:cNvPr id="13" name="Text 10"/>
          <p:cNvSpPr txBox="1"/>
          <p:nvPr/>
        </p:nvSpPr>
        <p:spPr>
          <a:xfrm>
            <a:off x="8778240" y="4425696"/>
            <a:ext cx="2743200" cy="6858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1993–98</a:t>
            </a:r>
            <a:endParaRPr lang="en-US" sz="3200" dirty="0"/>
          </a:p>
        </p:txBody>
      </p:sp>
      <p:sp>
        <p:nvSpPr>
          <p:cNvPr id="14" name="Text 11"/>
          <p:cNvSpPr txBox="1"/>
          <p:nvPr/>
        </p:nvSpPr>
        <p:spPr>
          <a:xfrm>
            <a:off x="8778240" y="5111496"/>
            <a:ext cx="2743200" cy="365760"/>
          </a:xfrm>
          <a:prstGeom prst="rect">
            <a:avLst/>
          </a:prstGeom>
          <a:noFill/>
          <a:ln/>
        </p:spPr>
        <p:txBody>
          <a:bodyPr wrap="square" lIns="0" tIns="0" rIns="0" bIns="0" rtlCol="0" anchor="t"/>
          <a:lstStyle/>
          <a:p>
            <a:pPr indent="0" marL="0">
              <a:buNone/>
            </a:pPr>
            <a:r>
              <a:rPr lang="en-US" sz="1500" dirty="0">
                <a:solidFill>
                  <a:schemeClr val="bg1"/>
                </a:solidFill>
              </a:rPr>
              <a:t>bank history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Where the 682 loans come from</a:t>
            </a:r>
            <a:endParaRPr lang="en-US" sz="3400" dirty="0"/>
          </a:p>
        </p:txBody>
      </p:sp>
      <p:sp>
        <p:nvSpPr>
          <p:cNvPr id="5" name="Accounts box"/>
          <p:cNvSpPr/>
          <p:nvPr/>
        </p:nvSpPr>
        <p:spPr>
          <a:xfrm>
            <a:off x="1691640" y="1280160"/>
            <a:ext cx="4023360" cy="1051560"/>
          </a:xfrm>
          <a:prstGeom prst="roundRect">
            <a:avLst>
              <a:gd name="adj" fmla="val 6957"/>
            </a:avLst>
          </a:prstGeom>
          <a:solidFill>
            <a:schemeClr val="bg2"/>
          </a:solidFill>
          <a:ln/>
        </p:spPr>
      </p:sp>
      <p:sp>
        <p:nvSpPr>
          <p:cNvPr id="6" name="Text 4"/>
          <p:cNvSpPr txBox="1"/>
          <p:nvPr/>
        </p:nvSpPr>
        <p:spPr>
          <a:xfrm>
            <a:off x="1691640" y="1389888"/>
            <a:ext cx="4023360" cy="566928"/>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4,500</a:t>
            </a:r>
            <a:endParaRPr lang="en-US" sz="2800" dirty="0"/>
          </a:p>
        </p:txBody>
      </p:sp>
      <p:sp>
        <p:nvSpPr>
          <p:cNvPr id="7" name="Text 5"/>
          <p:cNvSpPr txBox="1"/>
          <p:nvPr/>
        </p:nvSpPr>
        <p:spPr>
          <a:xfrm>
            <a:off x="1783080" y="1938528"/>
            <a:ext cx="3840480" cy="320040"/>
          </a:xfrm>
          <a:prstGeom prst="rect">
            <a:avLst/>
          </a:prstGeom>
          <a:noFill/>
          <a:ln/>
        </p:spPr>
        <p:txBody>
          <a:bodyPr wrap="square" lIns="0" tIns="0" rIns="0" bIns="0" rtlCol="0" anchor="t"/>
          <a:lstStyle/>
          <a:p>
            <a:pPr algn="ctr" indent="0" marL="0">
              <a:buNone/>
            </a:pPr>
            <a:r>
              <a:rPr lang="en-US" sz="1300" dirty="0">
                <a:solidFill>
                  <a:schemeClr val="tx1"/>
                </a:solidFill>
              </a:rPr>
              <a:t>bank accounts (Account.csv)</a:t>
            </a:r>
            <a:endParaRPr lang="en-US" sz="1300" dirty="0"/>
          </a:p>
        </p:txBody>
      </p:sp>
      <p:sp>
        <p:nvSpPr>
          <p:cNvPr id="8" name="Arrow 1"/>
          <p:cNvSpPr/>
          <p:nvPr/>
        </p:nvSpPr>
        <p:spPr>
          <a:xfrm>
            <a:off x="3557016" y="2395728"/>
            <a:ext cx="292608" cy="292608"/>
          </a:xfrm>
          <a:prstGeom prst="downArrow">
            <a:avLst/>
          </a:prstGeom>
          <a:solidFill>
            <a:srgbClr val="E8622C"/>
          </a:solidFill>
          <a:ln/>
        </p:spPr>
      </p:sp>
      <p:sp>
        <p:nvSpPr>
          <p:cNvPr id="9" name="Loans box"/>
          <p:cNvSpPr/>
          <p:nvPr/>
        </p:nvSpPr>
        <p:spPr>
          <a:xfrm>
            <a:off x="1691640" y="2743200"/>
            <a:ext cx="4023360" cy="1051560"/>
          </a:xfrm>
          <a:prstGeom prst="roundRect">
            <a:avLst>
              <a:gd name="adj" fmla="val 6957"/>
            </a:avLst>
          </a:prstGeom>
          <a:solidFill>
            <a:srgbClr val="16243A"/>
          </a:solidFill>
          <a:ln/>
        </p:spPr>
      </p:sp>
      <p:sp>
        <p:nvSpPr>
          <p:cNvPr id="10" name="Text 8"/>
          <p:cNvSpPr txBox="1"/>
          <p:nvPr/>
        </p:nvSpPr>
        <p:spPr>
          <a:xfrm>
            <a:off x="1691640" y="2852928"/>
            <a:ext cx="4023360" cy="566928"/>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682</a:t>
            </a:r>
            <a:endParaRPr lang="en-US" sz="2800" dirty="0"/>
          </a:p>
        </p:txBody>
      </p:sp>
      <p:sp>
        <p:nvSpPr>
          <p:cNvPr id="11" name="Text 9"/>
          <p:cNvSpPr txBox="1"/>
          <p:nvPr/>
        </p:nvSpPr>
        <p:spPr>
          <a:xfrm>
            <a:off x="1783080" y="3401568"/>
            <a:ext cx="3840480" cy="320040"/>
          </a:xfrm>
          <a:prstGeom prst="rect">
            <a:avLst/>
          </a:prstGeom>
          <a:noFill/>
          <a:ln/>
        </p:spPr>
        <p:txBody>
          <a:bodyPr wrap="square" lIns="0" tIns="0" rIns="0" bIns="0" rtlCol="0" anchor="t"/>
          <a:lstStyle/>
          <a:p>
            <a:pPr algn="ctr" indent="0" marL="0">
              <a:buNone/>
            </a:pPr>
            <a:r>
              <a:rPr lang="en-US" sz="1300" dirty="0">
                <a:solidFill>
                  <a:schemeClr val="bg1"/>
                </a:solidFill>
              </a:rPr>
              <a:t>took a loan, one each (Loan.csv rows)</a:t>
            </a:r>
            <a:endParaRPr lang="en-US" sz="1300" dirty="0"/>
          </a:p>
        </p:txBody>
      </p:sp>
      <p:sp>
        <p:nvSpPr>
          <p:cNvPr id="12" name="Arrow 2"/>
          <p:cNvSpPr/>
          <p:nvPr/>
        </p:nvSpPr>
        <p:spPr>
          <a:xfrm>
            <a:off x="2514600" y="3858768"/>
            <a:ext cx="292608" cy="292608"/>
          </a:xfrm>
          <a:prstGeom prst="downArrow">
            <a:avLst/>
          </a:prstGeom>
          <a:solidFill>
            <a:srgbClr val="E8622C"/>
          </a:solidFill>
          <a:ln/>
        </p:spPr>
      </p:sp>
      <p:sp>
        <p:nvSpPr>
          <p:cNvPr id="13" name="Arrow 3"/>
          <p:cNvSpPr/>
          <p:nvPr/>
        </p:nvSpPr>
        <p:spPr>
          <a:xfrm>
            <a:off x="4617720" y="3858768"/>
            <a:ext cx="292608" cy="292608"/>
          </a:xfrm>
          <a:prstGeom prst="downArrow">
            <a:avLst/>
          </a:prstGeom>
          <a:solidFill>
            <a:srgbClr val="E8622C"/>
          </a:solidFill>
          <a:ln/>
        </p:spPr>
      </p:sp>
      <p:sp>
        <p:nvSpPr>
          <p:cNvPr id="14" name="Good box"/>
          <p:cNvSpPr/>
          <p:nvPr/>
        </p:nvSpPr>
        <p:spPr>
          <a:xfrm>
            <a:off x="548640" y="4206240"/>
            <a:ext cx="3017520" cy="1051560"/>
          </a:xfrm>
          <a:prstGeom prst="roundRect">
            <a:avLst>
              <a:gd name="adj" fmla="val 6957"/>
            </a:avLst>
          </a:prstGeom>
          <a:solidFill>
            <a:srgbClr val="DCE9F9"/>
          </a:solidFill>
          <a:ln/>
        </p:spPr>
      </p:sp>
      <p:sp>
        <p:nvSpPr>
          <p:cNvPr id="15" name="Text 13"/>
          <p:cNvSpPr txBox="1"/>
          <p:nvPr/>
        </p:nvSpPr>
        <p:spPr>
          <a:xfrm>
            <a:off x="548640" y="4315968"/>
            <a:ext cx="3017520" cy="566928"/>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606</a:t>
            </a:r>
            <a:endParaRPr lang="en-US" sz="2800" dirty="0"/>
          </a:p>
        </p:txBody>
      </p:sp>
      <p:sp>
        <p:nvSpPr>
          <p:cNvPr id="16" name="Text 14"/>
          <p:cNvSpPr txBox="1"/>
          <p:nvPr/>
        </p:nvSpPr>
        <p:spPr>
          <a:xfrm>
            <a:off x="640080" y="4864608"/>
            <a:ext cx="2834640" cy="320040"/>
          </a:xfrm>
          <a:prstGeom prst="rect">
            <a:avLst/>
          </a:prstGeom>
          <a:noFill/>
          <a:ln/>
        </p:spPr>
        <p:txBody>
          <a:bodyPr wrap="square" lIns="0" tIns="0" rIns="0" bIns="0" rtlCol="0" anchor="t"/>
          <a:lstStyle/>
          <a:p>
            <a:pPr algn="ctr" indent="0" marL="0">
              <a:buNone/>
            </a:pPr>
            <a:r>
              <a:rPr lang="en-US" sz="1300" dirty="0">
                <a:solidFill>
                  <a:schemeClr val="tx1"/>
                </a:solidFill>
              </a:rPr>
              <a:t>good (status A or C)</a:t>
            </a:r>
            <a:endParaRPr lang="en-US" sz="1300" dirty="0"/>
          </a:p>
        </p:txBody>
      </p:sp>
      <p:sp>
        <p:nvSpPr>
          <p:cNvPr id="17" name="Default box"/>
          <p:cNvSpPr/>
          <p:nvPr/>
        </p:nvSpPr>
        <p:spPr>
          <a:xfrm>
            <a:off x="3840480" y="4206240"/>
            <a:ext cx="3017520" cy="1051560"/>
          </a:xfrm>
          <a:prstGeom prst="roundRect">
            <a:avLst>
              <a:gd name="adj" fmla="val 6957"/>
            </a:avLst>
          </a:prstGeom>
          <a:solidFill>
            <a:srgbClr val="FCE6DC"/>
          </a:solidFill>
          <a:ln/>
        </p:spPr>
      </p:sp>
      <p:sp>
        <p:nvSpPr>
          <p:cNvPr id="18" name="Text 16"/>
          <p:cNvSpPr txBox="1"/>
          <p:nvPr/>
        </p:nvSpPr>
        <p:spPr>
          <a:xfrm>
            <a:off x="3840480" y="4315968"/>
            <a:ext cx="3017520" cy="566928"/>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76</a:t>
            </a:r>
            <a:endParaRPr lang="en-US" sz="2800" dirty="0"/>
          </a:p>
        </p:txBody>
      </p:sp>
      <p:sp>
        <p:nvSpPr>
          <p:cNvPr id="19" name="Text 17"/>
          <p:cNvSpPr txBox="1"/>
          <p:nvPr/>
        </p:nvSpPr>
        <p:spPr>
          <a:xfrm>
            <a:off x="3931920" y="4864608"/>
            <a:ext cx="2834640" cy="320040"/>
          </a:xfrm>
          <a:prstGeom prst="rect">
            <a:avLst/>
          </a:prstGeom>
          <a:noFill/>
          <a:ln/>
        </p:spPr>
        <p:txBody>
          <a:bodyPr wrap="square" lIns="0" tIns="0" rIns="0" bIns="0" rtlCol="0" anchor="t"/>
          <a:lstStyle/>
          <a:p>
            <a:pPr algn="ctr" indent="0" marL="0">
              <a:buNone/>
            </a:pPr>
            <a:r>
              <a:rPr lang="en-US" sz="1300" dirty="0">
                <a:solidFill>
                  <a:schemeClr val="tx1"/>
                </a:solidFill>
              </a:rPr>
              <a:t>defaulted (B or D), 11%</a:t>
            </a:r>
            <a:endParaRPr lang="en-US" sz="1300" dirty="0"/>
          </a:p>
        </p:txBody>
      </p:sp>
      <p:sp>
        <p:nvSpPr>
          <p:cNvPr id="20" name="Text 18"/>
          <p:cNvSpPr txBox="1"/>
          <p:nvPr/>
        </p:nvSpPr>
        <p:spPr>
          <a:xfrm>
            <a:off x="548640" y="5440680"/>
            <a:ext cx="6309360" cy="640080"/>
          </a:xfrm>
          <a:prstGeom prst="rect">
            <a:avLst/>
          </a:prstGeom>
          <a:noFill/>
          <a:ln/>
        </p:spPr>
        <p:txBody>
          <a:bodyPr wrap="square" lIns="0" tIns="0" rIns="0" bIns="0" rtlCol="0" anchor="t"/>
          <a:lstStyle/>
          <a:p>
            <a:pPr indent="0" marL="0">
              <a:buNone/>
            </a:pPr>
            <a:r>
              <a:rPr lang="en-US" sz="1400" b="1" dirty="0">
                <a:solidFill>
                  <a:schemeClr val="tx2"/>
                </a:solidFill>
              </a:rPr>
              <a:t>Split for modelling: </a:t>
            </a:r>
            <a:pPr indent="0" marL="0">
              <a:buNone/>
            </a:pPr>
            <a:r>
              <a:rPr lang="en-US" sz="1400" dirty="0">
                <a:solidFill>
                  <a:schemeClr val="tx1"/>
                </a:solidFill>
              </a:rPr>
              <a:t>545 loans to learn from (80%) + 137 hidden for the final exam (20%), both 11% defaulters.</a:t>
            </a:r>
            <a:endParaRPr lang="en-US" sz="1400" dirty="0"/>
          </a:p>
        </p:txBody>
      </p:sp>
      <p:sp>
        <p:nvSpPr>
          <p:cNvPr id="21" name="Kept panel"/>
          <p:cNvSpPr/>
          <p:nvPr/>
        </p:nvSpPr>
        <p:spPr>
          <a:xfrm>
            <a:off x="7178040" y="1280160"/>
            <a:ext cx="4465015" cy="4846320"/>
          </a:xfrm>
          <a:prstGeom prst="roundRect">
            <a:avLst>
              <a:gd name="adj" fmla="val 1638"/>
            </a:avLst>
          </a:prstGeom>
          <a:solidFill>
            <a:schemeClr val="bg2"/>
          </a:solidFill>
          <a:ln/>
        </p:spPr>
      </p:sp>
      <p:sp>
        <p:nvSpPr>
          <p:cNvPr id="22" name="Text 20"/>
          <p:cNvSpPr txBox="1"/>
          <p:nvPr/>
        </p:nvSpPr>
        <p:spPr>
          <a:xfrm>
            <a:off x="7406640" y="14630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How all 682 were kept</a:t>
            </a:r>
            <a:endParaRPr lang="en-US" sz="1800" dirty="0"/>
          </a:p>
        </p:txBody>
      </p:sp>
      <p:sp>
        <p:nvSpPr>
          <p:cNvPr id="23" name="Text 21"/>
          <p:cNvSpPr txBox="1"/>
          <p:nvPr/>
        </p:nvSpPr>
        <p:spPr>
          <a:xfrm>
            <a:off x="7406640" y="2011680"/>
            <a:ext cx="4023360" cy="29260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50" b="1" dirty="0">
                <a:solidFill>
                  <a:schemeClr val="tx2"/>
                </a:solidFill>
              </a:rPr>
              <a:t>Start from the loans: </a:t>
            </a:r>
            <a:pPr indent="0" marL="0">
              <a:spcAft>
                <a:spcPts val="1000"/>
              </a:spcAft>
              <a:buNone/>
            </a:pPr>
            <a:r>
              <a:rPr lang="en-US" sz="1450" dirty="0">
                <a:solidFill>
                  <a:schemeClr val="tx1"/>
                </a:solidFill>
              </a:rPr>
              <a:t>every join adds other files to Loan.csv</a:t>
            </a:r>
            <a:endParaRPr lang="en-US" sz="1450" dirty="0"/>
          </a:p>
          <a:p>
            <a:pPr marL="342900" indent="-342900">
              <a:spcAft>
                <a:spcPts val="1000"/>
              </a:spcAft>
              <a:buSzPct val="100000"/>
              <a:buFont typeface="+mj-lt"/>
              <a:buAutoNum type="arabicPeriod" startAt="1"/>
            </a:pPr>
            <a:r>
              <a:rPr lang="en-US" sz="1450" b="1" dirty="0">
                <a:solidFill>
                  <a:schemeClr val="tx2"/>
                </a:solidFill>
              </a:rPr>
              <a:t>Left joins: </a:t>
            </a:r>
            <a:pPr indent="0" marL="0">
              <a:spcAft>
                <a:spcPts val="1000"/>
              </a:spcAft>
              <a:buNone/>
            </a:pPr>
            <a:r>
              <a:rPr lang="en-US" sz="1450" dirty="0">
                <a:solidFill>
                  <a:schemeClr val="tx1"/>
                </a:solidFill>
              </a:rPr>
              <a:t>a loan stays even with no match (no card = 'none')</a:t>
            </a:r>
            <a:endParaRPr lang="en-US" sz="1450" dirty="0"/>
          </a:p>
          <a:p>
            <a:pPr marL="342900" indent="-342900">
              <a:spcAft>
                <a:spcPts val="1000"/>
              </a:spcAft>
              <a:buSzPct val="100000"/>
              <a:buFont typeface="+mj-lt"/>
              <a:buAutoNum type="arabicPeriod" startAt="1"/>
            </a:pPr>
            <a:r>
              <a:rPr lang="en-US" sz="1450" b="1" dirty="0">
                <a:solidFill>
                  <a:schemeClr val="tx2"/>
                </a:solidFill>
              </a:rPr>
              <a:t>Check every join: </a:t>
            </a:r>
            <a:pPr indent="0" marL="0">
              <a:spcAft>
                <a:spcPts val="1000"/>
              </a:spcAft>
              <a:buNone/>
            </a:pPr>
            <a:r>
              <a:rPr lang="en-US" sz="1450" dirty="0">
                <a:solidFill>
                  <a:schemeClr val="tx1"/>
                </a:solidFill>
              </a:rPr>
              <a:t>the table stays at 682 rows from start to end</a:t>
            </a:r>
            <a:endParaRPr lang="en-US" sz="1450" dirty="0"/>
          </a:p>
          <a:p>
            <a:pPr marL="342900" indent="-342900">
              <a:spcAft>
                <a:spcPts val="1000"/>
              </a:spcAft>
              <a:buSzPct val="100000"/>
              <a:buFont typeface="+mj-lt"/>
              <a:buAutoNum type="arabicPeriod" startAt="1"/>
            </a:pPr>
            <a:r>
              <a:rPr lang="en-US" sz="1450" b="1" dirty="0">
                <a:solidFill>
                  <a:schemeClr val="tx2"/>
                </a:solidFill>
              </a:rPr>
              <a:t>Clean, don't delete: </a:t>
            </a:r>
            <a:pPr indent="0" marL="0">
              <a:spcAft>
                <a:spcPts val="1000"/>
              </a:spcAft>
              <a:buNone/>
            </a:pPr>
            <a:r>
              <a:rPr lang="en-US" sz="1450" dirty="0">
                <a:solidFill>
                  <a:schemeClr val="tx1"/>
                </a:solidFill>
              </a:rPr>
              <a:t>fixes changed values, no loan was removed</a:t>
            </a:r>
            <a:endParaRPr lang="en-US" sz="1450" dirty="0"/>
          </a:p>
        </p:txBody>
      </p:sp>
      <p:sp>
        <p:nvSpPr>
          <p:cNvPr id="24" name="Text 22"/>
          <p:cNvSpPr txBox="1"/>
          <p:nvPr/>
        </p:nvSpPr>
        <p:spPr>
          <a:xfrm>
            <a:off x="7406640" y="5120640"/>
            <a:ext cx="4023360" cy="822960"/>
          </a:xfrm>
          <a:prstGeom prst="rect">
            <a:avLst/>
          </a:prstGeom>
          <a:noFill/>
          <a:ln/>
        </p:spPr>
        <p:txBody>
          <a:bodyPr wrap="square" lIns="0" tIns="0" rIns="0" bIns="0" rtlCol="0" anchor="t"/>
          <a:lstStyle/>
          <a:p>
            <a:pPr indent="0" marL="0">
              <a:buNone/>
            </a:pPr>
            <a:r>
              <a:rPr lang="en-US" sz="1300" i="1" dirty="0">
                <a:solidFill>
                  <a:schemeClr val="accent5"/>
                </a:solidFill>
              </a:rPr>
              <a:t>The other 3,818 accounts never took a loan, so there is no outcome to learn from.</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8 files connect</a:t>
            </a:r>
            <a:endParaRPr lang="en-US" sz="3400" dirty="0"/>
          </a:p>
        </p:txBody>
      </p:sp>
      <p:sp>
        <p:nvSpPr>
          <p:cNvPr id="5" name="Screenshot frame er_lr.png"/>
          <p:cNvSpPr/>
          <p:nvPr/>
        </p:nvSpPr>
        <p:spPr>
          <a:xfrm>
            <a:off x="548640" y="1234440"/>
            <a:ext cx="7689046" cy="4663440"/>
          </a:xfrm>
          <a:prstGeom prst="rect">
            <a:avLst/>
          </a:prstGeom>
          <a:solidFill>
            <a:srgbClr val="FFFFFF"/>
          </a:solidFill>
          <a:ln w="9525">
            <a:solidFill>
              <a:srgbClr val="C9CED6"/>
            </a:solidFill>
            <a:prstDash val="solid"/>
          </a:ln>
        </p:spPr>
      </p:sp>
      <p:pic>
        <p:nvPicPr>
          <p:cNvPr id="6" name="Screenshot er_lr.png" descr="Entity relationship diagram of the 8 PKDD tables">    </p:cNvPr>
          <p:cNvPicPr>
            <a:picLocks noChangeAspect="1"/>
          </p:cNvPicPr>
          <p:nvPr/>
        </p:nvPicPr>
        <p:blipFill>
          <a:blip r:embed="rId1"/>
          <a:stretch>
            <a:fillRect/>
          </a:stretch>
        </p:blipFill>
        <p:spPr>
          <a:xfrm>
            <a:off x="603504" y="1289304"/>
            <a:ext cx="7579318" cy="4553712"/>
          </a:xfrm>
          <a:prstGeom prst="rect">
            <a:avLst/>
          </a:prstGeom>
        </p:spPr>
      </p:pic>
      <p:sp>
        <p:nvSpPr>
          <p:cNvPr id="7" name="Text 4"/>
          <p:cNvSpPr txBox="1"/>
          <p:nvPr/>
        </p:nvSpPr>
        <p:spPr>
          <a:xfrm>
            <a:off x="548640" y="5952744"/>
            <a:ext cx="7689046" cy="274320"/>
          </a:xfrm>
          <a:prstGeom prst="rect">
            <a:avLst/>
          </a:prstGeom>
          <a:noFill/>
          <a:ln/>
        </p:spPr>
        <p:txBody>
          <a:bodyPr wrap="square" lIns="0" tIns="0" rIns="0" bIns="0" rtlCol="0" anchor="t"/>
          <a:lstStyle/>
          <a:p>
            <a:pPr indent="0" marL="0">
              <a:buNone/>
            </a:pPr>
            <a:r>
              <a:rPr lang="en-US" sz="1100" i="1" dirty="0">
                <a:solidFill>
                  <a:schemeClr val="accent5"/>
                </a:solidFill>
              </a:rPr>
              <a:t>Relationship diagram: 8 files, row counts and join keys (redrawn from the provided diagram)</a:t>
            </a:r>
            <a:endParaRPr lang="en-US" sz="1100" dirty="0"/>
          </a:p>
        </p:txBody>
      </p:sp>
      <p:sp>
        <p:nvSpPr>
          <p:cNvPr id="8" name="Keys card"/>
          <p:cNvSpPr/>
          <p:nvPr/>
        </p:nvSpPr>
        <p:spPr>
          <a:xfrm>
            <a:off x="8458200" y="1234440"/>
            <a:ext cx="3182112" cy="4937760"/>
          </a:xfrm>
          <a:prstGeom prst="roundRect">
            <a:avLst>
              <a:gd name="adj" fmla="val 2299"/>
            </a:avLst>
          </a:prstGeom>
          <a:solidFill>
            <a:schemeClr val="bg2"/>
          </a:solidFill>
          <a:ln/>
        </p:spPr>
      </p:sp>
      <p:sp>
        <p:nvSpPr>
          <p:cNvPr id="9" name="Text 6"/>
          <p:cNvSpPr txBox="1"/>
          <p:nvPr/>
        </p:nvSpPr>
        <p:spPr>
          <a:xfrm>
            <a:off x="8641080" y="1371600"/>
            <a:ext cx="2834640" cy="411480"/>
          </a:xfrm>
          <a:prstGeom prst="rect">
            <a:avLst/>
          </a:prstGeom>
          <a:noFill/>
          <a:ln/>
        </p:spPr>
        <p:txBody>
          <a:bodyPr wrap="square" lIns="0" tIns="0" rIns="0" bIns="0" rtlCol="0" anchor="t"/>
          <a:lstStyle/>
          <a:p>
            <a:pPr indent="0" marL="0">
              <a:buNone/>
            </a:pPr>
            <a:r>
              <a:rPr lang="en-US" sz="1700" b="1" dirty="0">
                <a:solidFill>
                  <a:schemeClr val="tx2"/>
                </a:solidFill>
              </a:rPr>
              <a:t>How I joined them</a:t>
            </a:r>
            <a:endParaRPr lang="en-US" sz="1700" dirty="0"/>
          </a:p>
        </p:txBody>
      </p:sp>
      <p:sp>
        <p:nvSpPr>
          <p:cNvPr id="10" name="Text 7"/>
          <p:cNvSpPr txBox="1"/>
          <p:nvPr/>
        </p:nvSpPr>
        <p:spPr>
          <a:xfrm>
            <a:off x="8641080" y="1874520"/>
            <a:ext cx="2834640" cy="301752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400" b="1" dirty="0">
                <a:solidFill>
                  <a:schemeClr val="tx2"/>
                </a:solidFill>
              </a:rPr>
              <a:t>Hub: </a:t>
            </a:r>
            <a:pPr indent="0" marL="0">
              <a:spcAft>
                <a:spcPts val="900"/>
              </a:spcAft>
              <a:buNone/>
            </a:pPr>
            <a:r>
              <a:rPr lang="en-US" sz="1400" dirty="0">
                <a:solidFill>
                  <a:schemeClr val="tx1"/>
                </a:solidFill>
              </a:rPr>
              <a:t>Account (4,500)</a:t>
            </a:r>
            <a:endParaRPr lang="en-US" sz="1400" dirty="0"/>
          </a:p>
          <a:p>
            <a:pPr marL="342900" indent="-342900">
              <a:spcAft>
                <a:spcPts val="900"/>
              </a:spcAft>
              <a:buSzPct val="100000"/>
              <a:buFont typeface="+mj-lt"/>
              <a:buAutoNum type="arabicPeriod" startAt="1"/>
            </a:pPr>
            <a:r>
              <a:rPr lang="en-US" sz="1400" b="1" dirty="0">
                <a:solidFill>
                  <a:schemeClr val="tx2"/>
                </a:solidFill>
              </a:rPr>
              <a:t>Start: </a:t>
            </a:r>
            <a:pPr indent="0" marL="0">
              <a:spcAft>
                <a:spcPts val="900"/>
              </a:spcAft>
              <a:buNone/>
            </a:pPr>
            <a:r>
              <a:rPr lang="en-US" sz="1400" dirty="0">
                <a:solidFill>
                  <a:schemeClr val="tx1"/>
                </a:solidFill>
              </a:rPr>
              <a:t>the 682 loans, then add the other files one by one</a:t>
            </a:r>
            <a:endParaRPr lang="en-US" sz="1400" dirty="0"/>
          </a:p>
          <a:p>
            <a:pPr marL="342900" indent="-342900">
              <a:spcAft>
                <a:spcPts val="900"/>
              </a:spcAft>
              <a:buSzPct val="100000"/>
              <a:buFont typeface="+mj-lt"/>
              <a:buAutoNum type="arabicPeriod" startAt="1"/>
            </a:pPr>
            <a:r>
              <a:rPr lang="en-US" sz="1400" b="1" dirty="0">
                <a:solidFill>
                  <a:schemeClr val="tx2"/>
                </a:solidFill>
              </a:rPr>
              <a:t>Match on: </a:t>
            </a:r>
            <a:pPr indent="0" marL="0">
              <a:spcAft>
                <a:spcPts val="900"/>
              </a:spcAft>
              <a:buNone/>
            </a:pPr>
            <a:r>
              <a:rPr lang="en-US" sz="1400" dirty="0">
                <a:solidFill>
                  <a:schemeClr val="tx1"/>
                </a:solidFill>
              </a:rPr>
              <a:t>shared ID columns (account_id, client_id …)</a:t>
            </a:r>
            <a:endParaRPr lang="en-US" sz="1400" dirty="0"/>
          </a:p>
          <a:p>
            <a:pPr marL="342900" indent="-342900">
              <a:spcAft>
                <a:spcPts val="900"/>
              </a:spcAft>
              <a:buSzPct val="100000"/>
              <a:buFont typeface="+mj-lt"/>
              <a:buAutoNum type="arabicPeriod" startAt="1"/>
            </a:pPr>
            <a:r>
              <a:rPr lang="en-US" sz="1400" b="1" dirty="0">
                <a:solidFill>
                  <a:schemeClr val="tx2"/>
                </a:solidFill>
              </a:rPr>
              <a:t>Check: </a:t>
            </a:r>
            <a:pPr indent="0" marL="0">
              <a:spcAft>
                <a:spcPts val="900"/>
              </a:spcAft>
              <a:buNone/>
            </a:pPr>
            <a:r>
              <a:rPr lang="en-US" sz="1400" dirty="0">
                <a:solidFill>
                  <a:schemeClr val="tx1"/>
                </a:solidFill>
              </a:rPr>
              <a:t>682 rows in = 682 rows out</a:t>
            </a:r>
            <a:endParaRPr lang="en-US" sz="1400" dirty="0"/>
          </a:p>
          <a:p>
            <a:pPr marL="342900" indent="-342900">
              <a:spcAft>
                <a:spcPts val="900"/>
              </a:spcAft>
              <a:buSzPct val="100000"/>
              <a:buFont typeface="+mj-lt"/>
              <a:buAutoNum type="arabicPeriod" startAt="1"/>
            </a:pPr>
            <a:r>
              <a:rPr lang="en-US" sz="1400" b="1" dirty="0">
                <a:solidFill>
                  <a:schemeClr val="tx2"/>
                </a:solidFill>
              </a:rPr>
              <a:t>Left out: </a:t>
            </a:r>
            <a:pPr indent="0" marL="0">
              <a:spcAft>
                <a:spcPts val="900"/>
              </a:spcAft>
              <a:buNone/>
            </a:pPr>
            <a:r>
              <a:rPr lang="en-US" sz="1400" dirty="0">
                <a:solidFill>
                  <a:schemeClr val="tx1"/>
                </a:solidFill>
              </a:rPr>
              <a:t>Order (no dates)</a:t>
            </a:r>
            <a:endParaRPr lang="en-US" sz="1400" dirty="0"/>
          </a:p>
        </p:txBody>
      </p:sp>
      <p:sp>
        <p:nvSpPr>
          <p:cNvPr id="11" name="Text 8"/>
          <p:cNvSpPr txBox="1"/>
          <p:nvPr/>
        </p:nvSpPr>
        <p:spPr>
          <a:xfrm>
            <a:off x="8641080" y="4434840"/>
            <a:ext cx="2834640" cy="1005840"/>
          </a:xfrm>
          <a:prstGeom prst="rect">
            <a:avLst/>
          </a:prstGeom>
          <a:noFill/>
          <a:ln/>
        </p:spPr>
        <p:txBody>
          <a:bodyPr wrap="square" lIns="0" tIns="0" rIns="0" bIns="0" rtlCol="0" anchor="t"/>
          <a:lstStyle/>
          <a:p>
            <a:pPr indent="0" marL="0">
              <a:buNone/>
            </a:pPr>
            <a:r>
              <a:rPr lang="en-US" sz="1400" b="1" dirty="0">
                <a:solidFill>
                  <a:schemeClr val="accent1"/>
                </a:solidFill>
              </a:rPr>
              <a:t>Rule: </a:t>
            </a:r>
            <a:pPr indent="0" marL="0">
              <a:buNone/>
            </a:pPr>
            <a:r>
              <a:rPr lang="en-US" sz="1400" dirty="0">
                <a:solidFill>
                  <a:schemeClr val="tx1"/>
                </a:solidFill>
              </a:rPr>
              <a:t>every loan has exactly one account, and every account one owner.</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we join the tables: each file adds a clue</a:t>
            </a:r>
            <a:endParaRPr lang="en-US" sz="3400" dirty="0"/>
          </a:p>
        </p:txBody>
      </p:sp>
      <p:sp>
        <p:nvSpPr>
          <p:cNvPr id="5" name="Join banner"/>
          <p:cNvSpPr/>
          <p:nvPr/>
        </p:nvSpPr>
        <p:spPr>
          <a:xfrm>
            <a:off x="548640" y="1234440"/>
            <a:ext cx="11094415" cy="868680"/>
          </a:xfrm>
          <a:prstGeom prst="roundRect">
            <a:avLst>
              <a:gd name="adj" fmla="val 8421"/>
            </a:avLst>
          </a:prstGeom>
          <a:solidFill>
            <a:srgbClr val="16243A"/>
          </a:solidFill>
          <a:ln/>
        </p:spPr>
      </p:sp>
      <p:sp>
        <p:nvSpPr>
          <p:cNvPr id="6" name="Text 4"/>
          <p:cNvSpPr txBox="1"/>
          <p:nvPr/>
        </p:nvSpPr>
        <p:spPr>
          <a:xfrm>
            <a:off x="822960" y="1234440"/>
            <a:ext cx="10545775" cy="868680"/>
          </a:xfrm>
          <a:prstGeom prst="rect">
            <a:avLst/>
          </a:prstGeom>
          <a:noFill/>
          <a:ln/>
        </p:spPr>
        <p:txBody>
          <a:bodyPr wrap="square" lIns="0" tIns="0" rIns="0" bIns="0" rtlCol="0" anchor="ctr"/>
          <a:lstStyle/>
          <a:p>
            <a:pPr indent="0" marL="0">
              <a:buNone/>
            </a:pPr>
            <a:r>
              <a:rPr lang="en-US" sz="1500" b="1" dirty="0">
                <a:solidFill>
                  <a:schemeClr val="accent1"/>
                </a:solidFill>
              </a:rPr>
              <a:t>The answer is only in Loan.csv. </a:t>
            </a:r>
            <a:pPr indent="0" marL="0">
              <a:buNone/>
            </a:pPr>
            <a:r>
              <a:rPr lang="en-US" sz="1500" dirty="0">
                <a:solidFill>
                  <a:schemeClr val="bg1"/>
                </a:solidFill>
              </a:rPr>
              <a:t>The clues about the customer are in the other files. A model learns from ONE table (one row per loan), so we join every file onto the loan using shared ID columns, like VLOOKUP in Excel.</a:t>
            </a:r>
            <a:endParaRPr lang="en-US" sz="1500" dirty="0"/>
          </a:p>
        </p:txBody>
      </p:sp>
      <p:sp>
        <p:nvSpPr>
          <p:cNvPr id="7" name="File card 0"/>
          <p:cNvSpPr/>
          <p:nvPr/>
        </p:nvSpPr>
        <p:spPr>
          <a:xfrm>
            <a:off x="548640" y="2286000"/>
            <a:ext cx="2636444" cy="1828800"/>
          </a:xfrm>
          <a:prstGeom prst="roundRect">
            <a:avLst>
              <a:gd name="adj" fmla="val 4000"/>
            </a:avLst>
          </a:prstGeom>
          <a:solidFill>
            <a:srgbClr val="FCE6DC"/>
          </a:solidFill>
          <a:ln/>
        </p:spPr>
      </p:sp>
      <p:sp>
        <p:nvSpPr>
          <p:cNvPr id="8" name="Text 6"/>
          <p:cNvSpPr txBox="1"/>
          <p:nvPr/>
        </p:nvSpPr>
        <p:spPr>
          <a:xfrm>
            <a:off x="731520" y="2423160"/>
            <a:ext cx="2270684" cy="365760"/>
          </a:xfrm>
          <a:prstGeom prst="rect">
            <a:avLst/>
          </a:prstGeom>
          <a:noFill/>
          <a:ln/>
        </p:spPr>
        <p:txBody>
          <a:bodyPr wrap="square" lIns="0" tIns="0" rIns="0" bIns="0" rtlCol="0" anchor="t"/>
          <a:lstStyle/>
          <a:p>
            <a:pPr indent="0" marL="0">
              <a:buNone/>
            </a:pPr>
            <a:r>
              <a:rPr lang="en-US" sz="1600" b="1" dirty="0">
                <a:solidFill>
                  <a:schemeClr val="tx2"/>
                </a:solidFill>
              </a:rPr>
              <a:t>Loan.csv</a:t>
            </a:r>
            <a:endParaRPr lang="en-US" sz="1600" dirty="0"/>
          </a:p>
        </p:txBody>
      </p:sp>
      <p:sp>
        <p:nvSpPr>
          <p:cNvPr id="9" name="Text 7"/>
          <p:cNvSpPr txBox="1"/>
          <p:nvPr/>
        </p:nvSpPr>
        <p:spPr>
          <a:xfrm>
            <a:off x="731520" y="278892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start here</a:t>
            </a:r>
            <a:endParaRPr lang="en-US" sz="1150" dirty="0"/>
          </a:p>
        </p:txBody>
      </p:sp>
      <p:sp>
        <p:nvSpPr>
          <p:cNvPr id="10" name="Text 8"/>
          <p:cNvSpPr txBox="1"/>
          <p:nvPr/>
        </p:nvSpPr>
        <p:spPr>
          <a:xfrm>
            <a:off x="731520" y="3090672"/>
            <a:ext cx="2270684" cy="457200"/>
          </a:xfrm>
          <a:prstGeom prst="rect">
            <a:avLst/>
          </a:prstGeom>
          <a:noFill/>
          <a:ln/>
        </p:spPr>
        <p:txBody>
          <a:bodyPr wrap="square" lIns="0" tIns="0" rIns="0" bIns="0" rtlCol="0" anchor="t"/>
          <a:lstStyle/>
          <a:p>
            <a:pPr indent="0" marL="0">
              <a:buNone/>
            </a:pPr>
            <a:r>
              <a:rPr lang="en-US" sz="1300" dirty="0">
                <a:solidFill>
                  <a:schemeClr val="tx1"/>
                </a:solidFill>
              </a:rPr>
              <a:t>The loans and the answer (default or not)</a:t>
            </a:r>
            <a:endParaRPr lang="en-US" sz="1300" dirty="0"/>
          </a:p>
        </p:txBody>
      </p:sp>
      <p:sp>
        <p:nvSpPr>
          <p:cNvPr id="11" name="Text 9"/>
          <p:cNvSpPr txBox="1"/>
          <p:nvPr/>
        </p:nvSpPr>
        <p:spPr>
          <a:xfrm>
            <a:off x="731520" y="356616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Amount, length, monthly payment</a:t>
            </a:r>
            <a:endParaRPr lang="en-US" sz="1300" dirty="0"/>
          </a:p>
        </p:txBody>
      </p:sp>
      <p:sp>
        <p:nvSpPr>
          <p:cNvPr id="12" name="File card 1"/>
          <p:cNvSpPr/>
          <p:nvPr/>
        </p:nvSpPr>
        <p:spPr>
          <a:xfrm>
            <a:off x="3367964" y="2286000"/>
            <a:ext cx="2636444" cy="1828800"/>
          </a:xfrm>
          <a:prstGeom prst="roundRect">
            <a:avLst>
              <a:gd name="adj" fmla="val 4000"/>
            </a:avLst>
          </a:prstGeom>
          <a:solidFill>
            <a:schemeClr val="bg2"/>
          </a:solidFill>
          <a:ln/>
        </p:spPr>
      </p:sp>
      <p:sp>
        <p:nvSpPr>
          <p:cNvPr id="13" name="Text 11"/>
          <p:cNvSpPr txBox="1"/>
          <p:nvPr/>
        </p:nvSpPr>
        <p:spPr>
          <a:xfrm>
            <a:off x="3550844" y="2423160"/>
            <a:ext cx="2270684" cy="365760"/>
          </a:xfrm>
          <a:prstGeom prst="rect">
            <a:avLst/>
          </a:prstGeom>
          <a:noFill/>
          <a:ln/>
        </p:spPr>
        <p:txBody>
          <a:bodyPr wrap="square" lIns="0" tIns="0" rIns="0" bIns="0" rtlCol="0" anchor="t"/>
          <a:lstStyle/>
          <a:p>
            <a:pPr indent="0" marL="0">
              <a:buNone/>
            </a:pPr>
            <a:r>
              <a:rPr lang="en-US" sz="1600" b="1" dirty="0">
                <a:solidFill>
                  <a:schemeClr val="tx2"/>
                </a:solidFill>
              </a:rPr>
              <a:t>Account.csv</a:t>
            </a:r>
            <a:endParaRPr lang="en-US" sz="1600" dirty="0"/>
          </a:p>
        </p:txBody>
      </p:sp>
      <p:sp>
        <p:nvSpPr>
          <p:cNvPr id="14" name="Text 12"/>
          <p:cNvSpPr txBox="1"/>
          <p:nvPr/>
        </p:nvSpPr>
        <p:spPr>
          <a:xfrm>
            <a:off x="3550844" y="278892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account_id</a:t>
            </a:r>
            <a:endParaRPr lang="en-US" sz="1150" dirty="0"/>
          </a:p>
        </p:txBody>
      </p:sp>
      <p:sp>
        <p:nvSpPr>
          <p:cNvPr id="15" name="Text 13"/>
          <p:cNvSpPr txBox="1"/>
          <p:nvPr/>
        </p:nvSpPr>
        <p:spPr>
          <a:xfrm>
            <a:off x="3550844" y="3090672"/>
            <a:ext cx="2270684" cy="457200"/>
          </a:xfrm>
          <a:prstGeom prst="rect">
            <a:avLst/>
          </a:prstGeom>
          <a:noFill/>
          <a:ln/>
        </p:spPr>
        <p:txBody>
          <a:bodyPr wrap="square" lIns="0" tIns="0" rIns="0" bIns="0" rtlCol="0" anchor="t"/>
          <a:lstStyle/>
          <a:p>
            <a:pPr indent="0" marL="0">
              <a:buNone/>
            </a:pPr>
            <a:r>
              <a:rPr lang="en-US" sz="1300" dirty="0">
                <a:solidFill>
                  <a:schemeClr val="tx1"/>
                </a:solidFill>
              </a:rPr>
              <a:t>Each bank account</a:t>
            </a:r>
            <a:endParaRPr lang="en-US" sz="1300" dirty="0"/>
          </a:p>
        </p:txBody>
      </p:sp>
      <p:sp>
        <p:nvSpPr>
          <p:cNvPr id="16" name="Text 14"/>
          <p:cNvSpPr txBox="1"/>
          <p:nvPr/>
        </p:nvSpPr>
        <p:spPr>
          <a:xfrm>
            <a:off x="3550844" y="356616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Account age, statement frequency</a:t>
            </a:r>
            <a:endParaRPr lang="en-US" sz="1300" dirty="0"/>
          </a:p>
        </p:txBody>
      </p:sp>
      <p:sp>
        <p:nvSpPr>
          <p:cNvPr id="17" name="File card 2"/>
          <p:cNvSpPr/>
          <p:nvPr/>
        </p:nvSpPr>
        <p:spPr>
          <a:xfrm>
            <a:off x="6187288" y="2286000"/>
            <a:ext cx="2636444" cy="1828800"/>
          </a:xfrm>
          <a:prstGeom prst="roundRect">
            <a:avLst>
              <a:gd name="adj" fmla="val 4000"/>
            </a:avLst>
          </a:prstGeom>
          <a:solidFill>
            <a:schemeClr val="bg2"/>
          </a:solidFill>
          <a:ln/>
        </p:spPr>
      </p:sp>
      <p:sp>
        <p:nvSpPr>
          <p:cNvPr id="18" name="Text 16"/>
          <p:cNvSpPr txBox="1"/>
          <p:nvPr/>
        </p:nvSpPr>
        <p:spPr>
          <a:xfrm>
            <a:off x="6370168" y="2423160"/>
            <a:ext cx="2270684" cy="365760"/>
          </a:xfrm>
          <a:prstGeom prst="rect">
            <a:avLst/>
          </a:prstGeom>
          <a:noFill/>
          <a:ln/>
        </p:spPr>
        <p:txBody>
          <a:bodyPr wrap="square" lIns="0" tIns="0" rIns="0" bIns="0" rtlCol="0" anchor="t"/>
          <a:lstStyle/>
          <a:p>
            <a:pPr indent="0" marL="0">
              <a:buNone/>
            </a:pPr>
            <a:r>
              <a:rPr lang="en-US" sz="1600" b="1" dirty="0">
                <a:solidFill>
                  <a:schemeClr val="tx2"/>
                </a:solidFill>
              </a:rPr>
              <a:t>Transaction.csv</a:t>
            </a:r>
            <a:endParaRPr lang="en-US" sz="1600" dirty="0"/>
          </a:p>
        </p:txBody>
      </p:sp>
      <p:sp>
        <p:nvSpPr>
          <p:cNvPr id="19" name="Text 17"/>
          <p:cNvSpPr txBox="1"/>
          <p:nvPr/>
        </p:nvSpPr>
        <p:spPr>
          <a:xfrm>
            <a:off x="6370168" y="278892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account_id</a:t>
            </a:r>
            <a:endParaRPr lang="en-US" sz="1150" dirty="0"/>
          </a:p>
        </p:txBody>
      </p:sp>
      <p:sp>
        <p:nvSpPr>
          <p:cNvPr id="20" name="Text 18"/>
          <p:cNvSpPr txBox="1"/>
          <p:nvPr/>
        </p:nvSpPr>
        <p:spPr>
          <a:xfrm>
            <a:off x="6370168" y="3090672"/>
            <a:ext cx="2270684" cy="457200"/>
          </a:xfrm>
          <a:prstGeom prst="rect">
            <a:avLst/>
          </a:prstGeom>
          <a:noFill/>
          <a:ln/>
        </p:spPr>
        <p:txBody>
          <a:bodyPr wrap="square" lIns="0" tIns="0" rIns="0" bIns="0" rtlCol="0" anchor="t"/>
          <a:lstStyle/>
          <a:p>
            <a:pPr indent="0" marL="0">
              <a:buNone/>
            </a:pPr>
            <a:r>
              <a:rPr lang="en-US" sz="1300" dirty="0">
                <a:solidFill>
                  <a:schemeClr val="tx1"/>
                </a:solidFill>
              </a:rPr>
              <a:t>Every money movement (1 million)</a:t>
            </a:r>
            <a:endParaRPr lang="en-US" sz="1300" dirty="0"/>
          </a:p>
        </p:txBody>
      </p:sp>
      <p:sp>
        <p:nvSpPr>
          <p:cNvPr id="21" name="Text 19"/>
          <p:cNvSpPr txBox="1"/>
          <p:nvPr/>
        </p:nvSpPr>
        <p:spPr>
          <a:xfrm>
            <a:off x="6370168" y="356616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Balances, income, overdrafts</a:t>
            </a:r>
            <a:endParaRPr lang="en-US" sz="1300" dirty="0"/>
          </a:p>
        </p:txBody>
      </p:sp>
      <p:sp>
        <p:nvSpPr>
          <p:cNvPr id="22" name="File card 3"/>
          <p:cNvSpPr/>
          <p:nvPr/>
        </p:nvSpPr>
        <p:spPr>
          <a:xfrm>
            <a:off x="9006611" y="2286000"/>
            <a:ext cx="2636444" cy="1828800"/>
          </a:xfrm>
          <a:prstGeom prst="roundRect">
            <a:avLst>
              <a:gd name="adj" fmla="val 4000"/>
            </a:avLst>
          </a:prstGeom>
          <a:solidFill>
            <a:schemeClr val="bg2"/>
          </a:solidFill>
          <a:ln/>
        </p:spPr>
      </p:sp>
      <p:sp>
        <p:nvSpPr>
          <p:cNvPr id="23" name="Text 21"/>
          <p:cNvSpPr txBox="1"/>
          <p:nvPr/>
        </p:nvSpPr>
        <p:spPr>
          <a:xfrm>
            <a:off x="9189491" y="2423160"/>
            <a:ext cx="2270684" cy="365760"/>
          </a:xfrm>
          <a:prstGeom prst="rect">
            <a:avLst/>
          </a:prstGeom>
          <a:noFill/>
          <a:ln/>
        </p:spPr>
        <p:txBody>
          <a:bodyPr wrap="square" lIns="0" tIns="0" rIns="0" bIns="0" rtlCol="0" anchor="t"/>
          <a:lstStyle/>
          <a:p>
            <a:pPr indent="0" marL="0">
              <a:buNone/>
            </a:pPr>
            <a:r>
              <a:rPr lang="en-US" sz="1600" b="1" dirty="0">
                <a:solidFill>
                  <a:schemeClr val="tx2"/>
                </a:solidFill>
              </a:rPr>
              <a:t>Disp.csv</a:t>
            </a:r>
            <a:endParaRPr lang="en-US" sz="1600" dirty="0"/>
          </a:p>
        </p:txBody>
      </p:sp>
      <p:sp>
        <p:nvSpPr>
          <p:cNvPr id="24" name="Text 22"/>
          <p:cNvSpPr txBox="1"/>
          <p:nvPr/>
        </p:nvSpPr>
        <p:spPr>
          <a:xfrm>
            <a:off x="9189491" y="278892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account_id</a:t>
            </a:r>
            <a:endParaRPr lang="en-US" sz="1150" dirty="0"/>
          </a:p>
        </p:txBody>
      </p:sp>
      <p:sp>
        <p:nvSpPr>
          <p:cNvPr id="25" name="Text 23"/>
          <p:cNvSpPr txBox="1"/>
          <p:nvPr/>
        </p:nvSpPr>
        <p:spPr>
          <a:xfrm>
            <a:off x="9189491" y="3090672"/>
            <a:ext cx="2270684" cy="457200"/>
          </a:xfrm>
          <a:prstGeom prst="rect">
            <a:avLst/>
          </a:prstGeom>
          <a:noFill/>
          <a:ln/>
        </p:spPr>
        <p:txBody>
          <a:bodyPr wrap="square" lIns="0" tIns="0" rIns="0" bIns="0" rtlCol="0" anchor="t"/>
          <a:lstStyle/>
          <a:p>
            <a:pPr indent="0" marL="0">
              <a:buNone/>
            </a:pPr>
            <a:r>
              <a:rPr lang="en-US" sz="1300" dirty="0">
                <a:solidFill>
                  <a:schemeClr val="tx1"/>
                </a:solidFill>
              </a:rPr>
              <a:t>Who owns or uses the account</a:t>
            </a:r>
            <a:endParaRPr lang="en-US" sz="1300" dirty="0"/>
          </a:p>
        </p:txBody>
      </p:sp>
      <p:sp>
        <p:nvSpPr>
          <p:cNvPr id="26" name="Text 24"/>
          <p:cNvSpPr txBox="1"/>
          <p:nvPr/>
        </p:nvSpPr>
        <p:spPr>
          <a:xfrm>
            <a:off x="9189491" y="356616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Shared or single account</a:t>
            </a:r>
            <a:endParaRPr lang="en-US" sz="1300" dirty="0"/>
          </a:p>
        </p:txBody>
      </p:sp>
      <p:sp>
        <p:nvSpPr>
          <p:cNvPr id="27" name="File card 4"/>
          <p:cNvSpPr/>
          <p:nvPr/>
        </p:nvSpPr>
        <p:spPr>
          <a:xfrm>
            <a:off x="548640" y="4297680"/>
            <a:ext cx="2636444" cy="1828800"/>
          </a:xfrm>
          <a:prstGeom prst="roundRect">
            <a:avLst>
              <a:gd name="adj" fmla="val 4000"/>
            </a:avLst>
          </a:prstGeom>
          <a:solidFill>
            <a:schemeClr val="bg2"/>
          </a:solidFill>
          <a:ln/>
        </p:spPr>
      </p:sp>
      <p:sp>
        <p:nvSpPr>
          <p:cNvPr id="28" name="Text 26"/>
          <p:cNvSpPr txBox="1"/>
          <p:nvPr/>
        </p:nvSpPr>
        <p:spPr>
          <a:xfrm>
            <a:off x="731520" y="4434840"/>
            <a:ext cx="2270684" cy="365760"/>
          </a:xfrm>
          <a:prstGeom prst="rect">
            <a:avLst/>
          </a:prstGeom>
          <a:noFill/>
          <a:ln/>
        </p:spPr>
        <p:txBody>
          <a:bodyPr wrap="square" lIns="0" tIns="0" rIns="0" bIns="0" rtlCol="0" anchor="t"/>
          <a:lstStyle/>
          <a:p>
            <a:pPr indent="0" marL="0">
              <a:buNone/>
            </a:pPr>
            <a:r>
              <a:rPr lang="en-US" sz="1600" b="1" dirty="0">
                <a:solidFill>
                  <a:schemeClr val="tx2"/>
                </a:solidFill>
              </a:rPr>
              <a:t>Client.csv</a:t>
            </a:r>
            <a:endParaRPr lang="en-US" sz="1600" dirty="0"/>
          </a:p>
        </p:txBody>
      </p:sp>
      <p:sp>
        <p:nvSpPr>
          <p:cNvPr id="29" name="Text 27"/>
          <p:cNvSpPr txBox="1"/>
          <p:nvPr/>
        </p:nvSpPr>
        <p:spPr>
          <a:xfrm>
            <a:off x="731520" y="480060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client_id</a:t>
            </a:r>
            <a:endParaRPr lang="en-US" sz="1150" dirty="0"/>
          </a:p>
        </p:txBody>
      </p:sp>
      <p:sp>
        <p:nvSpPr>
          <p:cNvPr id="30" name="Text 28"/>
          <p:cNvSpPr txBox="1"/>
          <p:nvPr/>
        </p:nvSpPr>
        <p:spPr>
          <a:xfrm>
            <a:off x="731520" y="5102352"/>
            <a:ext cx="2270684" cy="457200"/>
          </a:xfrm>
          <a:prstGeom prst="rect">
            <a:avLst/>
          </a:prstGeom>
          <a:noFill/>
          <a:ln/>
        </p:spPr>
        <p:txBody>
          <a:bodyPr wrap="square" lIns="0" tIns="0" rIns="0" bIns="0" rtlCol="0" anchor="t"/>
          <a:lstStyle/>
          <a:p>
            <a:pPr indent="0" marL="0">
              <a:buNone/>
            </a:pPr>
            <a:r>
              <a:rPr lang="en-US" sz="1300" dirty="0">
                <a:solidFill>
                  <a:schemeClr val="tx1"/>
                </a:solidFill>
              </a:rPr>
              <a:t>The customer</a:t>
            </a:r>
            <a:endParaRPr lang="en-US" sz="1300" dirty="0"/>
          </a:p>
        </p:txBody>
      </p:sp>
      <p:sp>
        <p:nvSpPr>
          <p:cNvPr id="31" name="Text 29"/>
          <p:cNvSpPr txBox="1"/>
          <p:nvPr/>
        </p:nvSpPr>
        <p:spPr>
          <a:xfrm>
            <a:off x="731520" y="557784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Age on the loan date</a:t>
            </a:r>
            <a:endParaRPr lang="en-US" sz="1300" dirty="0"/>
          </a:p>
        </p:txBody>
      </p:sp>
      <p:sp>
        <p:nvSpPr>
          <p:cNvPr id="32" name="File card 5"/>
          <p:cNvSpPr/>
          <p:nvPr/>
        </p:nvSpPr>
        <p:spPr>
          <a:xfrm>
            <a:off x="3367964" y="4297680"/>
            <a:ext cx="2636444" cy="1828800"/>
          </a:xfrm>
          <a:prstGeom prst="roundRect">
            <a:avLst>
              <a:gd name="adj" fmla="val 4000"/>
            </a:avLst>
          </a:prstGeom>
          <a:solidFill>
            <a:schemeClr val="bg2"/>
          </a:solidFill>
          <a:ln/>
        </p:spPr>
      </p:sp>
      <p:sp>
        <p:nvSpPr>
          <p:cNvPr id="33" name="Text 31"/>
          <p:cNvSpPr txBox="1"/>
          <p:nvPr/>
        </p:nvSpPr>
        <p:spPr>
          <a:xfrm>
            <a:off x="3550844" y="4434840"/>
            <a:ext cx="2270684" cy="365760"/>
          </a:xfrm>
          <a:prstGeom prst="rect">
            <a:avLst/>
          </a:prstGeom>
          <a:noFill/>
          <a:ln/>
        </p:spPr>
        <p:txBody>
          <a:bodyPr wrap="square" lIns="0" tIns="0" rIns="0" bIns="0" rtlCol="0" anchor="t"/>
          <a:lstStyle/>
          <a:p>
            <a:pPr indent="0" marL="0">
              <a:buNone/>
            </a:pPr>
            <a:r>
              <a:rPr lang="en-US" sz="1600" b="1" dirty="0">
                <a:solidFill>
                  <a:schemeClr val="tx2"/>
                </a:solidFill>
              </a:rPr>
              <a:t>Card.csv</a:t>
            </a:r>
            <a:endParaRPr lang="en-US" sz="1600" dirty="0"/>
          </a:p>
        </p:txBody>
      </p:sp>
      <p:sp>
        <p:nvSpPr>
          <p:cNvPr id="34" name="Text 32"/>
          <p:cNvSpPr txBox="1"/>
          <p:nvPr/>
        </p:nvSpPr>
        <p:spPr>
          <a:xfrm>
            <a:off x="3550844" y="480060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disp_id</a:t>
            </a:r>
            <a:endParaRPr lang="en-US" sz="1150" dirty="0"/>
          </a:p>
        </p:txBody>
      </p:sp>
      <p:sp>
        <p:nvSpPr>
          <p:cNvPr id="35" name="Text 33"/>
          <p:cNvSpPr txBox="1"/>
          <p:nvPr/>
        </p:nvSpPr>
        <p:spPr>
          <a:xfrm>
            <a:off x="3550844" y="5102352"/>
            <a:ext cx="2270684" cy="457200"/>
          </a:xfrm>
          <a:prstGeom prst="rect">
            <a:avLst/>
          </a:prstGeom>
          <a:noFill/>
          <a:ln/>
        </p:spPr>
        <p:txBody>
          <a:bodyPr wrap="square" lIns="0" tIns="0" rIns="0" bIns="0" rtlCol="0" anchor="t"/>
          <a:lstStyle/>
          <a:p>
            <a:pPr indent="0" marL="0">
              <a:buNone/>
            </a:pPr>
            <a:r>
              <a:rPr lang="en-US" sz="1300" dirty="0">
                <a:solidFill>
                  <a:schemeClr val="tx1"/>
                </a:solidFill>
              </a:rPr>
              <a:t>Cards issued to the customer</a:t>
            </a:r>
            <a:endParaRPr lang="en-US" sz="1300" dirty="0"/>
          </a:p>
        </p:txBody>
      </p:sp>
      <p:sp>
        <p:nvSpPr>
          <p:cNvPr id="36" name="Text 34"/>
          <p:cNvSpPr txBox="1"/>
          <p:nvPr/>
        </p:nvSpPr>
        <p:spPr>
          <a:xfrm>
            <a:off x="3550844" y="557784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Card held before the loan</a:t>
            </a:r>
            <a:endParaRPr lang="en-US" sz="1300" dirty="0"/>
          </a:p>
        </p:txBody>
      </p:sp>
      <p:sp>
        <p:nvSpPr>
          <p:cNvPr id="37" name="File card 6"/>
          <p:cNvSpPr/>
          <p:nvPr/>
        </p:nvSpPr>
        <p:spPr>
          <a:xfrm>
            <a:off x="6187288" y="4297680"/>
            <a:ext cx="2636444" cy="1828800"/>
          </a:xfrm>
          <a:prstGeom prst="roundRect">
            <a:avLst>
              <a:gd name="adj" fmla="val 4000"/>
            </a:avLst>
          </a:prstGeom>
          <a:solidFill>
            <a:schemeClr val="bg2"/>
          </a:solidFill>
          <a:ln/>
        </p:spPr>
      </p:sp>
      <p:sp>
        <p:nvSpPr>
          <p:cNvPr id="38" name="Text 36"/>
          <p:cNvSpPr txBox="1"/>
          <p:nvPr/>
        </p:nvSpPr>
        <p:spPr>
          <a:xfrm>
            <a:off x="6370168" y="4434840"/>
            <a:ext cx="2270684" cy="365760"/>
          </a:xfrm>
          <a:prstGeom prst="rect">
            <a:avLst/>
          </a:prstGeom>
          <a:noFill/>
          <a:ln/>
        </p:spPr>
        <p:txBody>
          <a:bodyPr wrap="square" lIns="0" tIns="0" rIns="0" bIns="0" rtlCol="0" anchor="t"/>
          <a:lstStyle/>
          <a:p>
            <a:pPr indent="0" marL="0">
              <a:buNone/>
            </a:pPr>
            <a:r>
              <a:rPr lang="en-US" sz="1600" b="1" dirty="0">
                <a:solidFill>
                  <a:schemeClr val="tx2"/>
                </a:solidFill>
              </a:rPr>
              <a:t>District.csv</a:t>
            </a:r>
            <a:endParaRPr lang="en-US" sz="1600" dirty="0"/>
          </a:p>
        </p:txBody>
      </p:sp>
      <p:sp>
        <p:nvSpPr>
          <p:cNvPr id="39" name="Text 37"/>
          <p:cNvSpPr txBox="1"/>
          <p:nvPr/>
        </p:nvSpPr>
        <p:spPr>
          <a:xfrm>
            <a:off x="6370168" y="480060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district_id</a:t>
            </a:r>
            <a:endParaRPr lang="en-US" sz="1150" dirty="0"/>
          </a:p>
        </p:txBody>
      </p:sp>
      <p:sp>
        <p:nvSpPr>
          <p:cNvPr id="40" name="Text 38"/>
          <p:cNvSpPr txBox="1"/>
          <p:nvPr/>
        </p:nvSpPr>
        <p:spPr>
          <a:xfrm>
            <a:off x="6370168" y="5102352"/>
            <a:ext cx="2270684" cy="457200"/>
          </a:xfrm>
          <a:prstGeom prst="rect">
            <a:avLst/>
          </a:prstGeom>
          <a:noFill/>
          <a:ln/>
        </p:spPr>
        <p:txBody>
          <a:bodyPr wrap="square" lIns="0" tIns="0" rIns="0" bIns="0" rtlCol="0" anchor="t"/>
          <a:lstStyle/>
          <a:p>
            <a:pPr indent="0" marL="0">
              <a:buNone/>
            </a:pPr>
            <a:r>
              <a:rPr lang="en-US" sz="1300" dirty="0">
                <a:solidFill>
                  <a:schemeClr val="tx1"/>
                </a:solidFill>
              </a:rPr>
              <a:t>Where the account is held</a:t>
            </a:r>
            <a:endParaRPr lang="en-US" sz="1300" dirty="0"/>
          </a:p>
        </p:txBody>
      </p:sp>
      <p:sp>
        <p:nvSpPr>
          <p:cNvPr id="41" name="Text 39"/>
          <p:cNvSpPr txBox="1"/>
          <p:nvPr/>
        </p:nvSpPr>
        <p:spPr>
          <a:xfrm>
            <a:off x="6370168" y="5577840"/>
            <a:ext cx="2270684" cy="457200"/>
          </a:xfrm>
          <a:prstGeom prst="rect">
            <a:avLst/>
          </a:prstGeom>
          <a:noFill/>
          <a:ln/>
        </p:spPr>
        <p:txBody>
          <a:bodyPr wrap="square" lIns="0" tIns="0" rIns="0" bIns="0" rtlCol="0" anchor="t"/>
          <a:lstStyle/>
          <a:p>
            <a:pPr indent="0" marL="0">
              <a:buNone/>
            </a:pPr>
            <a:r>
              <a:rPr lang="en-US" sz="1300" b="1" dirty="0">
                <a:solidFill>
                  <a:schemeClr val="accent1"/>
                </a:solidFill>
              </a:rPr>
              <a:t>Clue: </a:t>
            </a:r>
            <a:pPr indent="0" marL="0">
              <a:buNone/>
            </a:pPr>
            <a:r>
              <a:rPr lang="en-US" sz="1300" b="1" dirty="0">
                <a:solidFill>
                  <a:schemeClr val="tx2"/>
                </a:solidFill>
              </a:rPr>
              <a:t>Salary, unemployment, crime</a:t>
            </a:r>
            <a:endParaRPr lang="en-US" sz="1300" dirty="0"/>
          </a:p>
        </p:txBody>
      </p:sp>
      <p:sp>
        <p:nvSpPr>
          <p:cNvPr id="42" name="File card 7"/>
          <p:cNvSpPr/>
          <p:nvPr/>
        </p:nvSpPr>
        <p:spPr>
          <a:xfrm>
            <a:off x="9006611" y="4297680"/>
            <a:ext cx="2636444" cy="1828800"/>
          </a:xfrm>
          <a:prstGeom prst="roundRect">
            <a:avLst>
              <a:gd name="adj" fmla="val 4000"/>
            </a:avLst>
          </a:prstGeom>
          <a:solidFill>
            <a:srgbClr val="E9EAEC"/>
          </a:solidFill>
          <a:ln/>
        </p:spPr>
      </p:sp>
      <p:sp>
        <p:nvSpPr>
          <p:cNvPr id="43" name="Text 41"/>
          <p:cNvSpPr txBox="1"/>
          <p:nvPr/>
        </p:nvSpPr>
        <p:spPr>
          <a:xfrm>
            <a:off x="9189491" y="4434840"/>
            <a:ext cx="2270684" cy="365760"/>
          </a:xfrm>
          <a:prstGeom prst="rect">
            <a:avLst/>
          </a:prstGeom>
          <a:noFill/>
          <a:ln/>
        </p:spPr>
        <p:txBody>
          <a:bodyPr wrap="square" lIns="0" tIns="0" rIns="0" bIns="0" rtlCol="0" anchor="t"/>
          <a:lstStyle/>
          <a:p>
            <a:pPr indent="0" marL="0">
              <a:buNone/>
            </a:pPr>
            <a:r>
              <a:rPr lang="en-US" sz="1600" b="1" dirty="0">
                <a:solidFill>
                  <a:schemeClr val="tx2"/>
                </a:solidFill>
              </a:rPr>
              <a:t>Order.csv</a:t>
            </a:r>
            <a:endParaRPr lang="en-US" sz="1600" dirty="0"/>
          </a:p>
        </p:txBody>
      </p:sp>
      <p:sp>
        <p:nvSpPr>
          <p:cNvPr id="44" name="Text 42"/>
          <p:cNvSpPr txBox="1"/>
          <p:nvPr/>
        </p:nvSpPr>
        <p:spPr>
          <a:xfrm>
            <a:off x="9189491" y="4800600"/>
            <a:ext cx="2270684" cy="274320"/>
          </a:xfrm>
          <a:prstGeom prst="rect">
            <a:avLst/>
          </a:prstGeom>
          <a:noFill/>
          <a:ln/>
        </p:spPr>
        <p:txBody>
          <a:bodyPr wrap="square" lIns="0" tIns="0" rIns="0" bIns="0" rtlCol="0" anchor="t"/>
          <a:lstStyle/>
          <a:p>
            <a:pPr indent="0" marL="0">
              <a:buNone/>
            </a:pPr>
            <a:r>
              <a:rPr lang="en-US" sz="1150" i="1" dirty="0">
                <a:solidFill>
                  <a:schemeClr val="accent5"/>
                </a:solidFill>
              </a:rPr>
              <a:t>Joined on: account_id</a:t>
            </a:r>
            <a:endParaRPr lang="en-US" sz="1150" dirty="0"/>
          </a:p>
        </p:txBody>
      </p:sp>
      <p:sp>
        <p:nvSpPr>
          <p:cNvPr id="45" name="Text 43"/>
          <p:cNvSpPr txBox="1"/>
          <p:nvPr/>
        </p:nvSpPr>
        <p:spPr>
          <a:xfrm>
            <a:off x="9189491" y="5102352"/>
            <a:ext cx="2270684" cy="457200"/>
          </a:xfrm>
          <a:prstGeom prst="rect">
            <a:avLst/>
          </a:prstGeom>
          <a:noFill/>
          <a:ln/>
        </p:spPr>
        <p:txBody>
          <a:bodyPr wrap="square" lIns="0" tIns="0" rIns="0" bIns="0" rtlCol="0" anchor="t"/>
          <a:lstStyle/>
          <a:p>
            <a:pPr indent="0" marL="0">
              <a:buNone/>
            </a:pPr>
            <a:r>
              <a:rPr lang="en-US" sz="1300" dirty="0">
                <a:solidFill>
                  <a:schemeClr val="tx1"/>
                </a:solidFill>
              </a:rPr>
              <a:t>Standing payment orders</a:t>
            </a:r>
            <a:endParaRPr lang="en-US" sz="1300" dirty="0"/>
          </a:p>
        </p:txBody>
      </p:sp>
      <p:sp>
        <p:nvSpPr>
          <p:cNvPr id="46" name="Text 44"/>
          <p:cNvSpPr txBox="1"/>
          <p:nvPr/>
        </p:nvSpPr>
        <p:spPr>
          <a:xfrm>
            <a:off x="9189491" y="5577840"/>
            <a:ext cx="2270684" cy="457200"/>
          </a:xfrm>
          <a:prstGeom prst="rect">
            <a:avLst/>
          </a:prstGeom>
          <a:noFill/>
          <a:ln/>
        </p:spPr>
        <p:txBody>
          <a:bodyPr wrap="square" lIns="0" tIns="0" rIns="0" bIns="0" rtlCol="0" anchor="t"/>
          <a:lstStyle/>
          <a:p>
            <a:pPr indent="0" marL="0">
              <a:buNone/>
            </a:pPr>
            <a:pPr indent="0" marL="0">
              <a:buNone/>
            </a:pPr>
            <a:r>
              <a:rPr lang="en-US" sz="1300" b="1" dirty="0">
                <a:solidFill>
                  <a:schemeClr val="accent5"/>
                </a:solidFill>
              </a:rPr>
              <a:t>Left out: no dates (leakage risk)</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Tidying the evidence: issues and fixes</a:t>
            </a:r>
            <a:endParaRPr lang="en-US" sz="3400" dirty="0"/>
          </a:p>
        </p:txBody>
      </p:sp>
      <p:sp>
        <p:nvSpPr>
          <p:cNvPr id="5" name="Quality card 0"/>
          <p:cNvSpPr/>
          <p:nvPr/>
        </p:nvSpPr>
        <p:spPr>
          <a:xfrm>
            <a:off x="548640" y="1371600"/>
            <a:ext cx="5422392" cy="2286000"/>
          </a:xfrm>
          <a:prstGeom prst="roundRect">
            <a:avLst>
              <a:gd name="adj" fmla="val 3200"/>
            </a:avLst>
          </a:prstGeom>
          <a:solidFill>
            <a:schemeClr val="bg2"/>
          </a:solidFill>
          <a:ln/>
        </p:spPr>
      </p:sp>
      <p:sp>
        <p:nvSpPr>
          <p:cNvPr id="6" name="Quality 0 circle"/>
          <p:cNvSpPr/>
          <p:nvPr/>
        </p:nvSpPr>
        <p:spPr>
          <a:xfrm>
            <a:off x="822960" y="1645920"/>
            <a:ext cx="685800" cy="685800"/>
          </a:xfrm>
          <a:prstGeom prst="ellipse">
            <a:avLst/>
          </a:prstGeom>
          <a:solidFill>
            <a:srgbClr val="D99A00"/>
          </a:solidFill>
          <a:ln/>
        </p:spPr>
      </p:sp>
      <p:pic>
        <p:nvPicPr>
          <p:cNvPr id="7" name="Quality 0 icon" descr="preencoded.png">    </p:cNvPr>
          <p:cNvPicPr>
            <a:picLocks noChangeAspect="1"/>
          </p:cNvPicPr>
          <p:nvPr/>
        </p:nvPicPr>
        <p:blipFill>
          <a:blip r:embed="rId1"/>
          <a:stretch>
            <a:fillRect/>
          </a:stretch>
        </p:blipFill>
        <p:spPr>
          <a:xfrm>
            <a:off x="1008126" y="1831086"/>
            <a:ext cx="315468" cy="315468"/>
          </a:xfrm>
          <a:prstGeom prst="rect">
            <a:avLst/>
          </a:prstGeom>
        </p:spPr>
      </p:pic>
      <p:sp>
        <p:nvSpPr>
          <p:cNvPr id="8" name="Text 5"/>
          <p:cNvSpPr txBox="1"/>
          <p:nvPr/>
        </p:nvSpPr>
        <p:spPr>
          <a:xfrm>
            <a:off x="1691640" y="1645920"/>
            <a:ext cx="4050792" cy="685800"/>
          </a:xfrm>
          <a:prstGeom prst="rect">
            <a:avLst/>
          </a:prstGeom>
          <a:noFill/>
          <a:ln/>
        </p:spPr>
        <p:txBody>
          <a:bodyPr wrap="square" lIns="0" tIns="0" rIns="0" bIns="0" rtlCol="0" anchor="ctr"/>
          <a:lstStyle/>
          <a:p>
            <a:pPr indent="0" marL="0">
              <a:buNone/>
            </a:pPr>
            <a:r>
              <a:rPr lang="en-US" sz="1800" b="1" dirty="0">
                <a:solidFill>
                  <a:schemeClr val="tx2"/>
                </a:solidFill>
              </a:rPr>
              <a:t>Codes in Czech</a:t>
            </a:r>
            <a:endParaRPr lang="en-US" sz="1800" dirty="0"/>
          </a:p>
        </p:txBody>
      </p:sp>
      <p:sp>
        <p:nvSpPr>
          <p:cNvPr id="9" name="Text 6"/>
          <p:cNvSpPr txBox="1"/>
          <p:nvPr/>
        </p:nvSpPr>
        <p:spPr>
          <a:xfrm>
            <a:off x="822960" y="2423160"/>
            <a:ext cx="4873752" cy="685800"/>
          </a:xfrm>
          <a:prstGeom prst="rect">
            <a:avLst/>
          </a:prstGeom>
          <a:noFill/>
          <a:ln/>
        </p:spPr>
        <p:txBody>
          <a:bodyPr wrap="square" lIns="0" tIns="0" rIns="0" bIns="0" rtlCol="0" anchor="t"/>
          <a:lstStyle/>
          <a:p>
            <a:pPr indent="0" marL="0">
              <a:buNone/>
            </a:pPr>
            <a:r>
              <a:rPr lang="en-US" sz="1500" dirty="0">
                <a:solidFill>
                  <a:schemeClr val="tx1"/>
                </a:solidFill>
              </a:rPr>
              <a:t>e.g. PRIJEM, VYDAJ, SIPO, POPLATEK MESICNE</a:t>
            </a:r>
            <a:endParaRPr lang="en-US" sz="1500" dirty="0"/>
          </a:p>
        </p:txBody>
      </p:sp>
      <p:sp>
        <p:nvSpPr>
          <p:cNvPr id="10" name="Text 7"/>
          <p:cNvSpPr txBox="1"/>
          <p:nvPr/>
        </p:nvSpPr>
        <p:spPr>
          <a:xfrm>
            <a:off x="822960" y="3108960"/>
            <a:ext cx="4873752" cy="411480"/>
          </a:xfrm>
          <a:prstGeom prst="rect">
            <a:avLst/>
          </a:prstGeom>
          <a:noFill/>
          <a:ln/>
        </p:spPr>
        <p:txBody>
          <a:bodyPr wrap="square" lIns="0" tIns="0" rIns="0" bIns="0" rtlCol="0" anchor="t"/>
          <a:lstStyle/>
          <a:p>
            <a:pPr indent="0" marL="0">
              <a:buNone/>
            </a:pPr>
            <a:r>
              <a:rPr lang="en-US" sz="1400" b="1" dirty="0">
                <a:solidFill>
                  <a:schemeClr val="accent5"/>
                </a:solidFill>
              </a:rPr>
              <a:t>Action: Translated to English: credit, debit, household, monthly</a:t>
            </a:r>
            <a:endParaRPr lang="en-US" sz="1400" dirty="0"/>
          </a:p>
        </p:txBody>
      </p:sp>
      <p:sp>
        <p:nvSpPr>
          <p:cNvPr id="11" name="Quality card 1"/>
          <p:cNvSpPr/>
          <p:nvPr/>
        </p:nvSpPr>
        <p:spPr>
          <a:xfrm>
            <a:off x="6199632" y="1371600"/>
            <a:ext cx="5422392" cy="2286000"/>
          </a:xfrm>
          <a:prstGeom prst="roundRect">
            <a:avLst>
              <a:gd name="adj" fmla="val 3200"/>
            </a:avLst>
          </a:prstGeom>
          <a:solidFill>
            <a:schemeClr val="bg2"/>
          </a:solidFill>
          <a:ln/>
        </p:spPr>
      </p:sp>
      <p:sp>
        <p:nvSpPr>
          <p:cNvPr id="12" name="Quality 1 circle"/>
          <p:cNvSpPr/>
          <p:nvPr/>
        </p:nvSpPr>
        <p:spPr>
          <a:xfrm>
            <a:off x="6473952" y="1645920"/>
            <a:ext cx="685800" cy="685800"/>
          </a:xfrm>
          <a:prstGeom prst="ellipse">
            <a:avLst/>
          </a:prstGeom>
          <a:solidFill>
            <a:srgbClr val="D99A00"/>
          </a:solidFill>
          <a:ln/>
        </p:spPr>
      </p:sp>
      <p:pic>
        <p:nvPicPr>
          <p:cNvPr id="13" name="Quality 1 icon" descr="preencoded.png">    </p:cNvPr>
          <p:cNvPicPr>
            <a:picLocks noChangeAspect="1"/>
          </p:cNvPicPr>
          <p:nvPr/>
        </p:nvPicPr>
        <p:blipFill>
          <a:blip r:embed="rId2"/>
          <a:stretch>
            <a:fillRect/>
          </a:stretch>
        </p:blipFill>
        <p:spPr>
          <a:xfrm>
            <a:off x="6659118" y="1831086"/>
            <a:ext cx="315468" cy="315468"/>
          </a:xfrm>
          <a:prstGeom prst="rect">
            <a:avLst/>
          </a:prstGeom>
        </p:spPr>
      </p:pic>
      <p:sp>
        <p:nvSpPr>
          <p:cNvPr id="14" name="Text 10"/>
          <p:cNvSpPr txBox="1"/>
          <p:nvPr/>
        </p:nvSpPr>
        <p:spPr>
          <a:xfrm>
            <a:off x="7342632" y="1645920"/>
            <a:ext cx="4050792" cy="685800"/>
          </a:xfrm>
          <a:prstGeom prst="rect">
            <a:avLst/>
          </a:prstGeom>
          <a:noFill/>
          <a:ln/>
        </p:spPr>
        <p:txBody>
          <a:bodyPr wrap="square" lIns="0" tIns="0" rIns="0" bIns="0" rtlCol="0" anchor="ctr"/>
          <a:lstStyle/>
          <a:p>
            <a:pPr indent="0" marL="0">
              <a:buNone/>
            </a:pPr>
            <a:r>
              <a:rPr lang="en-US" sz="1800" b="1" dirty="0">
                <a:solidFill>
                  <a:schemeClr val="tx2"/>
                </a:solidFill>
              </a:rPr>
              <a:t>Blank and missing codes</a:t>
            </a:r>
            <a:endParaRPr lang="en-US" sz="1800" dirty="0"/>
          </a:p>
        </p:txBody>
      </p:sp>
      <p:sp>
        <p:nvSpPr>
          <p:cNvPr id="15" name="Text 11"/>
          <p:cNvSpPr txBox="1"/>
          <p:nvPr/>
        </p:nvSpPr>
        <p:spPr>
          <a:xfrm>
            <a:off x="6473952" y="2423160"/>
            <a:ext cx="4873752" cy="685800"/>
          </a:xfrm>
          <a:prstGeom prst="rect">
            <a:avLst/>
          </a:prstGeom>
          <a:noFill/>
          <a:ln/>
        </p:spPr>
        <p:txBody>
          <a:bodyPr wrap="square" lIns="0" tIns="0" rIns="0" bIns="0" rtlCol="0" anchor="t"/>
          <a:lstStyle/>
          <a:p>
            <a:pPr indent="0" marL="0">
              <a:buNone/>
            </a:pPr>
            <a:r>
              <a:rPr lang="en-US" sz="1500" dirty="0">
                <a:solidFill>
                  <a:schemeClr val="tx1"/>
                </a:solidFill>
              </a:rPr>
              <a:t>Purpose codes were a mix of blanks and empty values (535k rows)</a:t>
            </a:r>
            <a:endParaRPr lang="en-US" sz="1500" dirty="0"/>
          </a:p>
        </p:txBody>
      </p:sp>
      <p:sp>
        <p:nvSpPr>
          <p:cNvPr id="16" name="Text 12"/>
          <p:cNvSpPr txBox="1"/>
          <p:nvPr/>
        </p:nvSpPr>
        <p:spPr>
          <a:xfrm>
            <a:off x="6473952" y="3108960"/>
            <a:ext cx="4873752" cy="411480"/>
          </a:xfrm>
          <a:prstGeom prst="rect">
            <a:avLst/>
          </a:prstGeom>
          <a:noFill/>
          <a:ln/>
        </p:spPr>
        <p:txBody>
          <a:bodyPr wrap="square" lIns="0" tIns="0" rIns="0" bIns="0" rtlCol="0" anchor="t"/>
          <a:lstStyle/>
          <a:p>
            <a:pPr indent="0" marL="0">
              <a:buNone/>
            </a:pPr>
            <a:r>
              <a:rPr lang="en-US" sz="1400" b="1" dirty="0">
                <a:solidFill>
                  <a:schemeClr val="accent5"/>
                </a:solidFill>
              </a:rPr>
              <a:t>Action: Unified as 'unknown'</a:t>
            </a:r>
            <a:endParaRPr lang="en-US" sz="1400" dirty="0"/>
          </a:p>
        </p:txBody>
      </p:sp>
      <p:sp>
        <p:nvSpPr>
          <p:cNvPr id="17" name="Quality card 2"/>
          <p:cNvSpPr/>
          <p:nvPr/>
        </p:nvSpPr>
        <p:spPr>
          <a:xfrm>
            <a:off x="548640" y="3886200"/>
            <a:ext cx="5422392" cy="2286000"/>
          </a:xfrm>
          <a:prstGeom prst="roundRect">
            <a:avLst>
              <a:gd name="adj" fmla="val 3200"/>
            </a:avLst>
          </a:prstGeom>
          <a:solidFill>
            <a:schemeClr val="bg2"/>
          </a:solidFill>
          <a:ln/>
        </p:spPr>
      </p:sp>
      <p:sp>
        <p:nvSpPr>
          <p:cNvPr id="18" name="Quality 2 circle"/>
          <p:cNvSpPr/>
          <p:nvPr/>
        </p:nvSpPr>
        <p:spPr>
          <a:xfrm>
            <a:off x="822960" y="4160520"/>
            <a:ext cx="685800" cy="685800"/>
          </a:xfrm>
          <a:prstGeom prst="ellipse">
            <a:avLst/>
          </a:prstGeom>
          <a:solidFill>
            <a:srgbClr val="E8622C"/>
          </a:solidFill>
          <a:ln/>
        </p:spPr>
      </p:sp>
      <p:pic>
        <p:nvPicPr>
          <p:cNvPr id="19" name="Quality 2 icon" descr="preencoded.png">    </p:cNvPr>
          <p:cNvPicPr>
            <a:picLocks noChangeAspect="1"/>
          </p:cNvPicPr>
          <p:nvPr/>
        </p:nvPicPr>
        <p:blipFill>
          <a:blip r:embed="rId3"/>
          <a:stretch>
            <a:fillRect/>
          </a:stretch>
        </p:blipFill>
        <p:spPr>
          <a:xfrm>
            <a:off x="1008126" y="4345686"/>
            <a:ext cx="315468" cy="315468"/>
          </a:xfrm>
          <a:prstGeom prst="rect">
            <a:avLst/>
          </a:prstGeom>
        </p:spPr>
      </p:pic>
      <p:sp>
        <p:nvSpPr>
          <p:cNvPr id="20" name="Text 15"/>
          <p:cNvSpPr txBox="1"/>
          <p:nvPr/>
        </p:nvSpPr>
        <p:spPr>
          <a:xfrm>
            <a:off x="1691640" y="4160520"/>
            <a:ext cx="4050792" cy="685800"/>
          </a:xfrm>
          <a:prstGeom prst="rect">
            <a:avLst/>
          </a:prstGeom>
          <a:noFill/>
          <a:ln/>
        </p:spPr>
        <p:txBody>
          <a:bodyPr wrap="square" lIns="0" tIns="0" rIns="0" bIns="0" rtlCol="0" anchor="ctr"/>
          <a:lstStyle/>
          <a:p>
            <a:pPr indent="0" marL="0">
              <a:buNone/>
            </a:pPr>
            <a:r>
              <a:rPr lang="en-US" sz="1800" b="1" dirty="0">
                <a:solidFill>
                  <a:schemeClr val="tx2"/>
                </a:solidFill>
              </a:rPr>
              <a:t>Missing district figures</a:t>
            </a:r>
            <a:endParaRPr lang="en-US" sz="1800" dirty="0"/>
          </a:p>
        </p:txBody>
      </p:sp>
      <p:sp>
        <p:nvSpPr>
          <p:cNvPr id="21" name="Text 16"/>
          <p:cNvSpPr txBox="1"/>
          <p:nvPr/>
        </p:nvSpPr>
        <p:spPr>
          <a:xfrm>
            <a:off x="822960" y="4937760"/>
            <a:ext cx="4873752" cy="685800"/>
          </a:xfrm>
          <a:prstGeom prst="rect">
            <a:avLst/>
          </a:prstGeom>
          <a:noFill/>
          <a:ln/>
        </p:spPr>
        <p:txBody>
          <a:bodyPr wrap="square" lIns="0" tIns="0" rIns="0" bIns="0" rtlCol="0" anchor="t"/>
          <a:lstStyle/>
          <a:p>
            <a:pPr indent="0" marL="0">
              <a:buNone/>
            </a:pPr>
            <a:r>
              <a:rPr lang="en-US" sz="1500" dirty="0">
                <a:solidFill>
                  <a:schemeClr val="tx1"/>
                </a:solidFill>
              </a:rPr>
              <a:t>1995 unemployment and crime missing for one district (Jesenik)</a:t>
            </a:r>
            <a:endParaRPr lang="en-US" sz="1500" dirty="0"/>
          </a:p>
        </p:txBody>
      </p:sp>
      <p:sp>
        <p:nvSpPr>
          <p:cNvPr id="22" name="Text 17"/>
          <p:cNvSpPr txBox="1"/>
          <p:nvPr/>
        </p:nvSpPr>
        <p:spPr>
          <a:xfrm>
            <a:off x="822960" y="5623560"/>
            <a:ext cx="4873752" cy="411480"/>
          </a:xfrm>
          <a:prstGeom prst="rect">
            <a:avLst/>
          </a:prstGeom>
          <a:noFill/>
          <a:ln/>
        </p:spPr>
        <p:txBody>
          <a:bodyPr wrap="square" lIns="0" tIns="0" rIns="0" bIns="0" rtlCol="0" anchor="t"/>
          <a:lstStyle/>
          <a:p>
            <a:pPr indent="0" marL="0">
              <a:buNone/>
            </a:pPr>
            <a:r>
              <a:rPr lang="en-US" sz="1400" b="1" dirty="0">
                <a:solidFill>
                  <a:schemeClr val="accent5"/>
                </a:solidFill>
              </a:rPr>
              <a:t>Action: Filled with that district's 1996 values</a:t>
            </a:r>
            <a:endParaRPr lang="en-US" sz="1400" dirty="0"/>
          </a:p>
        </p:txBody>
      </p:sp>
      <p:sp>
        <p:nvSpPr>
          <p:cNvPr id="23" name="Quality card 3"/>
          <p:cNvSpPr/>
          <p:nvPr/>
        </p:nvSpPr>
        <p:spPr>
          <a:xfrm>
            <a:off x="6199632" y="3886200"/>
            <a:ext cx="5422392" cy="2286000"/>
          </a:xfrm>
          <a:prstGeom prst="roundRect">
            <a:avLst>
              <a:gd name="adj" fmla="val 3200"/>
            </a:avLst>
          </a:prstGeom>
          <a:solidFill>
            <a:schemeClr val="bg2"/>
          </a:solidFill>
          <a:ln/>
        </p:spPr>
      </p:sp>
      <p:sp>
        <p:nvSpPr>
          <p:cNvPr id="24" name="Quality 3 circle"/>
          <p:cNvSpPr/>
          <p:nvPr/>
        </p:nvSpPr>
        <p:spPr>
          <a:xfrm>
            <a:off x="6473952" y="4160520"/>
            <a:ext cx="685800" cy="685800"/>
          </a:xfrm>
          <a:prstGeom prst="ellipse">
            <a:avLst/>
          </a:prstGeom>
          <a:solidFill>
            <a:srgbClr val="1A9E6E"/>
          </a:solidFill>
          <a:ln/>
        </p:spPr>
      </p:sp>
      <p:pic>
        <p:nvPicPr>
          <p:cNvPr id="25" name="Quality 3 icon" descr="preencoded.png">    </p:cNvPr>
          <p:cNvPicPr>
            <a:picLocks noChangeAspect="1"/>
          </p:cNvPicPr>
          <p:nvPr/>
        </p:nvPicPr>
        <p:blipFill>
          <a:blip r:embed="rId4"/>
          <a:stretch>
            <a:fillRect/>
          </a:stretch>
        </p:blipFill>
        <p:spPr>
          <a:xfrm>
            <a:off x="6659118" y="4345686"/>
            <a:ext cx="315468" cy="315468"/>
          </a:xfrm>
          <a:prstGeom prst="rect">
            <a:avLst/>
          </a:prstGeom>
        </p:spPr>
      </p:pic>
      <p:sp>
        <p:nvSpPr>
          <p:cNvPr id="26" name="Text 20"/>
          <p:cNvSpPr txBox="1"/>
          <p:nvPr/>
        </p:nvSpPr>
        <p:spPr>
          <a:xfrm>
            <a:off x="7342632" y="4160520"/>
            <a:ext cx="4050792" cy="685800"/>
          </a:xfrm>
          <a:prstGeom prst="rect">
            <a:avLst/>
          </a:prstGeom>
          <a:noFill/>
          <a:ln/>
        </p:spPr>
        <p:txBody>
          <a:bodyPr wrap="square" lIns="0" tIns="0" rIns="0" bIns="0" rtlCol="0" anchor="ctr"/>
          <a:lstStyle/>
          <a:p>
            <a:pPr indent="0" marL="0">
              <a:buNone/>
            </a:pPr>
            <a:r>
              <a:rPr lang="en-US" sz="1800" b="1" dirty="0">
                <a:solidFill>
                  <a:schemeClr val="tx2"/>
                </a:solidFill>
              </a:rPr>
              <a:t>Amounts without a sign</a:t>
            </a:r>
            <a:endParaRPr lang="en-US" sz="1800" dirty="0"/>
          </a:p>
        </p:txBody>
      </p:sp>
      <p:sp>
        <p:nvSpPr>
          <p:cNvPr id="27" name="Text 21"/>
          <p:cNvSpPr txBox="1"/>
          <p:nvPr/>
        </p:nvSpPr>
        <p:spPr>
          <a:xfrm>
            <a:off x="6473952" y="4937760"/>
            <a:ext cx="4873752" cy="685800"/>
          </a:xfrm>
          <a:prstGeom prst="rect">
            <a:avLst/>
          </a:prstGeom>
          <a:noFill/>
          <a:ln/>
        </p:spPr>
        <p:txBody>
          <a:bodyPr wrap="square" lIns="0" tIns="0" rIns="0" bIns="0" rtlCol="0" anchor="t"/>
          <a:lstStyle/>
          <a:p>
            <a:pPr indent="0" marL="0">
              <a:buNone/>
            </a:pPr>
            <a:r>
              <a:rPr lang="en-US" sz="1500" dirty="0">
                <a:solidFill>
                  <a:schemeClr val="tx1"/>
                </a:solidFill>
              </a:rPr>
              <a:t>Transaction amounts were always positive</a:t>
            </a:r>
            <a:endParaRPr lang="en-US" sz="1500" dirty="0"/>
          </a:p>
        </p:txBody>
      </p:sp>
      <p:sp>
        <p:nvSpPr>
          <p:cNvPr id="28" name="Text 22"/>
          <p:cNvSpPr txBox="1"/>
          <p:nvPr/>
        </p:nvSpPr>
        <p:spPr>
          <a:xfrm>
            <a:off x="6473952" y="5623560"/>
            <a:ext cx="4873752" cy="411480"/>
          </a:xfrm>
          <a:prstGeom prst="rect">
            <a:avLst/>
          </a:prstGeom>
          <a:noFill/>
          <a:ln/>
        </p:spPr>
        <p:txBody>
          <a:bodyPr wrap="square" lIns="0" tIns="0" rIns="0" bIns="0" rtlCol="0" anchor="t"/>
          <a:lstStyle/>
          <a:p>
            <a:pPr indent="0" marL="0">
              <a:buNone/>
            </a:pPr>
            <a:r>
              <a:rPr lang="en-US" sz="1400" b="1" dirty="0">
                <a:solidFill>
                  <a:schemeClr val="accent5"/>
                </a:solidFill>
              </a:rPr>
              <a:t>Action: Added + for money in, − for money out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Data cleaning: checks performed</a:t>
            </a:r>
            <a:endParaRPr lang="en-US" sz="3400" dirty="0"/>
          </a:p>
        </p:txBody>
      </p:sp>
      <p:graphicFrame>
        <p:nvGraphicFramePr>
          <p:cNvPr id="12" name="Checks table"/>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2377440"/>
                <a:gridCol w="2651760"/>
              </a:tblGrid>
              <a:tr h="52120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How (Python)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Missing values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df.isna().sum()</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District, Order, Transaction: fixed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Duplicate rows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df.duplicated()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OK: 0 in all 8 tables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Unique IDs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is_unique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OK: all primary keys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Links between tables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isin()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OK: no orphan records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Data types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df.info()</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Dates as text: converted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Loan maths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amount = months × payment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OK: every loan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Date logic</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loan after account opened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OK: every loan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52120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Overdrafts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balance &lt; 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Kept: real behaviour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6" name="Screenshot frame checks_out.png"/>
          <p:cNvSpPr/>
          <p:nvPr/>
        </p:nvSpPr>
        <p:spPr>
          <a:xfrm>
            <a:off x="7975708" y="1325880"/>
            <a:ext cx="3278417" cy="2011680"/>
          </a:xfrm>
          <a:prstGeom prst="rect">
            <a:avLst/>
          </a:prstGeom>
          <a:solidFill>
            <a:srgbClr val="FFFFFF"/>
          </a:solidFill>
          <a:ln w="9525">
            <a:solidFill>
              <a:srgbClr val="C9CED6"/>
            </a:solidFill>
            <a:prstDash val="solid"/>
          </a:ln>
        </p:spPr>
      </p:sp>
      <p:pic>
        <p:nvPicPr>
          <p:cNvPr id="7" name="Screenshot checks_out.png" descr="Screenshot: checks_out.png">    </p:cNvPr>
          <p:cNvPicPr>
            <a:picLocks noChangeAspect="1"/>
          </p:cNvPicPr>
          <p:nvPr/>
        </p:nvPicPr>
        <p:blipFill>
          <a:blip r:embed="rId1"/>
          <a:stretch>
            <a:fillRect/>
          </a:stretch>
        </p:blipFill>
        <p:spPr>
          <a:xfrm>
            <a:off x="8030572" y="1380744"/>
            <a:ext cx="3168689" cy="1901952"/>
          </a:xfrm>
          <a:prstGeom prst="rect">
            <a:avLst/>
          </a:prstGeom>
        </p:spPr>
      </p:pic>
      <p:sp>
        <p:nvSpPr>
          <p:cNvPr id="8" name="Text 4"/>
          <p:cNvSpPr txBox="1"/>
          <p:nvPr/>
        </p:nvSpPr>
        <p:spPr>
          <a:xfrm>
            <a:off x="7975708" y="3392424"/>
            <a:ext cx="3278417" cy="274320"/>
          </a:xfrm>
          <a:prstGeom prst="rect">
            <a:avLst/>
          </a:prstGeom>
          <a:noFill/>
          <a:ln/>
        </p:spPr>
        <p:txBody>
          <a:bodyPr wrap="square" lIns="0" tIns="0" rIns="0" bIns="0" rtlCol="0" anchor="t"/>
          <a:lstStyle/>
          <a:p>
            <a:pPr indent="0" marL="0">
              <a:buNone/>
            </a:pPr>
            <a:r>
              <a:rPr lang="en-US" sz="1100" i="1" dirty="0">
                <a:solidFill>
                  <a:schemeClr val="accent5"/>
                </a:solidFill>
              </a:rPr>
              <a:t>Notebook: key and consistency checks</a:t>
            </a:r>
            <a:endParaRPr lang="en-US" sz="1100" dirty="0"/>
          </a:p>
        </p:txBody>
      </p:sp>
      <p:sp>
        <p:nvSpPr>
          <p:cNvPr id="9" name="Screenshot frame cleanlog_out.png"/>
          <p:cNvSpPr/>
          <p:nvPr/>
        </p:nvSpPr>
        <p:spPr>
          <a:xfrm>
            <a:off x="7589520" y="3794760"/>
            <a:ext cx="4050792" cy="1558882"/>
          </a:xfrm>
          <a:prstGeom prst="rect">
            <a:avLst/>
          </a:prstGeom>
          <a:solidFill>
            <a:srgbClr val="FFFFFF"/>
          </a:solidFill>
          <a:ln w="9525">
            <a:solidFill>
              <a:srgbClr val="C9CED6"/>
            </a:solidFill>
            <a:prstDash val="solid"/>
          </a:ln>
        </p:spPr>
      </p:sp>
      <p:pic>
        <p:nvPicPr>
          <p:cNvPr id="10" name="Screenshot cleanlog_out.png" descr="Screenshot: cleanlog_out.png">    </p:cNvPr>
          <p:cNvPicPr>
            <a:picLocks noChangeAspect="1"/>
          </p:cNvPicPr>
          <p:nvPr/>
        </p:nvPicPr>
        <p:blipFill>
          <a:blip r:embed="rId2"/>
          <a:stretch>
            <a:fillRect/>
          </a:stretch>
        </p:blipFill>
        <p:spPr>
          <a:xfrm>
            <a:off x="7644384" y="3849624"/>
            <a:ext cx="3941064" cy="1449154"/>
          </a:xfrm>
          <a:prstGeom prst="rect">
            <a:avLst/>
          </a:prstGeom>
        </p:spPr>
      </p:pic>
      <p:sp>
        <p:nvSpPr>
          <p:cNvPr id="11" name="Text 6"/>
          <p:cNvSpPr txBox="1"/>
          <p:nvPr/>
        </p:nvSpPr>
        <p:spPr>
          <a:xfrm>
            <a:off x="7589520" y="5408506"/>
            <a:ext cx="4050792" cy="274320"/>
          </a:xfrm>
          <a:prstGeom prst="rect">
            <a:avLst/>
          </a:prstGeom>
          <a:noFill/>
          <a:ln/>
        </p:spPr>
        <p:txBody>
          <a:bodyPr wrap="square" lIns="0" tIns="0" rIns="0" bIns="0" rtlCol="0" anchor="t"/>
          <a:lstStyle/>
          <a:p>
            <a:pPr indent="0" marL="0">
              <a:buNone/>
            </a:pPr>
            <a:r>
              <a:rPr lang="en-US" sz="1100" i="1" dirty="0">
                <a:solidFill>
                  <a:schemeClr val="accent5"/>
                </a:solidFill>
              </a:rPr>
              <a:t>Notebook: cleaning log</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Joining the evidence: 8 tables into one</a:t>
            </a:r>
            <a:endParaRPr lang="en-US" sz="3400" dirty="0"/>
          </a:p>
        </p:txBody>
      </p:sp>
      <p:sp>
        <p:nvSpPr>
          <p:cNvPr id="5" name="Join 0"/>
          <p:cNvSpPr/>
          <p:nvPr/>
        </p:nvSpPr>
        <p:spPr>
          <a:xfrm>
            <a:off x="548640" y="1371600"/>
            <a:ext cx="1463040" cy="1325880"/>
          </a:xfrm>
          <a:prstGeom prst="roundRect">
            <a:avLst>
              <a:gd name="adj" fmla="val 5517"/>
            </a:avLst>
          </a:prstGeom>
          <a:solidFill>
            <a:schemeClr val="bg2"/>
          </a:solidFill>
          <a:ln/>
        </p:spPr>
      </p:sp>
      <p:sp>
        <p:nvSpPr>
          <p:cNvPr id="6" name="Text 4"/>
          <p:cNvSpPr txBox="1"/>
          <p:nvPr/>
        </p:nvSpPr>
        <p:spPr>
          <a:xfrm>
            <a:off x="6400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Loan</a:t>
            </a:r>
            <a:endParaRPr lang="en-US" sz="1500" dirty="0"/>
          </a:p>
        </p:txBody>
      </p:sp>
      <p:sp>
        <p:nvSpPr>
          <p:cNvPr id="7" name="Text 5"/>
          <p:cNvSpPr txBox="1"/>
          <p:nvPr/>
        </p:nvSpPr>
        <p:spPr>
          <a:xfrm>
            <a:off x="6400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8" name="Join 1"/>
          <p:cNvSpPr/>
          <p:nvPr/>
        </p:nvSpPr>
        <p:spPr>
          <a:xfrm>
            <a:off x="2148840" y="1371600"/>
            <a:ext cx="1463040" cy="1325880"/>
          </a:xfrm>
          <a:prstGeom prst="roundRect">
            <a:avLst>
              <a:gd name="adj" fmla="val 5517"/>
            </a:avLst>
          </a:prstGeom>
          <a:solidFill>
            <a:schemeClr val="bg2"/>
          </a:solidFill>
          <a:ln/>
        </p:spPr>
      </p:sp>
      <p:sp>
        <p:nvSpPr>
          <p:cNvPr id="9" name="Text 7"/>
          <p:cNvSpPr txBox="1"/>
          <p:nvPr/>
        </p:nvSpPr>
        <p:spPr>
          <a:xfrm>
            <a:off x="22402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 Account</a:t>
            </a:r>
            <a:endParaRPr lang="en-US" sz="1500" dirty="0"/>
          </a:p>
        </p:txBody>
      </p:sp>
      <p:sp>
        <p:nvSpPr>
          <p:cNvPr id="10" name="Text 8"/>
          <p:cNvSpPr txBox="1"/>
          <p:nvPr/>
        </p:nvSpPr>
        <p:spPr>
          <a:xfrm>
            <a:off x="22402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11" name="Join 2"/>
          <p:cNvSpPr/>
          <p:nvPr/>
        </p:nvSpPr>
        <p:spPr>
          <a:xfrm>
            <a:off x="3749040" y="1371600"/>
            <a:ext cx="1463040" cy="1325880"/>
          </a:xfrm>
          <a:prstGeom prst="roundRect">
            <a:avLst>
              <a:gd name="adj" fmla="val 5517"/>
            </a:avLst>
          </a:prstGeom>
          <a:solidFill>
            <a:schemeClr val="bg2"/>
          </a:solidFill>
          <a:ln/>
        </p:spPr>
      </p:sp>
      <p:sp>
        <p:nvSpPr>
          <p:cNvPr id="12" name="Text 10"/>
          <p:cNvSpPr txBox="1"/>
          <p:nvPr/>
        </p:nvSpPr>
        <p:spPr>
          <a:xfrm>
            <a:off x="38404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 Owner (Disp)</a:t>
            </a:r>
            <a:endParaRPr lang="en-US" sz="1500" dirty="0"/>
          </a:p>
        </p:txBody>
      </p:sp>
      <p:sp>
        <p:nvSpPr>
          <p:cNvPr id="13" name="Text 11"/>
          <p:cNvSpPr txBox="1"/>
          <p:nvPr/>
        </p:nvSpPr>
        <p:spPr>
          <a:xfrm>
            <a:off x="38404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14" name="Join 3"/>
          <p:cNvSpPr/>
          <p:nvPr/>
        </p:nvSpPr>
        <p:spPr>
          <a:xfrm>
            <a:off x="5349240" y="1371600"/>
            <a:ext cx="1463040" cy="1325880"/>
          </a:xfrm>
          <a:prstGeom prst="roundRect">
            <a:avLst>
              <a:gd name="adj" fmla="val 5517"/>
            </a:avLst>
          </a:prstGeom>
          <a:solidFill>
            <a:schemeClr val="bg2"/>
          </a:solidFill>
          <a:ln/>
        </p:spPr>
      </p:sp>
      <p:sp>
        <p:nvSpPr>
          <p:cNvPr id="15" name="Text 13"/>
          <p:cNvSpPr txBox="1"/>
          <p:nvPr/>
        </p:nvSpPr>
        <p:spPr>
          <a:xfrm>
            <a:off x="54406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 Client</a:t>
            </a:r>
            <a:endParaRPr lang="en-US" sz="1500" dirty="0"/>
          </a:p>
        </p:txBody>
      </p:sp>
      <p:sp>
        <p:nvSpPr>
          <p:cNvPr id="16" name="Text 14"/>
          <p:cNvSpPr txBox="1"/>
          <p:nvPr/>
        </p:nvSpPr>
        <p:spPr>
          <a:xfrm>
            <a:off x="54406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17" name="Join 4"/>
          <p:cNvSpPr/>
          <p:nvPr/>
        </p:nvSpPr>
        <p:spPr>
          <a:xfrm>
            <a:off x="6949440" y="1371600"/>
            <a:ext cx="1463040" cy="1325880"/>
          </a:xfrm>
          <a:prstGeom prst="roundRect">
            <a:avLst>
              <a:gd name="adj" fmla="val 5517"/>
            </a:avLst>
          </a:prstGeom>
          <a:solidFill>
            <a:schemeClr val="bg2"/>
          </a:solidFill>
          <a:ln/>
        </p:spPr>
      </p:sp>
      <p:sp>
        <p:nvSpPr>
          <p:cNvPr id="18" name="Text 16"/>
          <p:cNvSpPr txBox="1"/>
          <p:nvPr/>
        </p:nvSpPr>
        <p:spPr>
          <a:xfrm>
            <a:off x="70408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 District</a:t>
            </a:r>
            <a:endParaRPr lang="en-US" sz="1500" dirty="0"/>
          </a:p>
        </p:txBody>
      </p:sp>
      <p:sp>
        <p:nvSpPr>
          <p:cNvPr id="19" name="Text 17"/>
          <p:cNvSpPr txBox="1"/>
          <p:nvPr/>
        </p:nvSpPr>
        <p:spPr>
          <a:xfrm>
            <a:off x="70408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20" name="Join 5"/>
          <p:cNvSpPr/>
          <p:nvPr/>
        </p:nvSpPr>
        <p:spPr>
          <a:xfrm>
            <a:off x="8549640" y="1371600"/>
            <a:ext cx="1463040" cy="1325880"/>
          </a:xfrm>
          <a:prstGeom prst="roundRect">
            <a:avLst>
              <a:gd name="adj" fmla="val 5517"/>
            </a:avLst>
          </a:prstGeom>
          <a:solidFill>
            <a:schemeClr val="bg2"/>
          </a:solidFill>
          <a:ln/>
        </p:spPr>
      </p:sp>
      <p:sp>
        <p:nvSpPr>
          <p:cNvPr id="21" name="Text 19"/>
          <p:cNvSpPr txBox="1"/>
          <p:nvPr/>
        </p:nvSpPr>
        <p:spPr>
          <a:xfrm>
            <a:off x="8641080" y="1463040"/>
            <a:ext cx="1280160" cy="548640"/>
          </a:xfrm>
          <a:prstGeom prst="rect">
            <a:avLst/>
          </a:prstGeom>
          <a:noFill/>
          <a:ln/>
        </p:spPr>
        <p:txBody>
          <a:bodyPr wrap="square" lIns="0" tIns="0" rIns="0" bIns="0" rtlCol="0" anchor="ctr"/>
          <a:lstStyle/>
          <a:p>
            <a:pPr algn="ctr" indent="0" marL="0">
              <a:buNone/>
            </a:pPr>
            <a:r>
              <a:rPr lang="en-US" sz="1500" b="1" dirty="0">
                <a:solidFill>
                  <a:schemeClr val="tx2"/>
                </a:solidFill>
              </a:rPr>
              <a:t>+ Card</a:t>
            </a:r>
            <a:endParaRPr lang="en-US" sz="1500" dirty="0"/>
          </a:p>
        </p:txBody>
      </p:sp>
      <p:sp>
        <p:nvSpPr>
          <p:cNvPr id="22" name="Text 20"/>
          <p:cNvSpPr txBox="1"/>
          <p:nvPr/>
        </p:nvSpPr>
        <p:spPr>
          <a:xfrm>
            <a:off x="8641080" y="2057400"/>
            <a:ext cx="1280160" cy="411480"/>
          </a:xfrm>
          <a:prstGeom prst="rect">
            <a:avLst/>
          </a:prstGeom>
          <a:noFill/>
          <a:ln/>
        </p:spPr>
        <p:txBody>
          <a:bodyPr wrap="square" lIns="0" tIns="0" rIns="0" bIns="0" rtlCol="0" anchor="t"/>
          <a:lstStyle/>
          <a:p>
            <a:pPr algn="ctr" indent="0" marL="0">
              <a:buNone/>
            </a:pPr>
            <a:r>
              <a:rPr lang="en-US" sz="1400" dirty="0">
                <a:solidFill>
                  <a:schemeClr val="accent5"/>
                </a:solidFill>
              </a:rPr>
              <a:t>682 rows</a:t>
            </a:r>
            <a:endParaRPr lang="en-US" sz="1400" dirty="0"/>
          </a:p>
        </p:txBody>
      </p:sp>
      <p:sp>
        <p:nvSpPr>
          <p:cNvPr id="23" name="Join 6"/>
          <p:cNvSpPr/>
          <p:nvPr/>
        </p:nvSpPr>
        <p:spPr>
          <a:xfrm>
            <a:off x="10149840" y="1371600"/>
            <a:ext cx="1463040" cy="1325880"/>
          </a:xfrm>
          <a:prstGeom prst="roundRect">
            <a:avLst>
              <a:gd name="adj" fmla="val 5517"/>
            </a:avLst>
          </a:prstGeom>
          <a:solidFill>
            <a:srgbClr val="16243A"/>
          </a:solidFill>
          <a:ln/>
        </p:spPr>
      </p:sp>
      <p:sp>
        <p:nvSpPr>
          <p:cNvPr id="24" name="Text 22"/>
          <p:cNvSpPr txBox="1"/>
          <p:nvPr/>
        </p:nvSpPr>
        <p:spPr>
          <a:xfrm>
            <a:off x="10241280" y="1463040"/>
            <a:ext cx="1280160" cy="548640"/>
          </a:xfrm>
          <a:prstGeom prst="rect">
            <a:avLst/>
          </a:prstGeom>
          <a:noFill/>
          <a:ln/>
        </p:spPr>
        <p:txBody>
          <a:bodyPr wrap="square" lIns="0" tIns="0" rIns="0" bIns="0" rtlCol="0" anchor="ctr"/>
          <a:lstStyle/>
          <a:p>
            <a:pPr algn="ctr" indent="0" marL="0">
              <a:buNone/>
            </a:pPr>
            <a:r>
              <a:rPr lang="en-US" sz="1500" b="1" dirty="0">
                <a:solidFill>
                  <a:schemeClr val="bg1"/>
                </a:solidFill>
              </a:rPr>
              <a:t>+ Transactions</a:t>
            </a:r>
            <a:endParaRPr lang="en-US" sz="1500" dirty="0"/>
          </a:p>
        </p:txBody>
      </p:sp>
      <p:sp>
        <p:nvSpPr>
          <p:cNvPr id="25" name="Text 23"/>
          <p:cNvSpPr txBox="1"/>
          <p:nvPr/>
        </p:nvSpPr>
        <p:spPr>
          <a:xfrm>
            <a:off x="10241280" y="2057400"/>
            <a:ext cx="1280160" cy="411480"/>
          </a:xfrm>
          <a:prstGeom prst="rect">
            <a:avLst/>
          </a:prstGeom>
          <a:noFill/>
          <a:ln/>
        </p:spPr>
        <p:txBody>
          <a:bodyPr wrap="square" lIns="0" tIns="0" rIns="0" bIns="0" rtlCol="0" anchor="t"/>
          <a:lstStyle/>
          <a:p>
            <a:pPr algn="ctr" indent="0" marL="0">
              <a:buNone/>
            </a:pPr>
            <a:r>
              <a:rPr lang="en-US" sz="1400" dirty="0">
                <a:solidFill>
                  <a:schemeClr val="accent1"/>
                </a:solidFill>
              </a:rPr>
              <a:t>682 rows</a:t>
            </a:r>
            <a:endParaRPr lang="en-US" sz="1400" dirty="0"/>
          </a:p>
        </p:txBody>
      </p:sp>
      <p:sp>
        <p:nvSpPr>
          <p:cNvPr id="26" name="Leakage card"/>
          <p:cNvSpPr/>
          <p:nvPr/>
        </p:nvSpPr>
        <p:spPr>
          <a:xfrm>
            <a:off x="548640" y="3017520"/>
            <a:ext cx="5486400" cy="3108960"/>
          </a:xfrm>
          <a:prstGeom prst="roundRect">
            <a:avLst>
              <a:gd name="adj" fmla="val 2353"/>
            </a:avLst>
          </a:prstGeom>
          <a:solidFill>
            <a:srgbClr val="FCE6DC"/>
          </a:solidFill>
          <a:ln/>
        </p:spPr>
      </p:sp>
      <p:sp>
        <p:nvSpPr>
          <p:cNvPr id="27" name="Leakage circle"/>
          <p:cNvSpPr/>
          <p:nvPr/>
        </p:nvSpPr>
        <p:spPr>
          <a:xfrm>
            <a:off x="822960" y="3246120"/>
            <a:ext cx="685800" cy="685800"/>
          </a:xfrm>
          <a:prstGeom prst="ellipse">
            <a:avLst/>
          </a:prstGeom>
          <a:solidFill>
            <a:srgbClr val="E8622C"/>
          </a:solidFill>
          <a:ln/>
        </p:spPr>
      </p:sp>
      <p:pic>
        <p:nvPicPr>
          <p:cNvPr id="28" name="Leakage icon" descr="preencoded.png">    </p:cNvPr>
          <p:cNvPicPr>
            <a:picLocks noChangeAspect="1"/>
          </p:cNvPicPr>
          <p:nvPr/>
        </p:nvPicPr>
        <p:blipFill>
          <a:blip r:embed="rId1"/>
          <a:stretch>
            <a:fillRect/>
          </a:stretch>
        </p:blipFill>
        <p:spPr>
          <a:xfrm>
            <a:off x="1008126" y="3431286"/>
            <a:ext cx="315468" cy="315468"/>
          </a:xfrm>
          <a:prstGeom prst="rect">
            <a:avLst/>
          </a:prstGeom>
        </p:spPr>
      </p:pic>
      <p:sp>
        <p:nvSpPr>
          <p:cNvPr id="29" name="Text 26"/>
          <p:cNvSpPr txBox="1"/>
          <p:nvPr/>
        </p:nvSpPr>
        <p:spPr>
          <a:xfrm>
            <a:off x="1691640" y="3246120"/>
            <a:ext cx="4206240" cy="731520"/>
          </a:xfrm>
          <a:prstGeom prst="rect">
            <a:avLst/>
          </a:prstGeom>
          <a:noFill/>
          <a:ln/>
        </p:spPr>
        <p:txBody>
          <a:bodyPr wrap="square" lIns="0" tIns="0" rIns="0" bIns="0" rtlCol="0" anchor="ctr"/>
          <a:lstStyle/>
          <a:p>
            <a:pPr indent="0" marL="0">
              <a:buNone/>
            </a:pPr>
            <a:r>
              <a:rPr lang="en-US" sz="1700" b="1" dirty="0">
                <a:solidFill>
                  <a:schemeClr val="tx2"/>
                </a:solidFill>
              </a:rPr>
              <a:t>Only use what the bank knew on the loan date</a:t>
            </a:r>
            <a:endParaRPr lang="en-US" sz="1700" dirty="0"/>
          </a:p>
        </p:txBody>
      </p:sp>
      <p:sp>
        <p:nvSpPr>
          <p:cNvPr id="30" name="Text 27"/>
          <p:cNvSpPr txBox="1"/>
          <p:nvPr/>
        </p:nvSpPr>
        <p:spPr>
          <a:xfrm>
            <a:off x="822960" y="4160520"/>
            <a:ext cx="498348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Transactions: only those before the loan (54,694 of 191,556)</a:t>
            </a:r>
            <a:endParaRPr lang="en-US" sz="1500" dirty="0"/>
          </a:p>
          <a:p>
            <a:pPr marL="342900" indent="-342900">
              <a:spcAft>
                <a:spcPts val="800"/>
              </a:spcAft>
              <a:buSzPct val="100000"/>
              <a:buChar char="•"/>
            </a:pPr>
            <a:r>
              <a:rPr lang="en-US" sz="1500" dirty="0">
                <a:solidFill>
                  <a:schemeClr val="tx1"/>
                </a:solidFill>
              </a:rPr>
              <a:t>Cards: only those issued before the loan</a:t>
            </a:r>
            <a:endParaRPr lang="en-US" sz="1500" dirty="0"/>
          </a:p>
          <a:p>
            <a:pPr marL="342900" indent="-342900">
              <a:spcAft>
                <a:spcPts val="800"/>
              </a:spcAft>
              <a:buSzPct val="100000"/>
              <a:buChar char="•"/>
            </a:pPr>
            <a:r>
              <a:rPr lang="en-US" sz="1500" dirty="0">
                <a:solidFill>
                  <a:schemeClr val="tx1"/>
                </a:solidFill>
              </a:rPr>
              <a:t>Orders: left out of the model (no dates)</a:t>
            </a:r>
            <a:endParaRPr lang="en-US" sz="1500" dirty="0"/>
          </a:p>
        </p:txBody>
      </p:sp>
      <p:sp>
        <p:nvSpPr>
          <p:cNvPr id="31" name="Screenshot frame integ_out.png"/>
          <p:cNvSpPr/>
          <p:nvPr/>
        </p:nvSpPr>
        <p:spPr>
          <a:xfrm>
            <a:off x="6263640" y="3017520"/>
            <a:ext cx="5376672" cy="1674167"/>
          </a:xfrm>
          <a:prstGeom prst="rect">
            <a:avLst/>
          </a:prstGeom>
          <a:solidFill>
            <a:srgbClr val="FFFFFF"/>
          </a:solidFill>
          <a:ln w="9525">
            <a:solidFill>
              <a:srgbClr val="C9CED6"/>
            </a:solidFill>
            <a:prstDash val="solid"/>
          </a:ln>
        </p:spPr>
      </p:sp>
      <p:pic>
        <p:nvPicPr>
          <p:cNvPr id="32" name="Screenshot integ_out.png" descr="Screenshot: integ_out.png">    </p:cNvPr>
          <p:cNvPicPr>
            <a:picLocks noChangeAspect="1"/>
          </p:cNvPicPr>
          <p:nvPr/>
        </p:nvPicPr>
        <p:blipFill>
          <a:blip r:embed="rId2"/>
          <a:stretch>
            <a:fillRect/>
          </a:stretch>
        </p:blipFill>
        <p:spPr>
          <a:xfrm>
            <a:off x="6318504" y="3072384"/>
            <a:ext cx="5266944" cy="1564439"/>
          </a:xfrm>
          <a:prstGeom prst="rect">
            <a:avLst/>
          </a:prstGeom>
        </p:spPr>
      </p:pic>
      <p:sp>
        <p:nvSpPr>
          <p:cNvPr id="33" name="Text 29"/>
          <p:cNvSpPr txBox="1"/>
          <p:nvPr/>
        </p:nvSpPr>
        <p:spPr>
          <a:xfrm>
            <a:off x="6263640" y="4746551"/>
            <a:ext cx="5376672" cy="274320"/>
          </a:xfrm>
          <a:prstGeom prst="rect">
            <a:avLst/>
          </a:prstGeom>
          <a:noFill/>
          <a:ln/>
        </p:spPr>
        <p:txBody>
          <a:bodyPr wrap="square" lIns="0" tIns="0" rIns="0" bIns="0" rtlCol="0" anchor="t"/>
          <a:lstStyle/>
          <a:p>
            <a:pPr indent="0" marL="0">
              <a:buNone/>
            </a:pPr>
            <a:r>
              <a:rPr lang="en-US" sz="1100" i="1" dirty="0">
                <a:solidFill>
                  <a:schemeClr val="accent5"/>
                </a:solidFill>
              </a:rPr>
              <a:t>Notebook: row count checked after every join</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Turning raw data into clues (feature engineering)</a:t>
            </a:r>
            <a:endParaRPr lang="en-US" sz="3400" dirty="0"/>
          </a:p>
        </p:txBody>
      </p:sp>
      <p:graphicFrame>
        <p:nvGraphicFramePr>
          <p:cNvPr id="14" name="Feature table"/>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914400"/>
        </p:xfrm>
        <a:graphic>
          <a:graphicData uri="http://schemas.openxmlformats.org/drawingml/2006/table">
            <a:tbl>
              <a:tblPr/>
              <a:tblGrid>
                <a:gridCol w="2377440"/>
                <a:gridCol w="420624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New column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means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balance_mean / min / last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Average, lowest and latest balance before the loan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balance_std</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How much the balance jumps around</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n_negative_balance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Times the account was overdrawn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n_penalty_interest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Times the bank charged penalty interest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avg_monthly_income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Money coming in per month</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payment_to_balance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Monthly loan payment ÷ average balance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client_age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Age of the borrower on the loan date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n_account_users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 = sole owner, 2 = shared account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crime_rate, unemployment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District conditions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6" name="Screenshot frame features_in.png"/>
          <p:cNvSpPr/>
          <p:nvPr/>
        </p:nvSpPr>
        <p:spPr>
          <a:xfrm>
            <a:off x="7406640" y="1325880"/>
            <a:ext cx="4233672" cy="791575"/>
          </a:xfrm>
          <a:prstGeom prst="rect">
            <a:avLst/>
          </a:prstGeom>
          <a:solidFill>
            <a:srgbClr val="FFFFFF"/>
          </a:solidFill>
          <a:ln w="9525">
            <a:solidFill>
              <a:srgbClr val="C9CED6"/>
            </a:solidFill>
            <a:prstDash val="solid"/>
          </a:ln>
        </p:spPr>
      </p:sp>
      <p:pic>
        <p:nvPicPr>
          <p:cNvPr id="7" name="Screenshot features_in.png" descr="Screenshot: features_in.png">    </p:cNvPr>
          <p:cNvPicPr>
            <a:picLocks noChangeAspect="1"/>
          </p:cNvPicPr>
          <p:nvPr/>
        </p:nvPicPr>
        <p:blipFill>
          <a:blip r:embed="rId1"/>
          <a:stretch>
            <a:fillRect/>
          </a:stretch>
        </p:blipFill>
        <p:spPr>
          <a:xfrm>
            <a:off x="7461504" y="1380744"/>
            <a:ext cx="4123944" cy="681847"/>
          </a:xfrm>
          <a:prstGeom prst="rect">
            <a:avLst/>
          </a:prstGeom>
        </p:spPr>
      </p:pic>
      <p:sp>
        <p:nvSpPr>
          <p:cNvPr id="8" name="Text 4"/>
          <p:cNvSpPr txBox="1"/>
          <p:nvPr/>
        </p:nvSpPr>
        <p:spPr>
          <a:xfrm>
            <a:off x="7406640" y="2172319"/>
            <a:ext cx="4233672" cy="274320"/>
          </a:xfrm>
          <a:prstGeom prst="rect">
            <a:avLst/>
          </a:prstGeom>
          <a:noFill/>
          <a:ln/>
        </p:spPr>
        <p:txBody>
          <a:bodyPr wrap="square" lIns="0" tIns="0" rIns="0" bIns="0" rtlCol="0" anchor="t"/>
          <a:lstStyle/>
          <a:p>
            <a:pPr indent="0" marL="0">
              <a:buNone/>
            </a:pPr>
            <a:r>
              <a:rPr lang="en-US" sz="1100" i="1" dirty="0">
                <a:solidFill>
                  <a:schemeClr val="accent5"/>
                </a:solidFill>
              </a:rPr>
              <a:t>Notebook: creating the new columns</a:t>
            </a:r>
            <a:endParaRPr lang="en-US" sz="1100" dirty="0"/>
          </a:p>
        </p:txBody>
      </p:sp>
      <p:sp>
        <p:nvSpPr>
          <p:cNvPr id="9" name="Why panel"/>
          <p:cNvSpPr/>
          <p:nvPr/>
        </p:nvSpPr>
        <p:spPr>
          <a:xfrm>
            <a:off x="7406640" y="4023360"/>
            <a:ext cx="4233672" cy="2103120"/>
          </a:xfrm>
          <a:prstGeom prst="roundRect">
            <a:avLst>
              <a:gd name="adj" fmla="val 3478"/>
            </a:avLst>
          </a:prstGeom>
          <a:solidFill>
            <a:schemeClr val="bg2"/>
          </a:solidFill>
          <a:ln/>
        </p:spPr>
      </p:sp>
      <p:sp>
        <p:nvSpPr>
          <p:cNvPr id="10" name="Text 6"/>
          <p:cNvSpPr txBox="1"/>
          <p:nvPr/>
        </p:nvSpPr>
        <p:spPr>
          <a:xfrm>
            <a:off x="7635240" y="4160520"/>
            <a:ext cx="3794760" cy="1828800"/>
          </a:xfrm>
          <a:prstGeom prst="rect">
            <a:avLst/>
          </a:prstGeom>
          <a:noFill/>
          <a:ln/>
        </p:spPr>
        <p:txBody>
          <a:bodyPr wrap="square" lIns="0" tIns="0" rIns="0" bIns="0" rtlCol="0" anchor="ctr"/>
          <a:lstStyle/>
          <a:p>
            <a:pPr indent="0" marL="0">
              <a:buNone/>
            </a:pPr>
            <a:r>
              <a:rPr lang="en-US" sz="1500" b="1" dirty="0">
                <a:solidFill>
                  <a:schemeClr val="tx2"/>
                </a:solidFill>
              </a:rPr>
              <a:t>24 inputs in total. </a:t>
            </a:r>
            <a:pPr indent="0" marL="0">
              <a:buNone/>
            </a:pPr>
            <a:r>
              <a:rPr lang="en-US" sz="1500" dirty="0">
                <a:solidFill>
                  <a:schemeClr val="tx1"/>
                </a:solidFill>
              </a:rPr>
              <a:t>Gender, IDs and the Order table were left out on purpose (fairness and leakage).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first twist: only 1 in 9 loans defaulted</a:t>
            </a:r>
            <a:endParaRPr lang="en-US" sz="3400" dirty="0"/>
          </a:p>
        </p:txBody>
      </p:sp>
      <p:sp>
        <p:nvSpPr>
          <p:cNvPr id="5" name="Text 3"/>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400" b="1" dirty="0">
                <a:solidFill>
                  <a:schemeClr val="accent1"/>
                </a:solidFill>
              </a:rPr>
              <a:t>What this shows: </a:t>
            </a:r>
            <a:pPr indent="0" marL="0">
              <a:buNone/>
            </a:pPr>
            <a:r>
              <a:rPr lang="en-US" sz="1400" dirty="0">
                <a:solidFill>
                  <a:schemeClr val="tx1"/>
                </a:solidFill>
              </a:rPr>
              <a:t>every loan has a status code. A and C are good loans; B and D are loans that went bad ("default"). Bars = number of loans.</a:t>
            </a:r>
            <a:endParaRPr lang="en-US" sz="1400" dirty="0"/>
          </a:p>
        </p:txBody>
      </p:sp>
      <p:graphicFrame>
        <p:nvGraphicFramePr>
          <p:cNvPr id="6" name="Status chart" descr=""/>
          <p:cNvGraphicFramePr/>
          <p:nvPr/>
        </p:nvGraphicFramePr>
        <p:xfrm>
          <a:off x="548640" y="1691640"/>
          <a:ext cx="6035040" cy="3520440"/>
        </p:xfrm>
        <a:graphic xmlns:a="http://schemas.openxmlformats.org/drawingml/2006/main">
          <a:graphicData uri="http://schemas.openxmlformats.org/drawingml/2006/chart">
            <c:chart xmlns:c="http://schemas.openxmlformats.org/drawingml/2006/chart" r:id="rId1"/>
          </a:graphicData>
        </a:graphic>
      </p:graphicFrame>
      <p:sp>
        <p:nvSpPr>
          <p:cNvPr id="7" name="Good total"/>
          <p:cNvSpPr/>
          <p:nvPr/>
        </p:nvSpPr>
        <p:spPr>
          <a:xfrm>
            <a:off x="548640" y="5349240"/>
            <a:ext cx="2926080" cy="822960"/>
          </a:xfrm>
          <a:prstGeom prst="roundRect">
            <a:avLst>
              <a:gd name="adj" fmla="val 8889"/>
            </a:avLst>
          </a:prstGeom>
          <a:solidFill>
            <a:srgbClr val="DCE9F9"/>
          </a:solidFill>
          <a:ln/>
        </p:spPr>
      </p:sp>
      <p:sp>
        <p:nvSpPr>
          <p:cNvPr id="8" name="Text 5"/>
          <p:cNvSpPr txBox="1"/>
          <p:nvPr/>
        </p:nvSpPr>
        <p:spPr>
          <a:xfrm>
            <a:off x="731520" y="5349240"/>
            <a:ext cx="2651760" cy="822960"/>
          </a:xfrm>
          <a:prstGeom prst="rect">
            <a:avLst/>
          </a:prstGeom>
          <a:noFill/>
          <a:ln/>
        </p:spPr>
        <p:txBody>
          <a:bodyPr wrap="square" lIns="0" tIns="0" rIns="0" bIns="0" rtlCol="0" anchor="ctr"/>
          <a:lstStyle/>
          <a:p>
            <a:pPr indent="0" marL="0">
              <a:buNone/>
            </a:pPr>
            <a:r>
              <a:rPr lang="en-US" sz="2000" b="1" dirty="0">
                <a:solidFill>
                  <a:schemeClr val="tx2"/>
                </a:solidFill>
              </a:rPr>
              <a:t>606 good </a:t>
            </a:r>
            <a:pPr indent="0" marL="0">
              <a:buNone/>
            </a:pPr>
            <a:r>
              <a:rPr lang="en-US" sz="1400" dirty="0">
                <a:solidFill>
                  <a:schemeClr val="tx1"/>
                </a:solidFill>
              </a:rPr>
              <a:t>(A + C), 89%</a:t>
            </a:r>
            <a:endParaRPr lang="en-US" sz="1400" dirty="0"/>
          </a:p>
        </p:txBody>
      </p:sp>
      <p:sp>
        <p:nvSpPr>
          <p:cNvPr id="9" name="Bad total"/>
          <p:cNvSpPr/>
          <p:nvPr/>
        </p:nvSpPr>
        <p:spPr>
          <a:xfrm>
            <a:off x="3657600" y="5349240"/>
            <a:ext cx="2926080" cy="822960"/>
          </a:xfrm>
          <a:prstGeom prst="roundRect">
            <a:avLst>
              <a:gd name="adj" fmla="val 8889"/>
            </a:avLst>
          </a:prstGeom>
          <a:solidFill>
            <a:srgbClr val="FCE6DC"/>
          </a:solidFill>
          <a:ln/>
        </p:spPr>
      </p:sp>
      <p:sp>
        <p:nvSpPr>
          <p:cNvPr id="10" name="Text 7"/>
          <p:cNvSpPr txBox="1"/>
          <p:nvPr/>
        </p:nvSpPr>
        <p:spPr>
          <a:xfrm>
            <a:off x="3840480" y="5349240"/>
            <a:ext cx="2651760" cy="822960"/>
          </a:xfrm>
          <a:prstGeom prst="rect">
            <a:avLst/>
          </a:prstGeom>
          <a:noFill/>
          <a:ln/>
        </p:spPr>
        <p:txBody>
          <a:bodyPr wrap="square" lIns="0" tIns="0" rIns="0" bIns="0" rtlCol="0" anchor="ctr"/>
          <a:lstStyle/>
          <a:p>
            <a:pPr indent="0" marL="0">
              <a:buNone/>
            </a:pPr>
            <a:r>
              <a:rPr lang="en-US" sz="2000" b="1" dirty="0">
                <a:solidFill>
                  <a:schemeClr val="accent1"/>
                </a:solidFill>
              </a:rPr>
              <a:t>76 went bad </a:t>
            </a:r>
            <a:pPr indent="0" marL="0">
              <a:buNone/>
            </a:pPr>
            <a:r>
              <a:rPr lang="en-US" sz="1400" dirty="0">
                <a:solidFill>
                  <a:schemeClr val="tx1"/>
                </a:solidFill>
              </a:rPr>
              <a:t>(B + D), 11%</a:t>
            </a:r>
            <a:endParaRPr lang="en-US" sz="1400" dirty="0"/>
          </a:p>
        </p:txBody>
      </p:sp>
      <p:sp>
        <p:nvSpPr>
          <p:cNvPr id="11" name="Trap panel"/>
          <p:cNvSpPr/>
          <p:nvPr/>
        </p:nvSpPr>
        <p:spPr>
          <a:xfrm>
            <a:off x="7040880" y="1691640"/>
            <a:ext cx="4599432" cy="4480560"/>
          </a:xfrm>
          <a:prstGeom prst="roundRect">
            <a:avLst>
              <a:gd name="adj" fmla="val 1633"/>
            </a:avLst>
          </a:prstGeom>
          <a:solidFill>
            <a:srgbClr val="16243A"/>
          </a:solidFill>
          <a:ln/>
        </p:spPr>
      </p:sp>
      <p:sp>
        <p:nvSpPr>
          <p:cNvPr id="12" name="Trap circle"/>
          <p:cNvSpPr/>
          <p:nvPr/>
        </p:nvSpPr>
        <p:spPr>
          <a:xfrm>
            <a:off x="7315200" y="1874520"/>
            <a:ext cx="594360" cy="594360"/>
          </a:xfrm>
          <a:prstGeom prst="ellipse">
            <a:avLst/>
          </a:prstGeom>
          <a:solidFill>
            <a:srgbClr val="E8622C"/>
          </a:solidFill>
          <a:ln/>
        </p:spPr>
      </p:sp>
      <p:pic>
        <p:nvPicPr>
          <p:cNvPr id="13" name="Trap icon" descr="preencoded.png">    </p:cNvPr>
          <p:cNvPicPr>
            <a:picLocks noChangeAspect="1"/>
          </p:cNvPicPr>
          <p:nvPr/>
        </p:nvPicPr>
        <p:blipFill>
          <a:blip r:embed="rId2"/>
          <a:stretch>
            <a:fillRect/>
          </a:stretch>
        </p:blipFill>
        <p:spPr>
          <a:xfrm>
            <a:off x="7475677" y="2034997"/>
            <a:ext cx="273406" cy="273406"/>
          </a:xfrm>
          <a:prstGeom prst="rect">
            <a:avLst/>
          </a:prstGeom>
        </p:spPr>
      </p:pic>
      <p:sp>
        <p:nvSpPr>
          <p:cNvPr id="14" name="Text 10"/>
          <p:cNvSpPr txBox="1"/>
          <p:nvPr/>
        </p:nvSpPr>
        <p:spPr>
          <a:xfrm>
            <a:off x="8092440" y="1874520"/>
            <a:ext cx="3383280" cy="5943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Why this is a trap</a:t>
            </a:r>
            <a:endParaRPr lang="en-US" sz="2000" dirty="0"/>
          </a:p>
        </p:txBody>
      </p:sp>
      <p:sp>
        <p:nvSpPr>
          <p:cNvPr id="15" name="Text 11"/>
          <p:cNvSpPr txBox="1"/>
          <p:nvPr/>
        </p:nvSpPr>
        <p:spPr>
          <a:xfrm>
            <a:off x="7315200" y="2606040"/>
            <a:ext cx="4114800" cy="3474720"/>
          </a:xfrm>
          <a:prstGeom prst="rect">
            <a:avLst/>
          </a:prstGeom>
          <a:noFill/>
          <a:ln/>
        </p:spPr>
        <p:txBody>
          <a:bodyPr wrap="square" lIns="0" tIns="0" rIns="0" bIns="0" rtlCol="0" anchor="t"/>
          <a:lstStyle/>
          <a:p>
            <a:pPr indent="0" marL="0">
              <a:spcAft>
                <a:spcPts val="200"/>
              </a:spcAft>
              <a:buNone/>
            </a:pPr>
            <a:r>
              <a:rPr lang="en-US" sz="1400" dirty="0">
                <a:solidFill>
                  <a:schemeClr val="bg1"/>
                </a:solidFill>
              </a:rPr>
              <a:t>Imagine a lazy model that says "will repay" to all 682 loans.</a:t>
            </a:r>
            <a:endParaRPr lang="en-US" sz="1400" dirty="0"/>
          </a:p>
          <a:p>
            <a:pPr indent="0" marL="0">
              <a:spcAft>
                <a:spcPts val="200"/>
              </a:spcAft>
              <a:buNone/>
            </a:pPr>
            <a:r>
              <a:rPr lang="en-US" sz="800" dirty="0">
                <a:solidFill>
                  <a:schemeClr val="bg1"/>
                </a:solidFill>
              </a:rPr>
              <a:t> </a:t>
            </a:r>
            <a:endParaRPr lang="en-US" sz="1400" dirty="0"/>
          </a:p>
          <a:p>
            <a:pPr indent="0" marL="0">
              <a:spcAft>
                <a:spcPts val="200"/>
              </a:spcAft>
              <a:buNone/>
            </a:pPr>
            <a:r>
              <a:rPr lang="en-US" sz="1400" dirty="0">
                <a:solidFill>
                  <a:schemeClr val="bg1"/>
                </a:solidFill>
              </a:rPr>
              <a:t>It is right 606 times: </a:t>
            </a:r>
            <a:pPr indent="0" marL="0">
              <a:spcAft>
                <a:spcPts val="200"/>
              </a:spcAft>
              <a:buNone/>
            </a:pPr>
            <a:r>
              <a:rPr lang="en-US" sz="1400" b="1" dirty="0">
                <a:solidFill>
                  <a:schemeClr val="accent1"/>
                </a:solidFill>
              </a:rPr>
              <a:t>89% accurate!</a:t>
            </a:r>
            <a:endParaRPr lang="en-US" sz="1400" dirty="0"/>
          </a:p>
          <a:p>
            <a:pPr indent="0" marL="0">
              <a:spcAft>
                <a:spcPts val="200"/>
              </a:spcAft>
              <a:buNone/>
            </a:pPr>
            <a:r>
              <a:rPr lang="en-US" sz="1400" dirty="0">
                <a:solidFill>
                  <a:schemeClr val="bg1"/>
                </a:solidFill>
              </a:rPr>
              <a:t>But it catches </a:t>
            </a:r>
            <a:pPr indent="0" marL="0">
              <a:spcAft>
                <a:spcPts val="200"/>
              </a:spcAft>
              <a:buNone/>
            </a:pPr>
            <a:r>
              <a:rPr lang="en-US" sz="1400" b="1" dirty="0">
                <a:solidFill>
                  <a:schemeClr val="accent1"/>
                </a:solidFill>
              </a:rPr>
              <a:t>0 of the 76</a:t>
            </a:r>
            <a:pPr indent="0" marL="0">
              <a:spcAft>
                <a:spcPts val="200"/>
              </a:spcAft>
              <a:buNone/>
            </a:pPr>
            <a:r>
              <a:rPr lang="en-US" sz="1400" dirty="0">
                <a:solidFill>
                  <a:schemeClr val="bg1"/>
                </a:solidFill>
              </a:rPr>
              <a:t> bad loans, so it is useless.</a:t>
            </a:r>
            <a:endParaRPr lang="en-US" sz="1400" dirty="0"/>
          </a:p>
          <a:p>
            <a:pPr indent="0" marL="0">
              <a:spcAft>
                <a:spcPts val="200"/>
              </a:spcAft>
              <a:buNone/>
            </a:pPr>
            <a:r>
              <a:rPr lang="en-US" sz="800" dirty="0">
                <a:solidFill>
                  <a:schemeClr val="bg1"/>
                </a:solidFill>
              </a:rPr>
              <a:t> </a:t>
            </a:r>
            <a:endParaRPr lang="en-US" sz="1400" dirty="0"/>
          </a:p>
          <a:p>
            <a:pPr indent="0" marL="0">
              <a:spcAft>
                <a:spcPts val="200"/>
              </a:spcAft>
              <a:buNone/>
            </a:pPr>
            <a:r>
              <a:rPr lang="en-US" sz="1400" b="1" dirty="0">
                <a:solidFill>
                  <a:schemeClr val="bg1"/>
                </a:solidFill>
              </a:rPr>
              <a:t>So accuracy alone can't be trusted here. I judge the model on:</a:t>
            </a:r>
            <a:endParaRPr lang="en-US" sz="1400" dirty="0"/>
          </a:p>
          <a:p>
            <a:pPr marL="342900" indent="-342900">
              <a:spcAft>
                <a:spcPts val="200"/>
              </a:spcAft>
              <a:buSzPct val="100000"/>
              <a:buChar char="•"/>
            </a:pPr>
            <a:r>
              <a:rPr lang="en-US" sz="1400" dirty="0">
                <a:solidFill>
                  <a:schemeClr val="bg1"/>
                </a:solidFill>
              </a:rPr>
              <a:t>Recall: how many bad loans it catches</a:t>
            </a:r>
            <a:endParaRPr lang="en-US" sz="1400" dirty="0"/>
          </a:p>
          <a:p>
            <a:pPr marL="342900" indent="-342900">
              <a:spcAft>
                <a:spcPts val="200"/>
              </a:spcAft>
              <a:buSzPct val="100000"/>
              <a:buChar char="•"/>
            </a:pPr>
            <a:r>
              <a:rPr lang="en-US" sz="1400" dirty="0">
                <a:solidFill>
                  <a:schemeClr val="bg1"/>
                </a:solidFill>
              </a:rPr>
              <a:t>Precision: how many of its warnings are right</a:t>
            </a:r>
            <a:endParaRPr lang="en-US" sz="1400" dirty="0"/>
          </a:p>
          <a:p>
            <a:pPr marL="342900" indent="-342900">
              <a:spcAft>
                <a:spcPts val="200"/>
              </a:spcAft>
              <a:buSzPct val="100000"/>
              <a:buChar char="•"/>
            </a:pPr>
            <a:r>
              <a:rPr lang="en-US" sz="1400" dirty="0">
                <a:solidFill>
                  <a:schemeClr val="bg1"/>
                </a:solidFill>
              </a:rPr>
              <a:t>F1: the balance of the two (main score)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2 · THE CLUES IN THE DATA</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big clue: how customers run their account</a:t>
            </a:r>
            <a:endParaRPr lang="en-US" sz="3400" dirty="0"/>
          </a:p>
        </p:txBody>
      </p:sp>
      <p:sp>
        <p:nvSpPr>
          <p:cNvPr id="5" name="Text 3"/>
          <p:cNvSpPr txBox="1"/>
          <p:nvPr/>
        </p:nvSpPr>
        <p:spPr>
          <a:xfrm>
            <a:off x="548640" y="1188720"/>
            <a:ext cx="11094415" cy="502920"/>
          </a:xfrm>
          <a:prstGeom prst="rect">
            <a:avLst/>
          </a:prstGeom>
          <a:noFill/>
          <a:ln/>
        </p:spPr>
        <p:txBody>
          <a:bodyPr wrap="square" lIns="0" tIns="0" rIns="0" bIns="0" rtlCol="0" anchor="ctr"/>
          <a:lstStyle/>
          <a:p>
            <a:pPr indent="0" marL="0">
              <a:buNone/>
            </a:pPr>
            <a:r>
              <a:rPr lang="en-US" sz="1400" b="1" dirty="0">
                <a:solidFill>
                  <a:schemeClr val="accent1"/>
                </a:solidFill>
              </a:rPr>
              <a:t>The question: </a:t>
            </a:r>
            <a:pPr indent="0" marL="0">
              <a:buNone/>
            </a:pPr>
            <a:r>
              <a:rPr lang="en-US" sz="1400" dirty="0">
                <a:solidFill>
                  <a:schemeClr val="tx1"/>
                </a:solidFill>
              </a:rPr>
              <a:t>does the way a customer runs their bank account before the loan predict who will default?  </a:t>
            </a:r>
            <a:pPr indent="0" marL="0">
              <a:buNone/>
            </a:pPr>
            <a:r>
              <a:rPr lang="en-US" sz="1400" b="1" dirty="0">
                <a:solidFill>
                  <a:schemeClr val="accent1"/>
                </a:solidFill>
              </a:rPr>
              <a:t>How to read: </a:t>
            </a:r>
            <a:pPr indent="0" marL="0">
              <a:buNone/>
            </a:pPr>
            <a:r>
              <a:rPr lang="en-US" sz="1400" dirty="0">
                <a:solidFill>
                  <a:schemeClr val="tx1"/>
                </a:solidFill>
              </a:rPr>
              <a:t>each bar = % of loans in that group that went bad. Overall: 11% (1 in 9).</a:t>
            </a:r>
            <a:endParaRPr lang="en-US" sz="1400" dirty="0"/>
          </a:p>
        </p:txBody>
      </p:sp>
      <p:graphicFrame>
        <p:nvGraphicFramePr>
          <p:cNvPr id="6" name="Chart Overdrawn before the loan?" descr=""/>
          <p:cNvGraphicFramePr/>
          <p:nvPr/>
        </p:nvGraphicFramePr>
        <p:xfrm>
          <a:off x="548640" y="1737360"/>
          <a:ext cx="265176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Penalty interest charged?" descr=""/>
          <p:cNvGraphicFramePr/>
          <p:nvPr/>
        </p:nvGraphicFramePr>
        <p:xfrm>
          <a:off x="3364992" y="1737360"/>
          <a:ext cx="2651760" cy="278892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Payment vs usual balance" descr=""/>
          <p:cNvGraphicFramePr/>
          <p:nvPr/>
        </p:nvGraphicFramePr>
        <p:xfrm>
          <a:off x="6181344" y="1737360"/>
          <a:ext cx="2651760" cy="2788920"/>
        </p:xfrm>
        <a:graphic xmlns:a="http://schemas.openxmlformats.org/drawingml/2006/main">
          <a:graphicData uri="http://schemas.openxmlformats.org/drawingml/2006/chart">
            <c:chart xmlns:c="http://schemas.openxmlformats.org/drawingml/2006/chart" r:id="rId3"/>
          </a:graphicData>
        </a:graphic>
      </p:graphicFrame>
      <p:graphicFrame>
        <p:nvGraphicFramePr>
          <p:cNvPr id="9" name="Chart People on the account" descr=""/>
          <p:cNvGraphicFramePr/>
          <p:nvPr/>
        </p:nvGraphicFramePr>
        <p:xfrm>
          <a:off x="8997696" y="1737360"/>
          <a:ext cx="2651760" cy="2788920"/>
        </p:xfrm>
        <a:graphic xmlns:a="http://schemas.openxmlformats.org/drawingml/2006/main">
          <a:graphicData uri="http://schemas.openxmlformats.org/drawingml/2006/chart">
            <c:chart xmlns:c="http://schemas.openxmlformats.org/drawingml/2006/chart" r:id="rId4"/>
          </a:graphicData>
        </a:graphic>
      </p:graphicFrame>
      <p:sp>
        <p:nvSpPr>
          <p:cNvPr id="10" name="Chart note 0"/>
          <p:cNvSpPr/>
          <p:nvPr/>
        </p:nvSpPr>
        <p:spPr>
          <a:xfrm>
            <a:off x="548640" y="4617720"/>
            <a:ext cx="2651760" cy="960120"/>
          </a:xfrm>
          <a:prstGeom prst="roundRect">
            <a:avLst>
              <a:gd name="adj" fmla="val 7619"/>
            </a:avLst>
          </a:prstGeom>
          <a:solidFill>
            <a:srgbClr val="FCE6DC"/>
          </a:solidFill>
          <a:ln/>
        </p:spPr>
      </p:sp>
      <p:sp>
        <p:nvSpPr>
          <p:cNvPr id="11" name="Text 5"/>
          <p:cNvSpPr txBox="1"/>
          <p:nvPr/>
        </p:nvSpPr>
        <p:spPr>
          <a:xfrm>
            <a:off x="685800" y="4663440"/>
            <a:ext cx="2377440" cy="868680"/>
          </a:xfrm>
          <a:prstGeom prst="rect">
            <a:avLst/>
          </a:prstGeom>
          <a:noFill/>
          <a:ln/>
        </p:spPr>
        <p:txBody>
          <a:bodyPr wrap="square" lIns="0" tIns="0" rIns="0" bIns="0" rtlCol="0" anchor="ctr"/>
          <a:lstStyle/>
          <a:p>
            <a:pPr indent="0" marL="0">
              <a:buNone/>
            </a:pPr>
            <a:r>
              <a:rPr lang="en-US" sz="1250" b="1" dirty="0">
                <a:solidFill>
                  <a:schemeClr val="tx2"/>
                </a:solidFill>
              </a:rPr>
              <a:t>Balance went below zero </a:t>
            </a:r>
            <a:pPr indent="0" marL="0">
              <a:buNone/>
            </a:pPr>
            <a:r>
              <a:rPr lang="en-US" sz="1250" dirty="0">
                <a:solidFill>
                  <a:schemeClr val="tx1"/>
                </a:solidFill>
              </a:rPr>
              <a:t>before the loan: all 27 of these loans went bad.</a:t>
            </a:r>
            <a:endParaRPr lang="en-US" sz="1250" dirty="0"/>
          </a:p>
        </p:txBody>
      </p:sp>
      <p:sp>
        <p:nvSpPr>
          <p:cNvPr id="12" name="Chart note 1"/>
          <p:cNvSpPr/>
          <p:nvPr/>
        </p:nvSpPr>
        <p:spPr>
          <a:xfrm>
            <a:off x="3364992" y="4617720"/>
            <a:ext cx="2651760" cy="960120"/>
          </a:xfrm>
          <a:prstGeom prst="roundRect">
            <a:avLst>
              <a:gd name="adj" fmla="val 7619"/>
            </a:avLst>
          </a:prstGeom>
          <a:solidFill>
            <a:srgbClr val="FCE6DC"/>
          </a:solidFill>
          <a:ln/>
        </p:spPr>
      </p:sp>
      <p:sp>
        <p:nvSpPr>
          <p:cNvPr id="13" name="Text 7"/>
          <p:cNvSpPr txBox="1"/>
          <p:nvPr/>
        </p:nvSpPr>
        <p:spPr>
          <a:xfrm>
            <a:off x="3502152" y="4663440"/>
            <a:ext cx="2377440" cy="868680"/>
          </a:xfrm>
          <a:prstGeom prst="rect">
            <a:avLst/>
          </a:prstGeom>
          <a:noFill/>
          <a:ln/>
        </p:spPr>
        <p:txBody>
          <a:bodyPr wrap="square" lIns="0" tIns="0" rIns="0" bIns="0" rtlCol="0" anchor="ctr"/>
          <a:lstStyle/>
          <a:p>
            <a:pPr indent="0" marL="0">
              <a:buNone/>
            </a:pPr>
            <a:r>
              <a:rPr lang="en-US" sz="1250" b="1" dirty="0">
                <a:solidFill>
                  <a:schemeClr val="tx2"/>
                </a:solidFill>
              </a:rPr>
              <a:t>Bank charged a penalty </a:t>
            </a:r>
            <a:pPr indent="0" marL="0">
              <a:buNone/>
            </a:pPr>
            <a:r>
              <a:rPr lang="en-US" sz="1250" dirty="0">
                <a:solidFill>
                  <a:schemeClr val="tx1"/>
                </a:solidFill>
              </a:rPr>
              <a:t>before the loan: 26 of 29 went bad.</a:t>
            </a:r>
            <a:endParaRPr lang="en-US" sz="1250" dirty="0"/>
          </a:p>
        </p:txBody>
      </p:sp>
      <p:sp>
        <p:nvSpPr>
          <p:cNvPr id="14" name="Chart note 2"/>
          <p:cNvSpPr/>
          <p:nvPr/>
        </p:nvSpPr>
        <p:spPr>
          <a:xfrm>
            <a:off x="6181344" y="4617720"/>
            <a:ext cx="2651760" cy="960120"/>
          </a:xfrm>
          <a:prstGeom prst="roundRect">
            <a:avLst>
              <a:gd name="adj" fmla="val 7619"/>
            </a:avLst>
          </a:prstGeom>
          <a:solidFill>
            <a:srgbClr val="FCE6DC"/>
          </a:solidFill>
          <a:ln/>
        </p:spPr>
      </p:sp>
      <p:sp>
        <p:nvSpPr>
          <p:cNvPr id="15" name="Text 9"/>
          <p:cNvSpPr txBox="1"/>
          <p:nvPr/>
        </p:nvSpPr>
        <p:spPr>
          <a:xfrm>
            <a:off x="6318504" y="4663440"/>
            <a:ext cx="2377440" cy="868680"/>
          </a:xfrm>
          <a:prstGeom prst="rect">
            <a:avLst/>
          </a:prstGeom>
          <a:noFill/>
          <a:ln/>
        </p:spPr>
        <p:txBody>
          <a:bodyPr wrap="square" lIns="0" tIns="0" rIns="0" bIns="0" rtlCol="0" anchor="ctr"/>
          <a:lstStyle/>
          <a:p>
            <a:pPr indent="0" marL="0">
              <a:buNone/>
            </a:pPr>
            <a:r>
              <a:rPr lang="en-US" sz="1250" b="1" dirty="0">
                <a:solidFill>
                  <a:schemeClr val="tx2"/>
                </a:solidFill>
              </a:rPr>
              <a:t>Payment too big for the balance: </a:t>
            </a:r>
            <a:pPr indent="0" marL="0">
              <a:buNone/>
            </a:pPr>
            <a:r>
              <a:rPr lang="en-US" sz="1250" dirty="0">
                <a:solidFill>
                  <a:schemeClr val="tx1"/>
                </a:solidFill>
              </a:rPr>
              <a:t>23% went bad vs 3% when it was small (8× more).</a:t>
            </a:r>
            <a:endParaRPr lang="en-US" sz="1250" dirty="0"/>
          </a:p>
        </p:txBody>
      </p:sp>
      <p:sp>
        <p:nvSpPr>
          <p:cNvPr id="16" name="Chart note 3"/>
          <p:cNvSpPr/>
          <p:nvPr/>
        </p:nvSpPr>
        <p:spPr>
          <a:xfrm>
            <a:off x="8997696" y="4617720"/>
            <a:ext cx="2651760" cy="960120"/>
          </a:xfrm>
          <a:prstGeom prst="roundRect">
            <a:avLst>
              <a:gd name="adj" fmla="val 7619"/>
            </a:avLst>
          </a:prstGeom>
          <a:solidFill>
            <a:srgbClr val="DCE9F9"/>
          </a:solidFill>
          <a:ln/>
        </p:spPr>
      </p:sp>
      <p:sp>
        <p:nvSpPr>
          <p:cNvPr id="17" name="Text 11"/>
          <p:cNvSpPr txBox="1"/>
          <p:nvPr/>
        </p:nvSpPr>
        <p:spPr>
          <a:xfrm>
            <a:off x="9134856" y="4663440"/>
            <a:ext cx="2377440" cy="868680"/>
          </a:xfrm>
          <a:prstGeom prst="rect">
            <a:avLst/>
          </a:prstGeom>
          <a:noFill/>
          <a:ln/>
        </p:spPr>
        <p:txBody>
          <a:bodyPr wrap="square" lIns="0" tIns="0" rIns="0" bIns="0" rtlCol="0" anchor="ctr"/>
          <a:lstStyle/>
          <a:p>
            <a:pPr indent="0" marL="0">
              <a:buNone/>
            </a:pPr>
            <a:r>
              <a:rPr lang="en-US" sz="1250" b="1" dirty="0">
                <a:solidFill>
                  <a:schemeClr val="tx2"/>
                </a:solidFill>
              </a:rPr>
              <a:t>Shared account (2 people): </a:t>
            </a:r>
            <a:pPr indent="0" marL="0">
              <a:buNone/>
            </a:pPr>
            <a:r>
              <a:rPr lang="en-US" sz="1250" dirty="0">
                <a:solidFill>
                  <a:schemeClr val="tx1"/>
                </a:solidFill>
              </a:rPr>
              <a:t>none of 145 went bad. Single owner: 14%.</a:t>
            </a:r>
            <a:endParaRPr lang="en-US" sz="1250" dirty="0"/>
          </a:p>
        </p:txBody>
      </p:sp>
      <p:sp>
        <p:nvSpPr>
          <p:cNvPr id="18" name="Behaviour takeaway"/>
          <p:cNvSpPr/>
          <p:nvPr/>
        </p:nvSpPr>
        <p:spPr>
          <a:xfrm>
            <a:off x="548640" y="5669280"/>
            <a:ext cx="11094415" cy="502920"/>
          </a:xfrm>
          <a:prstGeom prst="roundRect">
            <a:avLst>
              <a:gd name="adj" fmla="val 14545"/>
            </a:avLst>
          </a:prstGeom>
          <a:solidFill>
            <a:srgbClr val="16243A"/>
          </a:solidFill>
          <a:ln/>
        </p:spPr>
      </p:sp>
      <p:sp>
        <p:nvSpPr>
          <p:cNvPr id="19" name="Text 13"/>
          <p:cNvSpPr txBox="1"/>
          <p:nvPr/>
        </p:nvSpPr>
        <p:spPr>
          <a:xfrm>
            <a:off x="822960" y="5669280"/>
            <a:ext cx="10545775" cy="502920"/>
          </a:xfrm>
          <a:prstGeom prst="rect">
            <a:avLst/>
          </a:prstGeom>
          <a:noFill/>
          <a:ln/>
        </p:spPr>
        <p:txBody>
          <a:bodyPr wrap="square" lIns="0" tIns="0" rIns="0" bIns="0" rtlCol="0" anchor="ctr"/>
          <a:lstStyle/>
          <a:p>
            <a:pPr indent="0" marL="0">
              <a:buNone/>
            </a:pPr>
            <a:r>
              <a:rPr lang="en-US" sz="1400" b="1" dirty="0">
                <a:solidFill>
                  <a:schemeClr val="accent1"/>
                </a:solidFill>
              </a:rPr>
              <a:t>So: </a:t>
            </a:r>
            <a:pPr indent="0" marL="0">
              <a:buNone/>
            </a:pPr>
            <a:r>
              <a:rPr lang="en-US" sz="1400" dirty="0">
                <a:solidFill>
                  <a:schemeClr val="bg1"/>
                </a:solidFill>
              </a:rPr>
              <a:t>customers who struggle to keep money in their account struggle to repay a loan. These are the clues the model learns from.</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3 · THE SOLUTION</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Building the solution in 6 steps</a:t>
            </a:r>
            <a:endParaRPr lang="en-US" sz="3400" dirty="0"/>
          </a:p>
        </p:txBody>
      </p:sp>
      <p:sp>
        <p:nvSpPr>
          <p:cNvPr id="5" name="Flow card 0"/>
          <p:cNvSpPr/>
          <p:nvPr/>
        </p:nvSpPr>
        <p:spPr>
          <a:xfrm>
            <a:off x="548640" y="1463040"/>
            <a:ext cx="1673352" cy="3657600"/>
          </a:xfrm>
          <a:prstGeom prst="roundRect">
            <a:avLst>
              <a:gd name="adj" fmla="val 4372"/>
            </a:avLst>
          </a:prstGeom>
          <a:solidFill>
            <a:schemeClr val="bg2"/>
          </a:solidFill>
          <a:ln/>
        </p:spPr>
      </p:sp>
      <p:sp>
        <p:nvSpPr>
          <p:cNvPr id="6" name="Flow 0 circle"/>
          <p:cNvSpPr/>
          <p:nvPr/>
        </p:nvSpPr>
        <p:spPr>
          <a:xfrm>
            <a:off x="1019556" y="1737360"/>
            <a:ext cx="731520" cy="731520"/>
          </a:xfrm>
          <a:prstGeom prst="ellipse">
            <a:avLst/>
          </a:prstGeom>
          <a:solidFill>
            <a:srgbClr val="16243A"/>
          </a:solidFill>
          <a:ln/>
        </p:spPr>
      </p:sp>
      <p:pic>
        <p:nvPicPr>
          <p:cNvPr id="7" name="Flow 0 icon" descr="preencoded.png">    </p:cNvPr>
          <p:cNvPicPr>
            <a:picLocks noChangeAspect="1"/>
          </p:cNvPicPr>
          <p:nvPr/>
        </p:nvPicPr>
        <p:blipFill>
          <a:blip r:embed="rId1"/>
          <a:stretch>
            <a:fillRect/>
          </a:stretch>
        </p:blipFill>
        <p:spPr>
          <a:xfrm>
            <a:off x="1217066" y="1934870"/>
            <a:ext cx="336499" cy="336499"/>
          </a:xfrm>
          <a:prstGeom prst="rect">
            <a:avLst/>
          </a:prstGeom>
        </p:spPr>
      </p:pic>
      <p:sp>
        <p:nvSpPr>
          <p:cNvPr id="8" name="Text 5"/>
          <p:cNvSpPr txBox="1"/>
          <p:nvPr/>
        </p:nvSpPr>
        <p:spPr>
          <a:xfrm>
            <a:off x="685800" y="2697480"/>
            <a:ext cx="1399032" cy="457200"/>
          </a:xfrm>
          <a:prstGeom prst="rect">
            <a:avLst/>
          </a:prstGeom>
          <a:noFill/>
          <a:ln/>
        </p:spPr>
        <p:txBody>
          <a:bodyPr wrap="square" lIns="0" tIns="0" rIns="0" bIns="0" rtlCol="0" anchor="t"/>
          <a:lstStyle/>
          <a:p>
            <a:pPr algn="ctr" indent="0" marL="0">
              <a:buNone/>
            </a:pPr>
            <a:r>
              <a:rPr lang="en-US" sz="1800" b="1" dirty="0">
                <a:solidFill>
                  <a:schemeClr val="tx2"/>
                </a:solidFill>
              </a:rPr>
              <a:t>Split</a:t>
            </a:r>
            <a:endParaRPr lang="en-US" sz="1800" dirty="0"/>
          </a:p>
        </p:txBody>
      </p:sp>
      <p:sp>
        <p:nvSpPr>
          <p:cNvPr id="9" name="Text 6"/>
          <p:cNvSpPr txBox="1"/>
          <p:nvPr/>
        </p:nvSpPr>
        <p:spPr>
          <a:xfrm>
            <a:off x="731520" y="3246120"/>
            <a:ext cx="1307592" cy="1737360"/>
          </a:xfrm>
          <a:prstGeom prst="rect">
            <a:avLst/>
          </a:prstGeom>
          <a:noFill/>
          <a:ln/>
        </p:spPr>
        <p:txBody>
          <a:bodyPr wrap="square" lIns="0" tIns="0" rIns="0" bIns="0" rtlCol="0" anchor="t"/>
          <a:lstStyle/>
          <a:p>
            <a:pPr indent="0" marL="0">
              <a:buNone/>
            </a:pPr>
            <a:r>
              <a:rPr lang="en-US" sz="1400" dirty="0">
                <a:solidFill>
                  <a:schemeClr val="tx1"/>
                </a:solidFill>
              </a:rPr>
              <a:t>Hide 137 loans (20%) for the final exam; learn from the other 545</a:t>
            </a:r>
            <a:endParaRPr lang="en-US" sz="1400" dirty="0"/>
          </a:p>
        </p:txBody>
      </p:sp>
      <p:sp>
        <p:nvSpPr>
          <p:cNvPr id="10" name="Flow card 1"/>
          <p:cNvSpPr/>
          <p:nvPr/>
        </p:nvSpPr>
        <p:spPr>
          <a:xfrm>
            <a:off x="2432304" y="1463040"/>
            <a:ext cx="1673352" cy="3657600"/>
          </a:xfrm>
          <a:prstGeom prst="roundRect">
            <a:avLst>
              <a:gd name="adj" fmla="val 4372"/>
            </a:avLst>
          </a:prstGeom>
          <a:solidFill>
            <a:schemeClr val="bg2"/>
          </a:solidFill>
          <a:ln/>
        </p:spPr>
      </p:sp>
      <p:sp>
        <p:nvSpPr>
          <p:cNvPr id="11" name="Flow 1 circle"/>
          <p:cNvSpPr/>
          <p:nvPr/>
        </p:nvSpPr>
        <p:spPr>
          <a:xfrm>
            <a:off x="2903220" y="1737360"/>
            <a:ext cx="731520" cy="731520"/>
          </a:xfrm>
          <a:prstGeom prst="ellipse">
            <a:avLst/>
          </a:prstGeom>
          <a:solidFill>
            <a:srgbClr val="16243A"/>
          </a:solidFill>
          <a:ln/>
        </p:spPr>
      </p:sp>
      <p:pic>
        <p:nvPicPr>
          <p:cNvPr id="12" name="Flow 1 icon" descr="preencoded.png">    </p:cNvPr>
          <p:cNvPicPr>
            <a:picLocks noChangeAspect="1"/>
          </p:cNvPicPr>
          <p:nvPr/>
        </p:nvPicPr>
        <p:blipFill>
          <a:blip r:embed="rId2"/>
          <a:stretch>
            <a:fillRect/>
          </a:stretch>
        </p:blipFill>
        <p:spPr>
          <a:xfrm>
            <a:off x="3100730" y="1934870"/>
            <a:ext cx="336499" cy="336499"/>
          </a:xfrm>
          <a:prstGeom prst="rect">
            <a:avLst/>
          </a:prstGeom>
        </p:spPr>
      </p:pic>
      <p:sp>
        <p:nvSpPr>
          <p:cNvPr id="13" name="Text 9"/>
          <p:cNvSpPr txBox="1"/>
          <p:nvPr/>
        </p:nvSpPr>
        <p:spPr>
          <a:xfrm>
            <a:off x="2569464" y="2697480"/>
            <a:ext cx="1399032" cy="457200"/>
          </a:xfrm>
          <a:prstGeom prst="rect">
            <a:avLst/>
          </a:prstGeom>
          <a:noFill/>
          <a:ln/>
        </p:spPr>
        <p:txBody>
          <a:bodyPr wrap="square" lIns="0" tIns="0" rIns="0" bIns="0" rtlCol="0" anchor="t"/>
          <a:lstStyle/>
          <a:p>
            <a:pPr algn="ctr" indent="0" marL="0">
              <a:buNone/>
            </a:pPr>
            <a:r>
              <a:rPr lang="en-US" sz="1800" b="1" dirty="0">
                <a:solidFill>
                  <a:schemeClr val="tx2"/>
                </a:solidFill>
              </a:rPr>
              <a:t>Prepare</a:t>
            </a:r>
            <a:endParaRPr lang="en-US" sz="1800" dirty="0"/>
          </a:p>
        </p:txBody>
      </p:sp>
      <p:sp>
        <p:nvSpPr>
          <p:cNvPr id="14" name="Text 10"/>
          <p:cNvSpPr txBox="1"/>
          <p:nvPr/>
        </p:nvSpPr>
        <p:spPr>
          <a:xfrm>
            <a:off x="2615184" y="3246120"/>
            <a:ext cx="1307592" cy="1737360"/>
          </a:xfrm>
          <a:prstGeom prst="rect">
            <a:avLst/>
          </a:prstGeom>
          <a:noFill/>
          <a:ln/>
        </p:spPr>
        <p:txBody>
          <a:bodyPr wrap="square" lIns="0" tIns="0" rIns="0" bIns="0" rtlCol="0" anchor="t"/>
          <a:lstStyle/>
          <a:p>
            <a:pPr indent="0" marL="0">
              <a:buNone/>
            </a:pPr>
            <a:r>
              <a:rPr lang="en-US" sz="1400" dirty="0">
                <a:solidFill>
                  <a:schemeClr val="tx1"/>
                </a:solidFill>
              </a:rPr>
              <a:t>Turn text into numbers and put all numbers on a similar scale</a:t>
            </a:r>
            <a:endParaRPr lang="en-US" sz="1400" dirty="0"/>
          </a:p>
        </p:txBody>
      </p:sp>
      <p:sp>
        <p:nvSpPr>
          <p:cNvPr id="15" name="Flow card 2"/>
          <p:cNvSpPr/>
          <p:nvPr/>
        </p:nvSpPr>
        <p:spPr>
          <a:xfrm>
            <a:off x="4315968" y="1463040"/>
            <a:ext cx="1673352" cy="3657600"/>
          </a:xfrm>
          <a:prstGeom prst="roundRect">
            <a:avLst>
              <a:gd name="adj" fmla="val 4372"/>
            </a:avLst>
          </a:prstGeom>
          <a:solidFill>
            <a:schemeClr val="bg2"/>
          </a:solidFill>
          <a:ln/>
        </p:spPr>
      </p:sp>
      <p:sp>
        <p:nvSpPr>
          <p:cNvPr id="16" name="Flow 2 circle"/>
          <p:cNvSpPr/>
          <p:nvPr/>
        </p:nvSpPr>
        <p:spPr>
          <a:xfrm>
            <a:off x="4786884" y="1737360"/>
            <a:ext cx="731520" cy="731520"/>
          </a:xfrm>
          <a:prstGeom prst="ellipse">
            <a:avLst/>
          </a:prstGeom>
          <a:solidFill>
            <a:srgbClr val="16243A"/>
          </a:solidFill>
          <a:ln/>
        </p:spPr>
      </p:sp>
      <p:pic>
        <p:nvPicPr>
          <p:cNvPr id="17" name="Flow 2 icon" descr="preencoded.png">    </p:cNvPr>
          <p:cNvPicPr>
            <a:picLocks noChangeAspect="1"/>
          </p:cNvPicPr>
          <p:nvPr/>
        </p:nvPicPr>
        <p:blipFill>
          <a:blip r:embed="rId3"/>
          <a:stretch>
            <a:fillRect/>
          </a:stretch>
        </p:blipFill>
        <p:spPr>
          <a:xfrm>
            <a:off x="4984394" y="1934870"/>
            <a:ext cx="336499" cy="336499"/>
          </a:xfrm>
          <a:prstGeom prst="rect">
            <a:avLst/>
          </a:prstGeom>
        </p:spPr>
      </p:pic>
      <p:sp>
        <p:nvSpPr>
          <p:cNvPr id="18" name="Text 13"/>
          <p:cNvSpPr txBox="1"/>
          <p:nvPr/>
        </p:nvSpPr>
        <p:spPr>
          <a:xfrm>
            <a:off x="4453128" y="2697480"/>
            <a:ext cx="1399032" cy="457200"/>
          </a:xfrm>
          <a:prstGeom prst="rect">
            <a:avLst/>
          </a:prstGeom>
          <a:noFill/>
          <a:ln/>
        </p:spPr>
        <p:txBody>
          <a:bodyPr wrap="square" lIns="0" tIns="0" rIns="0" bIns="0" rtlCol="0" anchor="t"/>
          <a:lstStyle/>
          <a:p>
            <a:pPr algn="ctr" indent="0" marL="0">
              <a:buNone/>
            </a:pPr>
            <a:r>
              <a:rPr lang="en-US" sz="1800" b="1" dirty="0">
                <a:solidFill>
                  <a:schemeClr val="tx2"/>
                </a:solidFill>
              </a:rPr>
              <a:t>5 models</a:t>
            </a:r>
            <a:endParaRPr lang="en-US" sz="1800" dirty="0"/>
          </a:p>
        </p:txBody>
      </p:sp>
      <p:sp>
        <p:nvSpPr>
          <p:cNvPr id="19" name="Text 14"/>
          <p:cNvSpPr txBox="1"/>
          <p:nvPr/>
        </p:nvSpPr>
        <p:spPr>
          <a:xfrm>
            <a:off x="4498848" y="3246120"/>
            <a:ext cx="1307592" cy="1737360"/>
          </a:xfrm>
          <a:prstGeom prst="rect">
            <a:avLst/>
          </a:prstGeom>
          <a:noFill/>
          <a:ln/>
        </p:spPr>
        <p:txBody>
          <a:bodyPr wrap="square" lIns="0" tIns="0" rIns="0" bIns="0" rtlCol="0" anchor="t"/>
          <a:lstStyle/>
          <a:p>
            <a:pPr indent="0" marL="0">
              <a:buNone/>
            </a:pPr>
            <a:r>
              <a:rPr lang="en-US" sz="1400" dirty="0">
                <a:solidFill>
                  <a:schemeClr val="tx1"/>
                </a:solidFill>
              </a:rPr>
              <a:t>From a simple guess up to a forest of decision trees</a:t>
            </a:r>
            <a:endParaRPr lang="en-US" sz="1400" dirty="0"/>
          </a:p>
        </p:txBody>
      </p:sp>
      <p:sp>
        <p:nvSpPr>
          <p:cNvPr id="20" name="Flow card 3"/>
          <p:cNvSpPr/>
          <p:nvPr/>
        </p:nvSpPr>
        <p:spPr>
          <a:xfrm>
            <a:off x="6199632" y="1463040"/>
            <a:ext cx="1673352" cy="3657600"/>
          </a:xfrm>
          <a:prstGeom prst="roundRect">
            <a:avLst>
              <a:gd name="adj" fmla="val 4372"/>
            </a:avLst>
          </a:prstGeom>
          <a:solidFill>
            <a:schemeClr val="bg2"/>
          </a:solidFill>
          <a:ln/>
        </p:spPr>
      </p:sp>
      <p:sp>
        <p:nvSpPr>
          <p:cNvPr id="21" name="Flow 3 circle"/>
          <p:cNvSpPr/>
          <p:nvPr/>
        </p:nvSpPr>
        <p:spPr>
          <a:xfrm>
            <a:off x="6670548" y="1737360"/>
            <a:ext cx="731520" cy="731520"/>
          </a:xfrm>
          <a:prstGeom prst="ellipse">
            <a:avLst/>
          </a:prstGeom>
          <a:solidFill>
            <a:srgbClr val="16243A"/>
          </a:solidFill>
          <a:ln/>
        </p:spPr>
      </p:sp>
      <p:pic>
        <p:nvPicPr>
          <p:cNvPr id="22" name="Flow 3 icon" descr="preencoded.png">    </p:cNvPr>
          <p:cNvPicPr>
            <a:picLocks noChangeAspect="1"/>
          </p:cNvPicPr>
          <p:nvPr/>
        </p:nvPicPr>
        <p:blipFill>
          <a:blip r:embed="rId4"/>
          <a:stretch>
            <a:fillRect/>
          </a:stretch>
        </p:blipFill>
        <p:spPr>
          <a:xfrm>
            <a:off x="6868058" y="1934870"/>
            <a:ext cx="336499" cy="336499"/>
          </a:xfrm>
          <a:prstGeom prst="rect">
            <a:avLst/>
          </a:prstGeom>
        </p:spPr>
      </p:pic>
      <p:sp>
        <p:nvSpPr>
          <p:cNvPr id="23" name="Text 17"/>
          <p:cNvSpPr txBox="1"/>
          <p:nvPr/>
        </p:nvSpPr>
        <p:spPr>
          <a:xfrm>
            <a:off x="6336792" y="2697480"/>
            <a:ext cx="1399032" cy="457200"/>
          </a:xfrm>
          <a:prstGeom prst="rect">
            <a:avLst/>
          </a:prstGeom>
          <a:noFill/>
          <a:ln/>
        </p:spPr>
        <p:txBody>
          <a:bodyPr wrap="square" lIns="0" tIns="0" rIns="0" bIns="0" rtlCol="0" anchor="t"/>
          <a:lstStyle/>
          <a:p>
            <a:pPr algn="ctr" indent="0" marL="0">
              <a:buNone/>
            </a:pPr>
            <a:r>
              <a:rPr lang="en-US" sz="1800" b="1" dirty="0">
                <a:solidFill>
                  <a:schemeClr val="tx2"/>
                </a:solidFill>
              </a:rPr>
              <a:t>Practise</a:t>
            </a:r>
            <a:endParaRPr lang="en-US" sz="1800" dirty="0"/>
          </a:p>
        </p:txBody>
      </p:sp>
      <p:sp>
        <p:nvSpPr>
          <p:cNvPr id="24" name="Text 18"/>
          <p:cNvSpPr txBox="1"/>
          <p:nvPr/>
        </p:nvSpPr>
        <p:spPr>
          <a:xfrm>
            <a:off x="6382512" y="3246120"/>
            <a:ext cx="1307592" cy="1737360"/>
          </a:xfrm>
          <a:prstGeom prst="rect">
            <a:avLst/>
          </a:prstGeom>
          <a:noFill/>
          <a:ln/>
        </p:spPr>
        <p:txBody>
          <a:bodyPr wrap="square" lIns="0" tIns="0" rIns="0" bIns="0" rtlCol="0" anchor="t"/>
          <a:lstStyle/>
          <a:p>
            <a:pPr indent="0" marL="0">
              <a:buNone/>
            </a:pPr>
            <a:r>
              <a:rPr lang="en-US" sz="1400" dirty="0">
                <a:solidFill>
                  <a:schemeClr val="tx1"/>
                </a:solidFill>
              </a:rPr>
              <a:t>5 practice rounds (cross-validation); a missed defaulter counts extra</a:t>
            </a:r>
            <a:endParaRPr lang="en-US" sz="1400" dirty="0"/>
          </a:p>
        </p:txBody>
      </p:sp>
      <p:sp>
        <p:nvSpPr>
          <p:cNvPr id="25" name="Flow card 4"/>
          <p:cNvSpPr/>
          <p:nvPr/>
        </p:nvSpPr>
        <p:spPr>
          <a:xfrm>
            <a:off x="8083296" y="1463040"/>
            <a:ext cx="1673352" cy="3657600"/>
          </a:xfrm>
          <a:prstGeom prst="roundRect">
            <a:avLst>
              <a:gd name="adj" fmla="val 4372"/>
            </a:avLst>
          </a:prstGeom>
          <a:solidFill>
            <a:schemeClr val="bg2"/>
          </a:solidFill>
          <a:ln/>
        </p:spPr>
      </p:sp>
      <p:sp>
        <p:nvSpPr>
          <p:cNvPr id="26" name="Flow 4 circle"/>
          <p:cNvSpPr/>
          <p:nvPr/>
        </p:nvSpPr>
        <p:spPr>
          <a:xfrm>
            <a:off x="8554212" y="1737360"/>
            <a:ext cx="731520" cy="731520"/>
          </a:xfrm>
          <a:prstGeom prst="ellipse">
            <a:avLst/>
          </a:prstGeom>
          <a:solidFill>
            <a:srgbClr val="16243A"/>
          </a:solidFill>
          <a:ln/>
        </p:spPr>
      </p:sp>
      <p:pic>
        <p:nvPicPr>
          <p:cNvPr id="27" name="Flow 4 icon" descr="preencoded.png">    </p:cNvPr>
          <p:cNvPicPr>
            <a:picLocks noChangeAspect="1"/>
          </p:cNvPicPr>
          <p:nvPr/>
        </p:nvPicPr>
        <p:blipFill>
          <a:blip r:embed="rId5"/>
          <a:stretch>
            <a:fillRect/>
          </a:stretch>
        </p:blipFill>
        <p:spPr>
          <a:xfrm>
            <a:off x="8751722" y="1934870"/>
            <a:ext cx="336499" cy="336499"/>
          </a:xfrm>
          <a:prstGeom prst="rect">
            <a:avLst/>
          </a:prstGeom>
        </p:spPr>
      </p:pic>
      <p:sp>
        <p:nvSpPr>
          <p:cNvPr id="28" name="Text 21"/>
          <p:cNvSpPr txBox="1"/>
          <p:nvPr/>
        </p:nvSpPr>
        <p:spPr>
          <a:xfrm>
            <a:off x="8220456" y="2697480"/>
            <a:ext cx="1399032" cy="457200"/>
          </a:xfrm>
          <a:prstGeom prst="rect">
            <a:avLst/>
          </a:prstGeom>
          <a:noFill/>
          <a:ln/>
        </p:spPr>
        <p:txBody>
          <a:bodyPr wrap="square" lIns="0" tIns="0" rIns="0" bIns="0" rtlCol="0" anchor="t"/>
          <a:lstStyle/>
          <a:p>
            <a:pPr algn="ctr" indent="0" marL="0">
              <a:buNone/>
            </a:pPr>
            <a:r>
              <a:rPr lang="en-US" sz="1800" b="1" dirty="0">
                <a:solidFill>
                  <a:schemeClr val="tx2"/>
                </a:solidFill>
              </a:rPr>
              <a:t>Tune</a:t>
            </a:r>
            <a:endParaRPr lang="en-US" sz="1800" dirty="0"/>
          </a:p>
        </p:txBody>
      </p:sp>
      <p:sp>
        <p:nvSpPr>
          <p:cNvPr id="29" name="Text 22"/>
          <p:cNvSpPr txBox="1"/>
          <p:nvPr/>
        </p:nvSpPr>
        <p:spPr>
          <a:xfrm>
            <a:off x="8266176" y="3246120"/>
            <a:ext cx="1307592" cy="1737360"/>
          </a:xfrm>
          <a:prstGeom prst="rect">
            <a:avLst/>
          </a:prstGeom>
          <a:noFill/>
          <a:ln/>
        </p:spPr>
        <p:txBody>
          <a:bodyPr wrap="square" lIns="0" tIns="0" rIns="0" bIns="0" rtlCol="0" anchor="t"/>
          <a:lstStyle/>
          <a:p>
            <a:pPr indent="0" marL="0">
              <a:buNone/>
            </a:pPr>
            <a:r>
              <a:rPr lang="en-US" sz="1400" dirty="0">
                <a:solidFill>
                  <a:schemeClr val="tx1"/>
                </a:solidFill>
              </a:rPr>
              <a:t>Try 12 settings for the best model, keep the one with the best score</a:t>
            </a:r>
            <a:endParaRPr lang="en-US" sz="1400" dirty="0"/>
          </a:p>
        </p:txBody>
      </p:sp>
      <p:sp>
        <p:nvSpPr>
          <p:cNvPr id="30" name="Flow card 5"/>
          <p:cNvSpPr/>
          <p:nvPr/>
        </p:nvSpPr>
        <p:spPr>
          <a:xfrm>
            <a:off x="9966960" y="1463040"/>
            <a:ext cx="1673352" cy="3657600"/>
          </a:xfrm>
          <a:prstGeom prst="roundRect">
            <a:avLst>
              <a:gd name="adj" fmla="val 4372"/>
            </a:avLst>
          </a:prstGeom>
          <a:solidFill>
            <a:srgbClr val="16243A"/>
          </a:solidFill>
          <a:ln/>
        </p:spPr>
      </p:sp>
      <p:sp>
        <p:nvSpPr>
          <p:cNvPr id="31" name="Flow 5 circle"/>
          <p:cNvSpPr/>
          <p:nvPr/>
        </p:nvSpPr>
        <p:spPr>
          <a:xfrm>
            <a:off x="10437876" y="1737360"/>
            <a:ext cx="731520" cy="731520"/>
          </a:xfrm>
          <a:prstGeom prst="ellipse">
            <a:avLst/>
          </a:prstGeom>
          <a:solidFill>
            <a:srgbClr val="E8622C"/>
          </a:solidFill>
          <a:ln/>
        </p:spPr>
      </p:sp>
      <p:pic>
        <p:nvPicPr>
          <p:cNvPr id="32" name="Flow 5 icon" descr="preencoded.png">    </p:cNvPr>
          <p:cNvPicPr>
            <a:picLocks noChangeAspect="1"/>
          </p:cNvPicPr>
          <p:nvPr/>
        </p:nvPicPr>
        <p:blipFill>
          <a:blip r:embed="rId6"/>
          <a:stretch>
            <a:fillRect/>
          </a:stretch>
        </p:blipFill>
        <p:spPr>
          <a:xfrm>
            <a:off x="10635386" y="1934870"/>
            <a:ext cx="336499" cy="336499"/>
          </a:xfrm>
          <a:prstGeom prst="rect">
            <a:avLst/>
          </a:prstGeom>
        </p:spPr>
      </p:pic>
      <p:sp>
        <p:nvSpPr>
          <p:cNvPr id="33" name="Text 25"/>
          <p:cNvSpPr txBox="1"/>
          <p:nvPr/>
        </p:nvSpPr>
        <p:spPr>
          <a:xfrm>
            <a:off x="10104120" y="2697480"/>
            <a:ext cx="1399032" cy="457200"/>
          </a:xfrm>
          <a:prstGeom prst="rect">
            <a:avLst/>
          </a:prstGeom>
          <a:noFill/>
          <a:ln/>
        </p:spPr>
        <p:txBody>
          <a:bodyPr wrap="square" lIns="0" tIns="0" rIns="0" bIns="0" rtlCol="0" anchor="t"/>
          <a:lstStyle/>
          <a:p>
            <a:pPr algn="ctr" indent="0" marL="0">
              <a:buNone/>
            </a:pPr>
            <a:r>
              <a:rPr lang="en-US" sz="1800" b="1" dirty="0">
                <a:solidFill>
                  <a:schemeClr val="bg1"/>
                </a:solidFill>
              </a:rPr>
              <a:t>Final exam</a:t>
            </a:r>
            <a:endParaRPr lang="en-US" sz="1800" dirty="0"/>
          </a:p>
        </p:txBody>
      </p:sp>
      <p:sp>
        <p:nvSpPr>
          <p:cNvPr id="34" name="Text 26"/>
          <p:cNvSpPr txBox="1"/>
          <p:nvPr/>
        </p:nvSpPr>
        <p:spPr>
          <a:xfrm>
            <a:off x="10149840" y="3246120"/>
            <a:ext cx="1307592" cy="1737360"/>
          </a:xfrm>
          <a:prstGeom prst="rect">
            <a:avLst/>
          </a:prstGeom>
          <a:noFill/>
          <a:ln/>
        </p:spPr>
        <p:txBody>
          <a:bodyPr wrap="square" lIns="0" tIns="0" rIns="0" bIns="0" rtlCol="0" anchor="t"/>
          <a:lstStyle/>
          <a:p>
            <a:pPr indent="0" marL="0">
              <a:buNone/>
            </a:pPr>
            <a:r>
              <a:rPr lang="en-US" sz="1400" dirty="0">
                <a:solidFill>
                  <a:schemeClr val="bg1"/>
                </a:solidFill>
              </a:rPr>
              <a:t>Score the 137 hidden loans once, at the very end</a:t>
            </a:r>
            <a:endParaRPr lang="en-US" sz="1400" dirty="0"/>
          </a:p>
        </p:txBody>
      </p:sp>
      <p:sp>
        <p:nvSpPr>
          <p:cNvPr id="35" name="Text 27"/>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500" b="1" dirty="0">
                <a:solidFill>
                  <a:schemeClr val="tx2"/>
                </a:solidFill>
              </a:rPr>
              <a:t>Inputs: </a:t>
            </a:r>
            <a:pPr indent="0" marL="0">
              <a:buNone/>
            </a:pPr>
            <a:r>
              <a:rPr lang="en-US" sz="1500" dirty="0">
                <a:solidFill>
                  <a:schemeClr val="tx1"/>
                </a:solidFill>
              </a:rPr>
              <a:t>24 facts about each loan and its account.  </a:t>
            </a:r>
            <a:pPr indent="0" marL="0">
              <a:buNone/>
            </a:pPr>
            <a:r>
              <a:rPr lang="en-US" sz="1500" b="1" dirty="0">
                <a:solidFill>
                  <a:schemeClr val="tx2"/>
                </a:solidFill>
              </a:rPr>
              <a:t>Fair test: </a:t>
            </a:r>
            <a:pPr indent="0" marL="0">
              <a:buNone/>
            </a:pPr>
            <a:r>
              <a:rPr lang="en-US" sz="1500" dirty="0">
                <a:solidFill>
                  <a:schemeClr val="tx1"/>
                </a:solidFill>
              </a:rPr>
              <a:t>the hidden loans are never used for learning or tuning.</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3 · THE SOLUTION</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model decides, in plain words</a:t>
            </a:r>
            <a:endParaRPr lang="en-US" sz="3400" dirty="0"/>
          </a:p>
        </p:txBody>
      </p:sp>
      <p:sp>
        <p:nvSpPr>
          <p:cNvPr id="5" name="Text 3"/>
          <p:cNvSpPr txBox="1"/>
          <p:nvPr/>
        </p:nvSpPr>
        <p:spPr>
          <a:xfrm>
            <a:off x="548640" y="1280160"/>
            <a:ext cx="6035040" cy="365760"/>
          </a:xfrm>
          <a:prstGeom prst="rect">
            <a:avLst/>
          </a:prstGeom>
          <a:noFill/>
          <a:ln/>
        </p:spPr>
        <p:txBody>
          <a:bodyPr wrap="square" lIns="0" tIns="0" rIns="0" bIns="0" rtlCol="0" anchor="t"/>
          <a:lstStyle/>
          <a:p>
            <a:pPr indent="0" marL="0">
              <a:buNone/>
            </a:pPr>
            <a:r>
              <a:rPr lang="en-US" sz="1600" b="1" dirty="0">
                <a:solidFill>
                  <a:schemeClr val="tx2"/>
                </a:solidFill>
              </a:rPr>
              <a:t>One decision tree (simplified example)</a:t>
            </a:r>
            <a:endParaRPr lang="en-US" sz="1600" dirty="0"/>
          </a:p>
        </p:txBody>
      </p:sp>
      <p:sp>
        <p:nvSpPr>
          <p:cNvPr id="6" name="Root"/>
          <p:cNvSpPr/>
          <p:nvPr/>
        </p:nvSpPr>
        <p:spPr>
          <a:xfrm>
            <a:off x="1828800" y="1828800"/>
            <a:ext cx="3291840" cy="685800"/>
          </a:xfrm>
          <a:prstGeom prst="roundRect">
            <a:avLst>
              <a:gd name="adj" fmla="val 13333"/>
            </a:avLst>
          </a:prstGeom>
          <a:solidFill>
            <a:srgbClr val="16243A"/>
          </a:solidFill>
          <a:ln/>
        </p:spPr>
      </p:sp>
      <p:sp>
        <p:nvSpPr>
          <p:cNvPr id="7" name="Text 5"/>
          <p:cNvSpPr txBox="1"/>
          <p:nvPr/>
        </p:nvSpPr>
        <p:spPr>
          <a:xfrm>
            <a:off x="1828800" y="1828800"/>
            <a:ext cx="3291840" cy="685800"/>
          </a:xfrm>
          <a:prstGeom prst="rect">
            <a:avLst/>
          </a:prstGeom>
          <a:noFill/>
          <a:ln/>
        </p:spPr>
        <p:txBody>
          <a:bodyPr wrap="square" lIns="0" tIns="0" rIns="0" bIns="0" rtlCol="0" anchor="ctr"/>
          <a:lstStyle/>
          <a:p>
            <a:pPr algn="ctr" indent="0" marL="0">
              <a:buNone/>
            </a:pPr>
            <a:r>
              <a:rPr lang="en-US" sz="1500" b="1" dirty="0">
                <a:solidFill>
                  <a:srgbClr val="FFFFFF"/>
                </a:solidFill>
              </a:rPr>
              <a:t>Overdrawn before the loan?</a:t>
            </a:r>
            <a:endParaRPr lang="en-US" sz="1500" dirty="0"/>
          </a:p>
        </p:txBody>
      </p:sp>
      <p:sp>
        <p:nvSpPr>
          <p:cNvPr id="8" name="L1"/>
          <p:cNvSpPr/>
          <p:nvPr/>
        </p:nvSpPr>
        <p:spPr>
          <a:xfrm flipH="1">
            <a:off x="1691640" y="2514600"/>
            <a:ext cx="1234440" cy="731520"/>
          </a:xfrm>
          <a:prstGeom prst="line">
            <a:avLst/>
          </a:prstGeom>
          <a:noFill/>
          <a:ln w="19050">
            <a:solidFill>
              <a:srgbClr val="5B6878"/>
            </a:solidFill>
            <a:prstDash val="solid"/>
          </a:ln>
        </p:spPr>
      </p:sp>
      <p:sp>
        <p:nvSpPr>
          <p:cNvPr id="9" name="L2"/>
          <p:cNvSpPr/>
          <p:nvPr/>
        </p:nvSpPr>
        <p:spPr>
          <a:xfrm>
            <a:off x="4023360" y="2514600"/>
            <a:ext cx="1051560" cy="731520"/>
          </a:xfrm>
          <a:prstGeom prst="line">
            <a:avLst/>
          </a:prstGeom>
          <a:noFill/>
          <a:ln w="19050">
            <a:solidFill>
              <a:srgbClr val="5B6878"/>
            </a:solidFill>
            <a:prstDash val="solid"/>
          </a:ln>
        </p:spPr>
      </p:sp>
      <p:sp>
        <p:nvSpPr>
          <p:cNvPr id="10" name="Text 8"/>
          <p:cNvSpPr txBox="1"/>
          <p:nvPr/>
        </p:nvSpPr>
        <p:spPr>
          <a:xfrm>
            <a:off x="1783080" y="2697480"/>
            <a:ext cx="548640" cy="274320"/>
          </a:xfrm>
          <a:prstGeom prst="rect">
            <a:avLst/>
          </a:prstGeom>
          <a:noFill/>
          <a:ln/>
        </p:spPr>
        <p:txBody>
          <a:bodyPr wrap="square" lIns="0" tIns="0" rIns="0" bIns="0" rtlCol="0" anchor="t"/>
          <a:lstStyle/>
          <a:p>
            <a:pPr algn="ctr" indent="0" marL="0">
              <a:buNone/>
            </a:pPr>
            <a:r>
              <a:rPr lang="en-US" sz="1300" b="1" dirty="0">
                <a:solidFill>
                  <a:schemeClr val="accent5"/>
                </a:solidFill>
              </a:rPr>
              <a:t>Yes</a:t>
            </a:r>
            <a:endParaRPr lang="en-US" sz="1300" dirty="0"/>
          </a:p>
        </p:txBody>
      </p:sp>
      <p:sp>
        <p:nvSpPr>
          <p:cNvPr id="11" name="Text 9"/>
          <p:cNvSpPr txBox="1"/>
          <p:nvPr/>
        </p:nvSpPr>
        <p:spPr>
          <a:xfrm>
            <a:off x="4526280" y="2697480"/>
            <a:ext cx="548640" cy="274320"/>
          </a:xfrm>
          <a:prstGeom prst="rect">
            <a:avLst/>
          </a:prstGeom>
          <a:noFill/>
          <a:ln/>
        </p:spPr>
        <p:txBody>
          <a:bodyPr wrap="square" lIns="0" tIns="0" rIns="0" bIns="0" rtlCol="0" anchor="t"/>
          <a:lstStyle/>
          <a:p>
            <a:pPr algn="ctr" indent="0" marL="0">
              <a:buNone/>
            </a:pPr>
            <a:r>
              <a:rPr lang="en-US" sz="1300" b="1" dirty="0">
                <a:solidFill>
                  <a:schemeClr val="accent5"/>
                </a:solidFill>
              </a:rPr>
              <a:t>No</a:t>
            </a:r>
            <a:endParaRPr lang="en-US" sz="1300" dirty="0"/>
          </a:p>
        </p:txBody>
      </p:sp>
      <p:sp>
        <p:nvSpPr>
          <p:cNvPr id="12" name="Leaf high"/>
          <p:cNvSpPr/>
          <p:nvPr/>
        </p:nvSpPr>
        <p:spPr>
          <a:xfrm>
            <a:off x="548640" y="3246120"/>
            <a:ext cx="2286000" cy="685800"/>
          </a:xfrm>
          <a:prstGeom prst="roundRect">
            <a:avLst>
              <a:gd name="adj" fmla="val 13333"/>
            </a:avLst>
          </a:prstGeom>
          <a:solidFill>
            <a:srgbClr val="C73A3A"/>
          </a:solidFill>
          <a:ln/>
        </p:spPr>
      </p:sp>
      <p:sp>
        <p:nvSpPr>
          <p:cNvPr id="13" name="Text 11"/>
          <p:cNvSpPr txBox="1"/>
          <p:nvPr/>
        </p:nvSpPr>
        <p:spPr>
          <a:xfrm>
            <a:off x="548640" y="3246120"/>
            <a:ext cx="2286000" cy="685800"/>
          </a:xfrm>
          <a:prstGeom prst="rect">
            <a:avLst/>
          </a:prstGeom>
          <a:noFill/>
          <a:ln/>
        </p:spPr>
        <p:txBody>
          <a:bodyPr wrap="square" lIns="0" tIns="0" rIns="0" bIns="0" rtlCol="0" anchor="ctr"/>
          <a:lstStyle/>
          <a:p>
            <a:pPr algn="ctr" indent="0" marL="0">
              <a:buNone/>
            </a:pPr>
            <a:r>
              <a:rPr lang="en-US" sz="1500" b="1" dirty="0">
                <a:solidFill>
                  <a:srgbClr val="FFFFFF"/>
                </a:solidFill>
              </a:rPr>
              <a:t>High risk</a:t>
            </a:r>
            <a:endParaRPr lang="en-US" sz="1500" dirty="0"/>
          </a:p>
        </p:txBody>
      </p:sp>
      <p:sp>
        <p:nvSpPr>
          <p:cNvPr id="14" name="Node 2"/>
          <p:cNvSpPr/>
          <p:nvPr/>
        </p:nvSpPr>
        <p:spPr>
          <a:xfrm>
            <a:off x="3429000" y="3246120"/>
            <a:ext cx="3291840" cy="685800"/>
          </a:xfrm>
          <a:prstGeom prst="roundRect">
            <a:avLst>
              <a:gd name="adj" fmla="val 13333"/>
            </a:avLst>
          </a:prstGeom>
          <a:solidFill>
            <a:srgbClr val="16243A"/>
          </a:solidFill>
          <a:ln/>
        </p:spPr>
      </p:sp>
      <p:sp>
        <p:nvSpPr>
          <p:cNvPr id="15" name="Text 13"/>
          <p:cNvSpPr txBox="1"/>
          <p:nvPr/>
        </p:nvSpPr>
        <p:spPr>
          <a:xfrm>
            <a:off x="3429000" y="3246120"/>
            <a:ext cx="3291840" cy="685800"/>
          </a:xfrm>
          <a:prstGeom prst="rect">
            <a:avLst/>
          </a:prstGeom>
          <a:noFill/>
          <a:ln/>
        </p:spPr>
        <p:txBody>
          <a:bodyPr wrap="square" lIns="0" tIns="0" rIns="0" bIns="0" rtlCol="0" anchor="ctr"/>
          <a:lstStyle/>
          <a:p>
            <a:pPr algn="ctr" indent="0" marL="0">
              <a:buNone/>
            </a:pPr>
            <a:r>
              <a:rPr lang="en-US" sz="1500" b="1" dirty="0">
                <a:solidFill>
                  <a:srgbClr val="FFFFFF"/>
                </a:solidFill>
              </a:rPr>
              <a:t>Payment large vs balance?</a:t>
            </a:r>
            <a:endParaRPr lang="en-US" sz="1500" dirty="0"/>
          </a:p>
        </p:txBody>
      </p:sp>
      <p:sp>
        <p:nvSpPr>
          <p:cNvPr id="16" name="L3"/>
          <p:cNvSpPr/>
          <p:nvPr/>
        </p:nvSpPr>
        <p:spPr>
          <a:xfrm flipH="1">
            <a:off x="3566160" y="3931920"/>
            <a:ext cx="960120" cy="731520"/>
          </a:xfrm>
          <a:prstGeom prst="line">
            <a:avLst/>
          </a:prstGeom>
          <a:noFill/>
          <a:ln w="19050">
            <a:solidFill>
              <a:srgbClr val="5B6878"/>
            </a:solidFill>
            <a:prstDash val="solid"/>
          </a:ln>
        </p:spPr>
      </p:sp>
      <p:sp>
        <p:nvSpPr>
          <p:cNvPr id="17" name="L4"/>
          <p:cNvSpPr/>
          <p:nvPr/>
        </p:nvSpPr>
        <p:spPr>
          <a:xfrm>
            <a:off x="5623560" y="3931920"/>
            <a:ext cx="685800" cy="731520"/>
          </a:xfrm>
          <a:prstGeom prst="line">
            <a:avLst/>
          </a:prstGeom>
          <a:noFill/>
          <a:ln w="19050">
            <a:solidFill>
              <a:srgbClr val="5B6878"/>
            </a:solidFill>
            <a:prstDash val="solid"/>
          </a:ln>
        </p:spPr>
      </p:sp>
      <p:sp>
        <p:nvSpPr>
          <p:cNvPr id="18" name="Text 16"/>
          <p:cNvSpPr txBox="1"/>
          <p:nvPr/>
        </p:nvSpPr>
        <p:spPr>
          <a:xfrm>
            <a:off x="3566160" y="4114800"/>
            <a:ext cx="548640" cy="274320"/>
          </a:xfrm>
          <a:prstGeom prst="rect">
            <a:avLst/>
          </a:prstGeom>
          <a:noFill/>
          <a:ln/>
        </p:spPr>
        <p:txBody>
          <a:bodyPr wrap="square" lIns="0" tIns="0" rIns="0" bIns="0" rtlCol="0" anchor="t"/>
          <a:lstStyle/>
          <a:p>
            <a:pPr algn="ctr" indent="0" marL="0">
              <a:buNone/>
            </a:pPr>
            <a:r>
              <a:rPr lang="en-US" sz="1300" b="1" dirty="0">
                <a:solidFill>
                  <a:schemeClr val="accent5"/>
                </a:solidFill>
              </a:rPr>
              <a:t>Yes</a:t>
            </a:r>
            <a:endParaRPr lang="en-US" sz="1300" dirty="0"/>
          </a:p>
        </p:txBody>
      </p:sp>
      <p:sp>
        <p:nvSpPr>
          <p:cNvPr id="19" name="Text 17"/>
          <p:cNvSpPr txBox="1"/>
          <p:nvPr/>
        </p:nvSpPr>
        <p:spPr>
          <a:xfrm>
            <a:off x="5989320" y="4114800"/>
            <a:ext cx="548640" cy="274320"/>
          </a:xfrm>
          <a:prstGeom prst="rect">
            <a:avLst/>
          </a:prstGeom>
          <a:noFill/>
          <a:ln/>
        </p:spPr>
        <p:txBody>
          <a:bodyPr wrap="square" lIns="0" tIns="0" rIns="0" bIns="0" rtlCol="0" anchor="t"/>
          <a:lstStyle/>
          <a:p>
            <a:pPr algn="ctr" indent="0" marL="0">
              <a:buNone/>
            </a:pPr>
            <a:r>
              <a:rPr lang="en-US" sz="1300" b="1" dirty="0">
                <a:solidFill>
                  <a:schemeClr val="accent5"/>
                </a:solidFill>
              </a:rPr>
              <a:t>No</a:t>
            </a:r>
            <a:endParaRPr lang="en-US" sz="1300" dirty="0"/>
          </a:p>
        </p:txBody>
      </p:sp>
      <p:sp>
        <p:nvSpPr>
          <p:cNvPr id="20" name="Leaf medium"/>
          <p:cNvSpPr/>
          <p:nvPr/>
        </p:nvSpPr>
        <p:spPr>
          <a:xfrm>
            <a:off x="2468880" y="4663440"/>
            <a:ext cx="2194560" cy="685800"/>
          </a:xfrm>
          <a:prstGeom prst="roundRect">
            <a:avLst>
              <a:gd name="adj" fmla="val 13333"/>
            </a:avLst>
          </a:prstGeom>
          <a:solidFill>
            <a:srgbClr val="D99A00"/>
          </a:solidFill>
          <a:ln/>
        </p:spPr>
      </p:sp>
      <p:sp>
        <p:nvSpPr>
          <p:cNvPr id="21" name="Text 19"/>
          <p:cNvSpPr txBox="1"/>
          <p:nvPr/>
        </p:nvSpPr>
        <p:spPr>
          <a:xfrm>
            <a:off x="2468880" y="4663440"/>
            <a:ext cx="2194560" cy="685800"/>
          </a:xfrm>
          <a:prstGeom prst="rect">
            <a:avLst/>
          </a:prstGeom>
          <a:noFill/>
          <a:ln/>
        </p:spPr>
        <p:txBody>
          <a:bodyPr wrap="square" lIns="0" tIns="0" rIns="0" bIns="0" rtlCol="0" anchor="ctr"/>
          <a:lstStyle/>
          <a:p>
            <a:pPr algn="ctr" indent="0" marL="0">
              <a:buNone/>
            </a:pPr>
            <a:r>
              <a:rPr lang="en-US" sz="1500" b="1" dirty="0">
                <a:solidFill>
                  <a:srgbClr val="FFFFFF"/>
                </a:solidFill>
              </a:rPr>
              <a:t>Medium risk</a:t>
            </a:r>
            <a:endParaRPr lang="en-US" sz="1500" dirty="0"/>
          </a:p>
        </p:txBody>
      </p:sp>
      <p:sp>
        <p:nvSpPr>
          <p:cNvPr id="22" name="Leaf low"/>
          <p:cNvSpPr/>
          <p:nvPr/>
        </p:nvSpPr>
        <p:spPr>
          <a:xfrm>
            <a:off x="5212080" y="4663440"/>
            <a:ext cx="1828800" cy="685800"/>
          </a:xfrm>
          <a:prstGeom prst="roundRect">
            <a:avLst>
              <a:gd name="adj" fmla="val 13333"/>
            </a:avLst>
          </a:prstGeom>
          <a:solidFill>
            <a:srgbClr val="1A9E6E"/>
          </a:solidFill>
          <a:ln/>
        </p:spPr>
      </p:sp>
      <p:sp>
        <p:nvSpPr>
          <p:cNvPr id="23" name="Text 21"/>
          <p:cNvSpPr txBox="1"/>
          <p:nvPr/>
        </p:nvSpPr>
        <p:spPr>
          <a:xfrm>
            <a:off x="5212080" y="4663440"/>
            <a:ext cx="1828800" cy="685800"/>
          </a:xfrm>
          <a:prstGeom prst="rect">
            <a:avLst/>
          </a:prstGeom>
          <a:noFill/>
          <a:ln/>
        </p:spPr>
        <p:txBody>
          <a:bodyPr wrap="square" lIns="0" tIns="0" rIns="0" bIns="0" rtlCol="0" anchor="ctr"/>
          <a:lstStyle/>
          <a:p>
            <a:pPr algn="ctr" indent="0" marL="0">
              <a:buNone/>
            </a:pPr>
            <a:r>
              <a:rPr lang="en-US" sz="1500" b="1" dirty="0">
                <a:solidFill>
                  <a:srgbClr val="FFFFFF"/>
                </a:solidFill>
              </a:rPr>
              <a:t>Low risk</a:t>
            </a:r>
            <a:endParaRPr lang="en-US" sz="1500" dirty="0"/>
          </a:p>
        </p:txBody>
      </p:sp>
      <p:sp>
        <p:nvSpPr>
          <p:cNvPr id="24" name="Text 22"/>
          <p:cNvSpPr txBox="1"/>
          <p:nvPr/>
        </p:nvSpPr>
        <p:spPr>
          <a:xfrm>
            <a:off x="548640" y="5577840"/>
            <a:ext cx="6583680" cy="457200"/>
          </a:xfrm>
          <a:prstGeom prst="rect">
            <a:avLst/>
          </a:prstGeom>
          <a:noFill/>
          <a:ln/>
        </p:spPr>
        <p:txBody>
          <a:bodyPr wrap="square" lIns="0" tIns="0" rIns="0" bIns="0" rtlCol="0" anchor="t"/>
          <a:lstStyle/>
          <a:p>
            <a:pPr indent="0" marL="0">
              <a:buNone/>
            </a:pPr>
            <a:r>
              <a:rPr lang="en-US" sz="1300" i="1" dirty="0">
                <a:solidFill>
                  <a:schemeClr val="accent5"/>
                </a:solidFill>
              </a:rPr>
              <a:t>The real trees ask many more questions, learned from the 545 training loans.</a:t>
            </a:r>
            <a:endParaRPr lang="en-US" sz="1300" dirty="0"/>
          </a:p>
        </p:txBody>
      </p:sp>
      <p:sp>
        <p:nvSpPr>
          <p:cNvPr id="25" name="Forest card"/>
          <p:cNvSpPr/>
          <p:nvPr/>
        </p:nvSpPr>
        <p:spPr>
          <a:xfrm>
            <a:off x="7452360" y="1280160"/>
            <a:ext cx="4190695" cy="4846320"/>
          </a:xfrm>
          <a:prstGeom prst="roundRect">
            <a:avLst>
              <a:gd name="adj" fmla="val 1746"/>
            </a:avLst>
          </a:prstGeom>
          <a:solidFill>
            <a:srgbClr val="16243A"/>
          </a:solidFill>
          <a:ln/>
        </p:spPr>
      </p:sp>
      <p:sp>
        <p:nvSpPr>
          <p:cNvPr id="26" name="Forest circle"/>
          <p:cNvSpPr/>
          <p:nvPr/>
        </p:nvSpPr>
        <p:spPr>
          <a:xfrm>
            <a:off x="7726680" y="1508760"/>
            <a:ext cx="640080" cy="640080"/>
          </a:xfrm>
          <a:prstGeom prst="ellipse">
            <a:avLst/>
          </a:prstGeom>
          <a:solidFill>
            <a:srgbClr val="E8622C"/>
          </a:solidFill>
          <a:ln/>
        </p:spPr>
      </p:sp>
      <p:pic>
        <p:nvPicPr>
          <p:cNvPr id="27" name="Forest icon" descr="preencoded.png">    </p:cNvPr>
          <p:cNvPicPr>
            <a:picLocks noChangeAspect="1"/>
          </p:cNvPicPr>
          <p:nvPr/>
        </p:nvPicPr>
        <p:blipFill>
          <a:blip r:embed="rId1"/>
          <a:stretch>
            <a:fillRect/>
          </a:stretch>
        </p:blipFill>
        <p:spPr>
          <a:xfrm>
            <a:off x="7899502" y="1681582"/>
            <a:ext cx="294437" cy="294437"/>
          </a:xfrm>
          <a:prstGeom prst="rect">
            <a:avLst/>
          </a:prstGeom>
        </p:spPr>
      </p:pic>
      <p:sp>
        <p:nvSpPr>
          <p:cNvPr id="28" name="Text 25"/>
          <p:cNvSpPr txBox="1"/>
          <p:nvPr/>
        </p:nvSpPr>
        <p:spPr>
          <a:xfrm>
            <a:off x="8549640" y="1508760"/>
            <a:ext cx="3017520" cy="640080"/>
          </a:xfrm>
          <a:prstGeom prst="rect">
            <a:avLst/>
          </a:prstGeom>
          <a:noFill/>
          <a:ln/>
        </p:spPr>
        <p:txBody>
          <a:bodyPr wrap="square" lIns="0" tIns="0" rIns="0" bIns="0" rtlCol="0" anchor="ctr"/>
          <a:lstStyle/>
          <a:p>
            <a:pPr indent="0" marL="0">
              <a:buNone/>
            </a:pPr>
            <a:r>
              <a:rPr lang="en-US" sz="2000" b="1" dirty="0">
                <a:solidFill>
                  <a:schemeClr val="bg1"/>
                </a:solidFill>
              </a:rPr>
              <a:t>A forest = 250 trees</a:t>
            </a:r>
            <a:endParaRPr lang="en-US" sz="2000" dirty="0"/>
          </a:p>
        </p:txBody>
      </p:sp>
      <p:sp>
        <p:nvSpPr>
          <p:cNvPr id="29" name="Text 26"/>
          <p:cNvSpPr txBox="1"/>
          <p:nvPr/>
        </p:nvSpPr>
        <p:spPr>
          <a:xfrm>
            <a:off x="7726680" y="2423160"/>
            <a:ext cx="3749040" cy="25603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bg1"/>
                </a:solidFill>
              </a:rPr>
              <a:t>Each tree learns from a random sample of loans and facts</a:t>
            </a:r>
            <a:endParaRPr lang="en-US" sz="1600" dirty="0"/>
          </a:p>
          <a:p>
            <a:pPr marL="342900" indent="-342900">
              <a:spcAft>
                <a:spcPts val="1000"/>
              </a:spcAft>
              <a:buSzPct val="100000"/>
              <a:buFont typeface="+mj-lt"/>
              <a:buAutoNum type="arabicPeriod" startAt="1"/>
            </a:pPr>
            <a:r>
              <a:rPr lang="en-US" sz="1600" dirty="0">
                <a:solidFill>
                  <a:schemeClr val="bg1"/>
                </a:solidFill>
              </a:rPr>
              <a:t>Each tree votes: repay or default</a:t>
            </a:r>
            <a:endParaRPr lang="en-US" sz="1600" dirty="0"/>
          </a:p>
          <a:p>
            <a:pPr marL="342900" indent="-342900">
              <a:spcAft>
                <a:spcPts val="1000"/>
              </a:spcAft>
              <a:buSzPct val="100000"/>
              <a:buFont typeface="+mj-lt"/>
              <a:buAutoNum type="arabicPeriod" startAt="1"/>
            </a:pPr>
            <a:r>
              <a:rPr lang="en-US" sz="1600" dirty="0">
                <a:solidFill>
                  <a:schemeClr val="bg1"/>
                </a:solidFill>
              </a:rPr>
              <a:t>Share of votes = the risk score</a:t>
            </a:r>
            <a:endParaRPr lang="en-US" sz="1600" dirty="0"/>
          </a:p>
          <a:p>
            <a:pPr marL="342900" indent="-342900">
              <a:spcAft>
                <a:spcPts val="1000"/>
              </a:spcAft>
              <a:buSzPct val="100000"/>
              <a:buFont typeface="+mj-lt"/>
              <a:buAutoNum type="arabicPeriod" startAt="1"/>
            </a:pPr>
            <a:r>
              <a:rPr lang="en-US" sz="1600" dirty="0">
                <a:solidFill>
                  <a:schemeClr val="bg1"/>
                </a:solidFill>
              </a:rPr>
              <a:t>e.g. 200 of 250 trees say default → 80% risk</a:t>
            </a:r>
            <a:endParaRPr lang="en-US" sz="1600" dirty="0"/>
          </a:p>
        </p:txBody>
      </p:sp>
      <p:sp>
        <p:nvSpPr>
          <p:cNvPr id="30" name="Text 27"/>
          <p:cNvSpPr txBox="1"/>
          <p:nvPr/>
        </p:nvSpPr>
        <p:spPr>
          <a:xfrm>
            <a:off x="7726680" y="5257800"/>
            <a:ext cx="3749040" cy="640080"/>
          </a:xfrm>
          <a:prstGeom prst="rect">
            <a:avLst/>
          </a:prstGeom>
          <a:noFill/>
          <a:ln/>
        </p:spPr>
        <p:txBody>
          <a:bodyPr wrap="square" lIns="0" tIns="0" rIns="0" bIns="0" rtlCol="0" anchor="t"/>
          <a:lstStyle/>
          <a:p>
            <a:pPr indent="0" marL="0">
              <a:buNone/>
            </a:pPr>
            <a:r>
              <a:rPr lang="en-US" sz="1400" i="1" dirty="0">
                <a:solidFill>
                  <a:srgbClr val="CADCFC"/>
                </a:solidFill>
              </a:rPr>
              <a:t>Like asking 250 credit officers and going with the majority.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3 · THE SOLUTION</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Comparing the 5 models: two pass the F1 mark</a:t>
            </a:r>
            <a:endParaRPr lang="en-US" sz="3400" dirty="0"/>
          </a:p>
        </p:txBody>
      </p:sp>
      <p:graphicFrame>
        <p:nvGraphicFramePr>
          <p:cNvPr id="5" name="F1 chart" descr=""/>
          <p:cNvGraphicFramePr/>
          <p:nvPr/>
        </p:nvGraphicFramePr>
        <p:xfrm>
          <a:off x="548640" y="1371600"/>
          <a:ext cx="576072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Model table"/>
          <p:cNvGraphicFramePr>
            <a:graphicFrameLocks noGrp="1"/>
          </p:cNvGraphicFramePr>
          <p:nvPr>
            <p:extLst>
              <p:ext uri="{D42A27DB-BD31-4B8C-83A1-F6EECF244321}">
                <p14:modId xmlns:p14="http://schemas.microsoft.com/office/powerpoint/2010/main" val="1579011935"/>
              </p:ext>
            </p:extLst>
          </p:nvPr>
        </p:nvGraphicFramePr>
        <p:xfrm>
          <a:off x="6629400" y="1371600"/>
          <a:ext cx="5010912" cy="914400"/>
        </p:xfrm>
        <a:graphic>
          <a:graphicData uri="http://schemas.openxmlformats.org/drawingml/2006/table">
            <a:tbl>
              <a:tblPr/>
              <a:tblGrid>
                <a:gridCol w="1901952"/>
                <a:gridCol w="1033272"/>
                <a:gridCol w="1042416"/>
                <a:gridCol w="1033272"/>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4114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89%</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Logistic Reg.</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91%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61%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Gradient Boost.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92%</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7" name="Model takeaway"/>
          <p:cNvSpPr/>
          <p:nvPr/>
        </p:nvSpPr>
        <p:spPr>
          <a:xfrm>
            <a:off x="6629400" y="4069080"/>
            <a:ext cx="5010912" cy="2057400"/>
          </a:xfrm>
          <a:prstGeom prst="roundRect">
            <a:avLst>
              <a:gd name="adj" fmla="val 3556"/>
            </a:avLst>
          </a:prstGeom>
          <a:solidFill>
            <a:schemeClr val="bg2"/>
          </a:solidFill>
          <a:ln/>
        </p:spPr>
      </p:sp>
      <p:sp>
        <p:nvSpPr>
          <p:cNvPr id="8" name="Text 4"/>
          <p:cNvSpPr txBox="1"/>
          <p:nvPr/>
        </p:nvSpPr>
        <p:spPr>
          <a:xfrm>
            <a:off x="6858000" y="4160520"/>
            <a:ext cx="4572000" cy="1874520"/>
          </a:xfrm>
          <a:prstGeom prst="rect">
            <a:avLst/>
          </a:prstGeom>
          <a:noFill/>
          <a:ln/>
        </p:spPr>
        <p:txBody>
          <a:bodyPr wrap="square" lIns="0" tIns="0" rIns="0" bIns="0" rtlCol="0" anchor="ctr"/>
          <a:lstStyle/>
          <a:p>
            <a:pPr indent="0" marL="0">
              <a:buNone/>
            </a:pPr>
            <a:r>
              <a:rPr lang="en-US" sz="1350" dirty="0">
                <a:solidFill>
                  <a:schemeClr val="tx1"/>
                </a:solidFill>
              </a:rPr>
              <a:t>Random Forest has the best F1. Logistic Regression catches more defaulters but raises many false alarms. After tuning, the Random Forest was tested on the hidden loans.</a:t>
            </a:r>
            <a:endParaRPr lang="en-US" sz="1350" dirty="0"/>
          </a:p>
          <a:p>
            <a:pPr indent="0" marL="0">
              <a:buNone/>
            </a:pPr>
            <a:r>
              <a:rPr lang="en-US" sz="800" dirty="0">
                <a:solidFill>
                  <a:schemeClr val="tx1"/>
                </a:solidFill>
              </a:rPr>
              <a:t> </a:t>
            </a:r>
            <a:endParaRPr lang="en-US" sz="1350" dirty="0"/>
          </a:p>
          <a:p>
            <a:pPr indent="0" marL="0">
              <a:buNone/>
            </a:pPr>
            <a:r>
              <a:rPr lang="en-US" sz="1350" b="1" dirty="0">
                <a:solidFill>
                  <a:schemeClr val="tx1"/>
                </a:solidFill>
              </a:rPr>
              <a:t>F1 = 2 × Precision × Recall ÷ (Precision + Recall)</a:t>
            </a:r>
            <a:endParaRPr lang="en-US" sz="1350" dirty="0"/>
          </a:p>
          <a:p>
            <a:pPr indent="0" marL="0">
              <a:buNone/>
            </a:pPr>
            <a:r>
              <a:rPr lang="en-US" sz="800" dirty="0">
                <a:solidFill>
                  <a:schemeClr val="tx1"/>
                </a:solidFill>
              </a:rPr>
              <a:t> </a:t>
            </a:r>
            <a:endParaRPr lang="en-US" sz="1350" dirty="0"/>
          </a:p>
          <a:p>
            <a:pPr indent="0" marL="0">
              <a:buNone/>
            </a:pPr>
            <a:r>
              <a:rPr lang="en-US" sz="1350" dirty="0">
                <a:solidFill>
                  <a:schemeClr val="tx1"/>
                </a:solidFill>
              </a:rPr>
              <a:t>Accuracy says the lazy model is 89% good. F1 says it's useless, because F1 only looks at what happens with the bad loans.</a:t>
            </a:r>
            <a:endParaRPr lang="en-US" sz="13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3 · THE SOLUTION</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drives default: account behaviour</a:t>
            </a:r>
            <a:endParaRPr lang="en-US" sz="3400" dirty="0"/>
          </a:p>
        </p:txBody>
      </p:sp>
      <p:sp>
        <p:nvSpPr>
          <p:cNvPr id="5" name="Screenshot frame perm_chart.png"/>
          <p:cNvSpPr/>
          <p:nvPr/>
        </p:nvSpPr>
        <p:spPr>
          <a:xfrm>
            <a:off x="548640" y="1325880"/>
            <a:ext cx="6028663" cy="4526280"/>
          </a:xfrm>
          <a:prstGeom prst="rect">
            <a:avLst/>
          </a:prstGeom>
          <a:solidFill>
            <a:srgbClr val="FFFFFF"/>
          </a:solidFill>
          <a:ln w="9525">
            <a:solidFill>
              <a:srgbClr val="C9CED6"/>
            </a:solidFill>
            <a:prstDash val="solid"/>
          </a:ln>
        </p:spPr>
      </p:sp>
      <p:pic>
        <p:nvPicPr>
          <p:cNvPr id="6" name="Screenshot perm_chart.png" descr="Screenshot: perm_chart.png">    </p:cNvPr>
          <p:cNvPicPr>
            <a:picLocks noChangeAspect="1"/>
          </p:cNvPicPr>
          <p:nvPr/>
        </p:nvPicPr>
        <p:blipFill>
          <a:blip r:embed="rId1"/>
          <a:stretch>
            <a:fillRect/>
          </a:stretch>
        </p:blipFill>
        <p:spPr>
          <a:xfrm>
            <a:off x="603504" y="1380744"/>
            <a:ext cx="5918935" cy="4416552"/>
          </a:xfrm>
          <a:prstGeom prst="rect">
            <a:avLst/>
          </a:prstGeom>
        </p:spPr>
      </p:pic>
      <p:sp>
        <p:nvSpPr>
          <p:cNvPr id="7" name="Text 4"/>
          <p:cNvSpPr txBox="1"/>
          <p:nvPr/>
        </p:nvSpPr>
        <p:spPr>
          <a:xfrm>
            <a:off x="548640" y="5907024"/>
            <a:ext cx="6028663" cy="274320"/>
          </a:xfrm>
          <a:prstGeom prst="rect">
            <a:avLst/>
          </a:prstGeom>
          <a:noFill/>
          <a:ln/>
        </p:spPr>
        <p:txBody>
          <a:bodyPr wrap="square" lIns="0" tIns="0" rIns="0" bIns="0" rtlCol="0" anchor="t"/>
          <a:lstStyle/>
          <a:p>
            <a:pPr indent="0" marL="0">
              <a:buNone/>
            </a:pPr>
            <a:r>
              <a:rPr lang="en-US" sz="1100" i="1" dirty="0">
                <a:solidFill>
                  <a:schemeClr val="accent5"/>
                </a:solidFill>
              </a:rPr>
              <a:t>How much each input helps the model's decisions (feature importance)</a:t>
            </a:r>
            <a:endParaRPr lang="en-US" sz="1100" dirty="0"/>
          </a:p>
        </p:txBody>
      </p:sp>
      <p:sp>
        <p:nvSpPr>
          <p:cNvPr id="8" name="Drivers panel"/>
          <p:cNvSpPr/>
          <p:nvPr/>
        </p:nvSpPr>
        <p:spPr>
          <a:xfrm>
            <a:off x="7680960" y="1325880"/>
            <a:ext cx="3959352" cy="4846320"/>
          </a:xfrm>
          <a:prstGeom prst="roundRect">
            <a:avLst>
              <a:gd name="adj" fmla="val 1848"/>
            </a:avLst>
          </a:prstGeom>
          <a:solidFill>
            <a:schemeClr val="bg2"/>
          </a:solidFill>
          <a:ln/>
        </p:spPr>
      </p:sp>
      <p:sp>
        <p:nvSpPr>
          <p:cNvPr id="9" name="Text 6"/>
          <p:cNvSpPr txBox="1"/>
          <p:nvPr/>
        </p:nvSpPr>
        <p:spPr>
          <a:xfrm>
            <a:off x="7955280" y="1554480"/>
            <a:ext cx="3474720" cy="411480"/>
          </a:xfrm>
          <a:prstGeom prst="rect">
            <a:avLst/>
          </a:prstGeom>
          <a:noFill/>
          <a:ln/>
        </p:spPr>
        <p:txBody>
          <a:bodyPr wrap="square" lIns="0" tIns="0" rIns="0" bIns="0" rtlCol="0" anchor="t"/>
          <a:lstStyle/>
          <a:p>
            <a:pPr indent="0" marL="0">
              <a:buNone/>
            </a:pPr>
            <a:r>
              <a:rPr lang="en-US" sz="1800" b="1" dirty="0">
                <a:solidFill>
                  <a:schemeClr val="tx2"/>
                </a:solidFill>
              </a:rPr>
              <a:t>Top risk signals</a:t>
            </a:r>
            <a:endParaRPr lang="en-US" sz="1800" dirty="0"/>
          </a:p>
        </p:txBody>
      </p:sp>
      <p:sp>
        <p:nvSpPr>
          <p:cNvPr id="10" name="Text 7"/>
          <p:cNvSpPr txBox="1"/>
          <p:nvPr/>
        </p:nvSpPr>
        <p:spPr>
          <a:xfrm>
            <a:off x="7955280" y="2103120"/>
            <a:ext cx="3474720" cy="27432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rPr>
              <a:t>Low latest balance before the loan</a:t>
            </a:r>
            <a:endParaRPr lang="en-US" sz="1600" dirty="0"/>
          </a:p>
          <a:p>
            <a:pPr marL="342900" indent="-342900">
              <a:spcAft>
                <a:spcPts val="1000"/>
              </a:spcAft>
              <a:buSzPct val="100000"/>
              <a:buFont typeface="+mj-lt"/>
              <a:buAutoNum type="arabicPeriod" startAt="1"/>
            </a:pPr>
            <a:r>
              <a:rPr lang="en-US" sz="1600" dirty="0">
                <a:solidFill>
                  <a:schemeClr val="tx1"/>
                </a:solidFill>
              </a:rPr>
              <a:t>Low lowest balance</a:t>
            </a:r>
            <a:endParaRPr lang="en-US" sz="1600" dirty="0"/>
          </a:p>
          <a:p>
            <a:pPr marL="342900" indent="-342900">
              <a:spcAft>
                <a:spcPts val="1000"/>
              </a:spcAft>
              <a:buSzPct val="100000"/>
              <a:buFont typeface="+mj-lt"/>
              <a:buAutoNum type="arabicPeriod" startAt="1"/>
            </a:pPr>
            <a:r>
              <a:rPr lang="en-US" sz="1600" dirty="0">
                <a:solidFill>
                  <a:schemeClr val="tx1"/>
                </a:solidFill>
              </a:rPr>
              <a:t>Payment large versus balance</a:t>
            </a:r>
            <a:endParaRPr lang="en-US" sz="1600" dirty="0"/>
          </a:p>
          <a:p>
            <a:pPr marL="342900" indent="-342900">
              <a:spcAft>
                <a:spcPts val="1000"/>
              </a:spcAft>
              <a:buSzPct val="100000"/>
              <a:buFont typeface="+mj-lt"/>
              <a:buAutoNum type="arabicPeriod" startAt="1"/>
            </a:pPr>
            <a:r>
              <a:rPr lang="en-US" sz="1600" dirty="0">
                <a:solidFill>
                  <a:schemeClr val="tx1"/>
                </a:solidFill>
              </a:rPr>
              <a:t>Balance that jumps around</a:t>
            </a:r>
            <a:endParaRPr lang="en-US" sz="1600" dirty="0"/>
          </a:p>
          <a:p>
            <a:pPr marL="342900" indent="-342900">
              <a:spcAft>
                <a:spcPts val="1000"/>
              </a:spcAft>
              <a:buSzPct val="100000"/>
              <a:buFont typeface="+mj-lt"/>
              <a:buAutoNum type="arabicPeriod" startAt="1"/>
            </a:pPr>
            <a:r>
              <a:rPr lang="en-US" sz="1600" dirty="0">
                <a:solidFill>
                  <a:schemeClr val="tx1"/>
                </a:solidFill>
              </a:rPr>
              <a:t>Times overdrawn</a:t>
            </a:r>
            <a:endParaRPr lang="en-US" sz="1600" dirty="0"/>
          </a:p>
        </p:txBody>
      </p:sp>
      <p:sp>
        <p:nvSpPr>
          <p:cNvPr id="11" name="Text 8"/>
          <p:cNvSpPr txBox="1"/>
          <p:nvPr/>
        </p:nvSpPr>
        <p:spPr>
          <a:xfrm>
            <a:off x="7955280" y="5029200"/>
            <a:ext cx="3474720" cy="822960"/>
          </a:xfrm>
          <a:prstGeom prst="rect">
            <a:avLst/>
          </a:prstGeom>
          <a:noFill/>
          <a:ln/>
        </p:spPr>
        <p:txBody>
          <a:bodyPr wrap="square" lIns="0" tIns="0" rIns="0" bIns="0" rtlCol="0" anchor="t"/>
          <a:lstStyle/>
          <a:p>
            <a:pPr indent="0" marL="0">
              <a:buNone/>
            </a:pPr>
            <a:r>
              <a:rPr lang="en-US" sz="1500" i="1" dirty="0">
                <a:solidFill>
                  <a:schemeClr val="accent5"/>
                </a:solidFill>
              </a:rPr>
              <a:t>Region, salary and age matter far less.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4 · PUTTING IT TO WORK</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From notebook to bank tool: deployment</a:t>
            </a:r>
            <a:endParaRPr lang="en-US" sz="3400" dirty="0"/>
          </a:p>
        </p:txBody>
      </p:sp>
      <p:sp>
        <p:nvSpPr>
          <p:cNvPr id="5" name="Deploy card 0"/>
          <p:cNvSpPr/>
          <p:nvPr/>
        </p:nvSpPr>
        <p:spPr>
          <a:xfrm>
            <a:off x="548640" y="1371600"/>
            <a:ext cx="1965960" cy="2377440"/>
          </a:xfrm>
          <a:prstGeom prst="roundRect">
            <a:avLst>
              <a:gd name="adj" fmla="val 3721"/>
            </a:avLst>
          </a:prstGeom>
          <a:solidFill>
            <a:schemeClr val="bg2"/>
          </a:solidFill>
          <a:ln/>
        </p:spPr>
      </p:sp>
      <p:sp>
        <p:nvSpPr>
          <p:cNvPr id="6" name="Deploy 0 circle"/>
          <p:cNvSpPr/>
          <p:nvPr/>
        </p:nvSpPr>
        <p:spPr>
          <a:xfrm>
            <a:off x="777240" y="1600200"/>
            <a:ext cx="640080" cy="640080"/>
          </a:xfrm>
          <a:prstGeom prst="ellipse">
            <a:avLst/>
          </a:prstGeom>
          <a:solidFill>
            <a:srgbClr val="16243A"/>
          </a:solidFill>
          <a:ln/>
        </p:spPr>
      </p:sp>
      <p:pic>
        <p:nvPicPr>
          <p:cNvPr id="7" name="Deploy 0 icon" descr="preencoded.png">    </p:cNvPr>
          <p:cNvPicPr>
            <a:picLocks noChangeAspect="1"/>
          </p:cNvPicPr>
          <p:nvPr/>
        </p:nvPicPr>
        <p:blipFill>
          <a:blip r:embed="rId1"/>
          <a:stretch>
            <a:fillRect/>
          </a:stretch>
        </p:blipFill>
        <p:spPr>
          <a:xfrm>
            <a:off x="950062" y="1773022"/>
            <a:ext cx="294437" cy="294437"/>
          </a:xfrm>
          <a:prstGeom prst="rect">
            <a:avLst/>
          </a:prstGeom>
        </p:spPr>
      </p:pic>
      <p:sp>
        <p:nvSpPr>
          <p:cNvPr id="8" name="Text 5"/>
          <p:cNvSpPr txBox="1"/>
          <p:nvPr/>
        </p:nvSpPr>
        <p:spPr>
          <a:xfrm>
            <a:off x="777240" y="23774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Trained model</a:t>
            </a:r>
            <a:endParaRPr lang="en-US" sz="1700" dirty="0"/>
          </a:p>
        </p:txBody>
      </p:sp>
      <p:sp>
        <p:nvSpPr>
          <p:cNvPr id="9" name="Text 6"/>
          <p:cNvSpPr txBox="1"/>
          <p:nvPr/>
        </p:nvSpPr>
        <p:spPr>
          <a:xfrm>
            <a:off x="777240" y="2834640"/>
            <a:ext cx="1600200" cy="777240"/>
          </a:xfrm>
          <a:prstGeom prst="rect">
            <a:avLst/>
          </a:prstGeom>
          <a:noFill/>
          <a:ln/>
        </p:spPr>
        <p:txBody>
          <a:bodyPr wrap="square" lIns="0" tIns="0" rIns="0" bIns="0" rtlCol="0" anchor="t"/>
          <a:lstStyle/>
          <a:p>
            <a:pPr indent="0" marL="0">
              <a:buNone/>
            </a:pPr>
            <a:r>
              <a:rPr lang="en-US" sz="1500" dirty="0">
                <a:solidFill>
                  <a:schemeClr val="tx1"/>
                </a:solidFill>
              </a:rPr>
              <a:t>tuned forest</a:t>
            </a:r>
            <a:endParaRPr lang="en-US" sz="1500" dirty="0"/>
          </a:p>
        </p:txBody>
      </p:sp>
      <p:sp>
        <p:nvSpPr>
          <p:cNvPr id="10" name="Deploy arrow 0"/>
          <p:cNvSpPr/>
          <p:nvPr/>
        </p:nvSpPr>
        <p:spPr>
          <a:xfrm>
            <a:off x="2560320" y="2377440"/>
            <a:ext cx="219456" cy="320040"/>
          </a:xfrm>
          <a:prstGeom prst="rightArrow">
            <a:avLst/>
          </a:prstGeom>
          <a:solidFill>
            <a:srgbClr val="E8622C"/>
          </a:solidFill>
          <a:ln/>
        </p:spPr>
      </p:sp>
      <p:sp>
        <p:nvSpPr>
          <p:cNvPr id="11" name="Deploy card 1"/>
          <p:cNvSpPr/>
          <p:nvPr/>
        </p:nvSpPr>
        <p:spPr>
          <a:xfrm>
            <a:off x="2825496" y="1371600"/>
            <a:ext cx="1965960" cy="2377440"/>
          </a:xfrm>
          <a:prstGeom prst="roundRect">
            <a:avLst>
              <a:gd name="adj" fmla="val 3721"/>
            </a:avLst>
          </a:prstGeom>
          <a:solidFill>
            <a:schemeClr val="bg2"/>
          </a:solidFill>
          <a:ln/>
        </p:spPr>
      </p:sp>
      <p:sp>
        <p:nvSpPr>
          <p:cNvPr id="12" name="Deploy 1 circle"/>
          <p:cNvSpPr/>
          <p:nvPr/>
        </p:nvSpPr>
        <p:spPr>
          <a:xfrm>
            <a:off x="3054096" y="1600200"/>
            <a:ext cx="640080" cy="640080"/>
          </a:xfrm>
          <a:prstGeom prst="ellipse">
            <a:avLst/>
          </a:prstGeom>
          <a:solidFill>
            <a:srgbClr val="16243A"/>
          </a:solidFill>
          <a:ln/>
        </p:spPr>
      </p:sp>
      <p:pic>
        <p:nvPicPr>
          <p:cNvPr id="13" name="Deploy 1 icon" descr="preencoded.png">    </p:cNvPr>
          <p:cNvPicPr>
            <a:picLocks noChangeAspect="1"/>
          </p:cNvPicPr>
          <p:nvPr/>
        </p:nvPicPr>
        <p:blipFill>
          <a:blip r:embed="rId2"/>
          <a:stretch>
            <a:fillRect/>
          </a:stretch>
        </p:blipFill>
        <p:spPr>
          <a:xfrm>
            <a:off x="3226918" y="1773022"/>
            <a:ext cx="294437" cy="294437"/>
          </a:xfrm>
          <a:prstGeom prst="rect">
            <a:avLst/>
          </a:prstGeom>
        </p:spPr>
      </p:pic>
      <p:sp>
        <p:nvSpPr>
          <p:cNvPr id="14" name="Text 10"/>
          <p:cNvSpPr txBox="1"/>
          <p:nvPr/>
        </p:nvSpPr>
        <p:spPr>
          <a:xfrm>
            <a:off x="3054096" y="23774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Saved file</a:t>
            </a:r>
            <a:endParaRPr lang="en-US" sz="1700" dirty="0"/>
          </a:p>
        </p:txBody>
      </p:sp>
      <p:sp>
        <p:nvSpPr>
          <p:cNvPr id="15" name="Text 11"/>
          <p:cNvSpPr txBox="1"/>
          <p:nvPr/>
        </p:nvSpPr>
        <p:spPr>
          <a:xfrm>
            <a:off x="3054096" y="2834640"/>
            <a:ext cx="1600200" cy="777240"/>
          </a:xfrm>
          <a:prstGeom prst="rect">
            <a:avLst/>
          </a:prstGeom>
          <a:noFill/>
          <a:ln/>
        </p:spPr>
        <p:txBody>
          <a:bodyPr wrap="square" lIns="0" tIns="0" rIns="0" bIns="0" rtlCol="0" anchor="t"/>
          <a:lstStyle/>
          <a:p>
            <a:pPr indent="0" marL="0">
              <a:buNone/>
            </a:pPr>
            <a:r>
              <a:rPr lang="en-US" sz="1500" dirty="0">
                <a:solidFill>
                  <a:schemeClr val="tx1"/>
                </a:solidFill>
              </a:rPr>
              <a:t>1.9 MB</a:t>
            </a:r>
            <a:endParaRPr lang="en-US" sz="1500" dirty="0"/>
          </a:p>
        </p:txBody>
      </p:sp>
      <p:sp>
        <p:nvSpPr>
          <p:cNvPr id="16" name="Deploy arrow 1"/>
          <p:cNvSpPr/>
          <p:nvPr/>
        </p:nvSpPr>
        <p:spPr>
          <a:xfrm>
            <a:off x="4837176" y="2377440"/>
            <a:ext cx="219456" cy="320040"/>
          </a:xfrm>
          <a:prstGeom prst="rightArrow">
            <a:avLst/>
          </a:prstGeom>
          <a:solidFill>
            <a:srgbClr val="E8622C"/>
          </a:solidFill>
          <a:ln/>
        </p:spPr>
      </p:sp>
      <p:sp>
        <p:nvSpPr>
          <p:cNvPr id="17" name="Deploy card 2"/>
          <p:cNvSpPr/>
          <p:nvPr/>
        </p:nvSpPr>
        <p:spPr>
          <a:xfrm>
            <a:off x="5102352" y="1371600"/>
            <a:ext cx="1965960" cy="2377440"/>
          </a:xfrm>
          <a:prstGeom prst="roundRect">
            <a:avLst>
              <a:gd name="adj" fmla="val 3721"/>
            </a:avLst>
          </a:prstGeom>
          <a:solidFill>
            <a:schemeClr val="bg2"/>
          </a:solidFill>
          <a:ln/>
        </p:spPr>
      </p:sp>
      <p:sp>
        <p:nvSpPr>
          <p:cNvPr id="18" name="Deploy 2 circle"/>
          <p:cNvSpPr/>
          <p:nvPr/>
        </p:nvSpPr>
        <p:spPr>
          <a:xfrm>
            <a:off x="5330952" y="1600200"/>
            <a:ext cx="640080" cy="640080"/>
          </a:xfrm>
          <a:prstGeom prst="ellipse">
            <a:avLst/>
          </a:prstGeom>
          <a:solidFill>
            <a:srgbClr val="16243A"/>
          </a:solidFill>
          <a:ln/>
        </p:spPr>
      </p:sp>
      <p:pic>
        <p:nvPicPr>
          <p:cNvPr id="19" name="Deploy 2 icon" descr="preencoded.png">    </p:cNvPr>
          <p:cNvPicPr>
            <a:picLocks noChangeAspect="1"/>
          </p:cNvPicPr>
          <p:nvPr/>
        </p:nvPicPr>
        <p:blipFill>
          <a:blip r:embed="rId3"/>
          <a:stretch>
            <a:fillRect/>
          </a:stretch>
        </p:blipFill>
        <p:spPr>
          <a:xfrm>
            <a:off x="5503774" y="1773022"/>
            <a:ext cx="294437" cy="294437"/>
          </a:xfrm>
          <a:prstGeom prst="rect">
            <a:avLst/>
          </a:prstGeom>
        </p:spPr>
      </p:pic>
      <p:sp>
        <p:nvSpPr>
          <p:cNvPr id="20" name="Text 15"/>
          <p:cNvSpPr txBox="1"/>
          <p:nvPr/>
        </p:nvSpPr>
        <p:spPr>
          <a:xfrm>
            <a:off x="5330952" y="23774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Scoring function</a:t>
            </a:r>
            <a:endParaRPr lang="en-US" sz="1700" dirty="0"/>
          </a:p>
        </p:txBody>
      </p:sp>
      <p:sp>
        <p:nvSpPr>
          <p:cNvPr id="21" name="Text 16"/>
          <p:cNvSpPr txBox="1"/>
          <p:nvPr/>
        </p:nvSpPr>
        <p:spPr>
          <a:xfrm>
            <a:off x="5330952" y="2834640"/>
            <a:ext cx="1600200" cy="777240"/>
          </a:xfrm>
          <a:prstGeom prst="rect">
            <a:avLst/>
          </a:prstGeom>
          <a:noFill/>
          <a:ln/>
        </p:spPr>
        <p:txBody>
          <a:bodyPr wrap="square" lIns="0" tIns="0" rIns="0" bIns="0" rtlCol="0" anchor="t"/>
          <a:lstStyle/>
          <a:p>
            <a:pPr indent="0" marL="0">
              <a:buNone/>
            </a:pPr>
            <a:r>
              <a:rPr lang="en-US" sz="1500" dirty="0">
                <a:solidFill>
                  <a:schemeClr val="tx1"/>
                </a:solidFill>
              </a:rPr>
              <a:t>applicant in, risk out</a:t>
            </a:r>
            <a:endParaRPr lang="en-US" sz="1500" dirty="0"/>
          </a:p>
        </p:txBody>
      </p:sp>
      <p:sp>
        <p:nvSpPr>
          <p:cNvPr id="22" name="Deploy arrow 2"/>
          <p:cNvSpPr/>
          <p:nvPr/>
        </p:nvSpPr>
        <p:spPr>
          <a:xfrm>
            <a:off x="7114032" y="2377440"/>
            <a:ext cx="219456" cy="320040"/>
          </a:xfrm>
          <a:prstGeom prst="rightArrow">
            <a:avLst/>
          </a:prstGeom>
          <a:solidFill>
            <a:srgbClr val="E8622C"/>
          </a:solidFill>
          <a:ln/>
        </p:spPr>
      </p:sp>
      <p:sp>
        <p:nvSpPr>
          <p:cNvPr id="23" name="Deploy card 3"/>
          <p:cNvSpPr/>
          <p:nvPr/>
        </p:nvSpPr>
        <p:spPr>
          <a:xfrm>
            <a:off x="7379208" y="1371600"/>
            <a:ext cx="1965960" cy="2377440"/>
          </a:xfrm>
          <a:prstGeom prst="roundRect">
            <a:avLst>
              <a:gd name="adj" fmla="val 3721"/>
            </a:avLst>
          </a:prstGeom>
          <a:solidFill>
            <a:srgbClr val="16243A"/>
          </a:solidFill>
          <a:ln/>
        </p:spPr>
      </p:sp>
      <p:sp>
        <p:nvSpPr>
          <p:cNvPr id="24" name="Deploy 3 circle"/>
          <p:cNvSpPr/>
          <p:nvPr/>
        </p:nvSpPr>
        <p:spPr>
          <a:xfrm>
            <a:off x="7607808" y="1600200"/>
            <a:ext cx="640080" cy="640080"/>
          </a:xfrm>
          <a:prstGeom prst="ellipse">
            <a:avLst/>
          </a:prstGeom>
          <a:solidFill>
            <a:srgbClr val="E8622C"/>
          </a:solidFill>
          <a:ln/>
        </p:spPr>
      </p:sp>
      <p:pic>
        <p:nvPicPr>
          <p:cNvPr id="25" name="Deploy 3 icon" descr="preencoded.png">    </p:cNvPr>
          <p:cNvPicPr>
            <a:picLocks noChangeAspect="1"/>
          </p:cNvPicPr>
          <p:nvPr/>
        </p:nvPicPr>
        <p:blipFill>
          <a:blip r:embed="rId4"/>
          <a:stretch>
            <a:fillRect/>
          </a:stretch>
        </p:blipFill>
        <p:spPr>
          <a:xfrm>
            <a:off x="7780630" y="1773022"/>
            <a:ext cx="294437" cy="294437"/>
          </a:xfrm>
          <a:prstGeom prst="rect">
            <a:avLst/>
          </a:prstGeom>
        </p:spPr>
      </p:pic>
      <p:sp>
        <p:nvSpPr>
          <p:cNvPr id="26" name="Text 20"/>
          <p:cNvSpPr txBox="1"/>
          <p:nvPr/>
        </p:nvSpPr>
        <p:spPr>
          <a:xfrm>
            <a:off x="7607808" y="2377440"/>
            <a:ext cx="1600200" cy="411480"/>
          </a:xfrm>
          <a:prstGeom prst="rect">
            <a:avLst/>
          </a:prstGeom>
          <a:noFill/>
          <a:ln/>
        </p:spPr>
        <p:txBody>
          <a:bodyPr wrap="square" lIns="0" tIns="0" rIns="0" bIns="0" rtlCol="0" anchor="t"/>
          <a:lstStyle/>
          <a:p>
            <a:pPr indent="0" marL="0">
              <a:buNone/>
            </a:pPr>
            <a:r>
              <a:rPr lang="en-US" sz="1700" b="1" dirty="0">
                <a:solidFill>
                  <a:schemeClr val="bg1"/>
                </a:solidFill>
              </a:rPr>
              <a:t>Batch report</a:t>
            </a:r>
            <a:endParaRPr lang="en-US" sz="1700" dirty="0"/>
          </a:p>
        </p:txBody>
      </p:sp>
      <p:sp>
        <p:nvSpPr>
          <p:cNvPr id="27" name="Text 21"/>
          <p:cNvSpPr txBox="1"/>
          <p:nvPr/>
        </p:nvSpPr>
        <p:spPr>
          <a:xfrm>
            <a:off x="7607808" y="2834640"/>
            <a:ext cx="1600200" cy="777240"/>
          </a:xfrm>
          <a:prstGeom prst="rect">
            <a:avLst/>
          </a:prstGeom>
          <a:noFill/>
          <a:ln/>
        </p:spPr>
        <p:txBody>
          <a:bodyPr wrap="square" lIns="0" tIns="0" rIns="0" bIns="0" rtlCol="0" anchor="t"/>
          <a:lstStyle/>
          <a:p>
            <a:pPr indent="0" marL="0">
              <a:buNone/>
            </a:pPr>
            <a:r>
              <a:rPr lang="en-US" sz="1500" dirty="0">
                <a:solidFill>
                  <a:schemeClr val="bg1"/>
                </a:solidFill>
              </a:rPr>
              <a:t>CSV for Excel / Power BI</a:t>
            </a:r>
            <a:endParaRPr lang="en-US" sz="1500" dirty="0"/>
          </a:p>
        </p:txBody>
      </p:sp>
      <p:sp>
        <p:nvSpPr>
          <p:cNvPr id="28" name="Deploy arrow 3"/>
          <p:cNvSpPr/>
          <p:nvPr/>
        </p:nvSpPr>
        <p:spPr>
          <a:xfrm>
            <a:off x="9390888" y="2377440"/>
            <a:ext cx="219456" cy="320040"/>
          </a:xfrm>
          <a:prstGeom prst="rightArrow">
            <a:avLst/>
          </a:prstGeom>
          <a:solidFill>
            <a:srgbClr val="E8622C"/>
          </a:solidFill>
          <a:ln/>
        </p:spPr>
      </p:sp>
      <p:sp>
        <p:nvSpPr>
          <p:cNvPr id="29" name="Deploy card 4"/>
          <p:cNvSpPr/>
          <p:nvPr/>
        </p:nvSpPr>
        <p:spPr>
          <a:xfrm>
            <a:off x="9656064" y="1371600"/>
            <a:ext cx="1965960" cy="2377440"/>
          </a:xfrm>
          <a:prstGeom prst="roundRect">
            <a:avLst>
              <a:gd name="adj" fmla="val 3721"/>
            </a:avLst>
          </a:prstGeom>
          <a:solidFill>
            <a:srgbClr val="16243A"/>
          </a:solidFill>
          <a:ln/>
        </p:spPr>
      </p:sp>
      <p:sp>
        <p:nvSpPr>
          <p:cNvPr id="30" name="Deploy 4 circle"/>
          <p:cNvSpPr/>
          <p:nvPr/>
        </p:nvSpPr>
        <p:spPr>
          <a:xfrm>
            <a:off x="9884664" y="1600200"/>
            <a:ext cx="640080" cy="640080"/>
          </a:xfrm>
          <a:prstGeom prst="ellipse">
            <a:avLst/>
          </a:prstGeom>
          <a:solidFill>
            <a:srgbClr val="E8622C"/>
          </a:solidFill>
          <a:ln/>
        </p:spPr>
      </p:sp>
      <p:pic>
        <p:nvPicPr>
          <p:cNvPr id="31" name="Deploy 4 icon" descr="preencoded.png">    </p:cNvPr>
          <p:cNvPicPr>
            <a:picLocks noChangeAspect="1"/>
          </p:cNvPicPr>
          <p:nvPr/>
        </p:nvPicPr>
        <p:blipFill>
          <a:blip r:embed="rId5"/>
          <a:stretch>
            <a:fillRect/>
          </a:stretch>
        </p:blipFill>
        <p:spPr>
          <a:xfrm>
            <a:off x="10057486" y="1773022"/>
            <a:ext cx="294437" cy="294437"/>
          </a:xfrm>
          <a:prstGeom prst="rect">
            <a:avLst/>
          </a:prstGeom>
        </p:spPr>
      </p:pic>
      <p:sp>
        <p:nvSpPr>
          <p:cNvPr id="32" name="Text 25"/>
          <p:cNvSpPr txBox="1"/>
          <p:nvPr/>
        </p:nvSpPr>
        <p:spPr>
          <a:xfrm>
            <a:off x="9884664" y="2377440"/>
            <a:ext cx="1600200" cy="411480"/>
          </a:xfrm>
          <a:prstGeom prst="rect">
            <a:avLst/>
          </a:prstGeom>
          <a:noFill/>
          <a:ln/>
        </p:spPr>
        <p:txBody>
          <a:bodyPr wrap="square" lIns="0" tIns="0" rIns="0" bIns="0" rtlCol="0" anchor="t"/>
          <a:lstStyle/>
          <a:p>
            <a:pPr indent="0" marL="0">
              <a:buNone/>
            </a:pPr>
            <a:r>
              <a:rPr lang="en-US" sz="1700" b="1" dirty="0">
                <a:solidFill>
                  <a:schemeClr val="bg1"/>
                </a:solidFill>
              </a:rPr>
              <a:t>Web app + API</a:t>
            </a:r>
            <a:endParaRPr lang="en-US" sz="1700" dirty="0"/>
          </a:p>
        </p:txBody>
      </p:sp>
      <p:sp>
        <p:nvSpPr>
          <p:cNvPr id="33" name="Text 26"/>
          <p:cNvSpPr txBox="1"/>
          <p:nvPr/>
        </p:nvSpPr>
        <p:spPr>
          <a:xfrm>
            <a:off x="9884664" y="2834640"/>
            <a:ext cx="1600200" cy="777240"/>
          </a:xfrm>
          <a:prstGeom prst="rect">
            <a:avLst/>
          </a:prstGeom>
          <a:noFill/>
          <a:ln/>
        </p:spPr>
        <p:txBody>
          <a:bodyPr wrap="square" lIns="0" tIns="0" rIns="0" bIns="0" rtlCol="0" anchor="t"/>
          <a:lstStyle/>
          <a:p>
            <a:pPr indent="0" marL="0">
              <a:buNone/>
            </a:pPr>
            <a:r>
              <a:rPr lang="en-US" sz="1500" dirty="0">
                <a:solidFill>
                  <a:schemeClr val="bg1"/>
                </a:solidFill>
              </a:rPr>
              <a:t>for staff and other systems</a:t>
            </a:r>
            <a:endParaRPr lang="en-US" sz="1500" dirty="0"/>
          </a:p>
        </p:txBody>
      </p:sp>
      <p:sp>
        <p:nvSpPr>
          <p:cNvPr id="34" name="Gate card"/>
          <p:cNvSpPr/>
          <p:nvPr/>
        </p:nvSpPr>
        <p:spPr>
          <a:xfrm>
            <a:off x="548640" y="4069080"/>
            <a:ext cx="6766560" cy="2057400"/>
          </a:xfrm>
          <a:prstGeom prst="roundRect">
            <a:avLst>
              <a:gd name="adj" fmla="val 3556"/>
            </a:avLst>
          </a:prstGeom>
          <a:solidFill>
            <a:srgbClr val="DCF3E8"/>
          </a:solidFill>
          <a:ln/>
        </p:spPr>
      </p:sp>
      <p:sp>
        <p:nvSpPr>
          <p:cNvPr id="35" name="Gate circle"/>
          <p:cNvSpPr/>
          <p:nvPr/>
        </p:nvSpPr>
        <p:spPr>
          <a:xfrm>
            <a:off x="822960" y="4343400"/>
            <a:ext cx="731520" cy="731520"/>
          </a:xfrm>
          <a:prstGeom prst="ellipse">
            <a:avLst/>
          </a:prstGeom>
          <a:solidFill>
            <a:srgbClr val="1A9E6E"/>
          </a:solidFill>
          <a:ln/>
        </p:spPr>
      </p:sp>
      <p:pic>
        <p:nvPicPr>
          <p:cNvPr id="36" name="Gate icon" descr="preencoded.png">    </p:cNvPr>
          <p:cNvPicPr>
            <a:picLocks noChangeAspect="1"/>
          </p:cNvPicPr>
          <p:nvPr/>
        </p:nvPicPr>
        <p:blipFill>
          <a:blip r:embed="rId6"/>
          <a:stretch>
            <a:fillRect/>
          </a:stretch>
        </p:blipFill>
        <p:spPr>
          <a:xfrm>
            <a:off x="1020470" y="4540910"/>
            <a:ext cx="336499" cy="336499"/>
          </a:xfrm>
          <a:prstGeom prst="rect">
            <a:avLst/>
          </a:prstGeom>
        </p:spPr>
      </p:pic>
      <p:sp>
        <p:nvSpPr>
          <p:cNvPr id="37" name="Text 29"/>
          <p:cNvSpPr txBox="1"/>
          <p:nvPr/>
        </p:nvSpPr>
        <p:spPr>
          <a:xfrm>
            <a:off x="1783080" y="4343400"/>
            <a:ext cx="530352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Ready for a pilot</a:t>
            </a:r>
            <a:endParaRPr lang="en-US" sz="2200" dirty="0"/>
          </a:p>
        </p:txBody>
      </p:sp>
      <p:sp>
        <p:nvSpPr>
          <p:cNvPr id="38" name="Text 30"/>
          <p:cNvSpPr txBox="1"/>
          <p:nvPr/>
        </p:nvSpPr>
        <p:spPr>
          <a:xfrm>
            <a:off x="1783080" y="5074920"/>
            <a:ext cx="5349240" cy="868680"/>
          </a:xfrm>
          <a:prstGeom prst="rect">
            <a:avLst/>
          </a:prstGeom>
          <a:noFill/>
          <a:ln/>
        </p:spPr>
        <p:txBody>
          <a:bodyPr wrap="square" lIns="0" tIns="0" rIns="0" bIns="0" rtlCol="0" anchor="t"/>
          <a:lstStyle/>
          <a:p>
            <a:pPr indent="0" marL="0">
              <a:buNone/>
            </a:pPr>
            <a:r>
              <a:rPr lang="en-US" sz="1500" dirty="0">
                <a:solidFill>
                  <a:schemeClr val="tx1"/>
                </a:solidFill>
              </a:rPr>
              <a:t>Pass mark F1 0.50; the model scores 0.77. Start with a credit officer reviewing every High and Medium flag.</a:t>
            </a:r>
            <a:endParaRPr lang="en-US" sz="1500" dirty="0"/>
          </a:p>
        </p:txBody>
      </p:sp>
      <p:sp>
        <p:nvSpPr>
          <p:cNvPr id="39" name="Band card"/>
          <p:cNvSpPr/>
          <p:nvPr/>
        </p:nvSpPr>
        <p:spPr>
          <a:xfrm>
            <a:off x="7498080" y="4069080"/>
            <a:ext cx="4142232" cy="2057400"/>
          </a:xfrm>
          <a:prstGeom prst="roundRect">
            <a:avLst>
              <a:gd name="adj" fmla="val 3556"/>
            </a:avLst>
          </a:prstGeom>
          <a:solidFill>
            <a:schemeClr val="bg2"/>
          </a:solidFill>
          <a:ln/>
        </p:spPr>
      </p:sp>
      <p:sp>
        <p:nvSpPr>
          <p:cNvPr id="40" name="Text 32"/>
          <p:cNvSpPr txBox="1"/>
          <p:nvPr/>
        </p:nvSpPr>
        <p:spPr>
          <a:xfrm>
            <a:off x="7726680" y="4160520"/>
            <a:ext cx="3749040" cy="365760"/>
          </a:xfrm>
          <a:prstGeom prst="rect">
            <a:avLst/>
          </a:prstGeom>
          <a:noFill/>
          <a:ln/>
        </p:spPr>
        <p:txBody>
          <a:bodyPr wrap="square" lIns="0" tIns="0" rIns="0" bIns="0" rtlCol="0" anchor="t"/>
          <a:lstStyle/>
          <a:p>
            <a:pPr indent="0" marL="0">
              <a:buNone/>
            </a:pPr>
            <a:r>
              <a:rPr lang="en-US" sz="1500" b="1" dirty="0">
                <a:solidFill>
                  <a:schemeClr val="tx2"/>
                </a:solidFill>
              </a:rPr>
              <a:t>Risk bands on the test loans</a:t>
            </a:r>
            <a:endParaRPr lang="en-US" sz="1500" dirty="0"/>
          </a:p>
        </p:txBody>
      </p:sp>
      <p:graphicFrame>
        <p:nvGraphicFramePr>
          <p:cNvPr id="21" name="Band table"/>
          <p:cNvGraphicFramePr>
            <a:graphicFrameLocks noGrp="1"/>
          </p:cNvGraphicFramePr>
          <p:nvPr>
            <p:extLst>
              <p:ext uri="{D42A27DB-BD31-4B8C-83A1-F6EECF244321}">
                <p14:modId xmlns:p14="http://schemas.microsoft.com/office/powerpoint/2010/main" val="1579011935"/>
              </p:ext>
            </p:extLst>
          </p:nvPr>
        </p:nvGraphicFramePr>
        <p:xfrm>
          <a:off x="7726680" y="4572000"/>
          <a:ext cx="3703320" cy="914400"/>
        </p:xfrm>
        <a:graphic>
          <a:graphicData uri="http://schemas.openxmlformats.org/drawingml/2006/table">
            <a:tbl>
              <a:tblPr/>
              <a:tblGrid>
                <a:gridCol w="1234440"/>
                <a:gridCol w="1097280"/>
                <a:gridCol w="1371600"/>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Band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Loans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Defaulted</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112</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4 · PUTTING IT TO WORK</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Back to our credit officer: live demo</a:t>
            </a:r>
            <a:endParaRPr lang="en-US" sz="3400" dirty="0"/>
          </a:p>
        </p:txBody>
      </p:sp>
      <p:sp>
        <p:nvSpPr>
          <p:cNvPr id="5" name="Screenshot frame demo2_stretched_crop.png"/>
          <p:cNvSpPr/>
          <p:nvPr/>
        </p:nvSpPr>
        <p:spPr>
          <a:xfrm>
            <a:off x="548640" y="1325880"/>
            <a:ext cx="6400800" cy="3854414"/>
          </a:xfrm>
          <a:prstGeom prst="rect">
            <a:avLst/>
          </a:prstGeom>
          <a:solidFill>
            <a:srgbClr val="FFFFFF"/>
          </a:solidFill>
          <a:ln w="9525">
            <a:solidFill>
              <a:srgbClr val="C9CED6"/>
            </a:solidFill>
            <a:prstDash val="solid"/>
          </a:ln>
        </p:spPr>
      </p:sp>
      <p:pic>
        <p:nvPicPr>
          <p:cNvPr id="6" name="Screenshot demo2_stretched_crop.png" descr="Loan Risk Scorer app showing a high-risk result">    </p:cNvPr>
          <p:cNvPicPr>
            <a:picLocks noChangeAspect="1"/>
          </p:cNvPicPr>
          <p:nvPr/>
        </p:nvPicPr>
        <p:blipFill>
          <a:blip r:embed="rId1"/>
          <a:stretch>
            <a:fillRect/>
          </a:stretch>
        </p:blipFill>
        <p:spPr>
          <a:xfrm>
            <a:off x="603504" y="1380744"/>
            <a:ext cx="6291072" cy="3744686"/>
          </a:xfrm>
          <a:prstGeom prst="rect">
            <a:avLst/>
          </a:prstGeom>
        </p:spPr>
      </p:pic>
      <p:sp>
        <p:nvSpPr>
          <p:cNvPr id="7" name="Text 4"/>
          <p:cNvSpPr txBox="1"/>
          <p:nvPr/>
        </p:nvSpPr>
        <p:spPr>
          <a:xfrm>
            <a:off x="548640" y="5235158"/>
            <a:ext cx="6400800" cy="274320"/>
          </a:xfrm>
          <a:prstGeom prst="rect">
            <a:avLst/>
          </a:prstGeom>
          <a:noFill/>
          <a:ln/>
        </p:spPr>
        <p:txBody>
          <a:bodyPr wrap="square" lIns="0" tIns="0" rIns="0" bIns="0" rtlCol="0" anchor="t"/>
          <a:lstStyle/>
          <a:p>
            <a:pPr indent="0" marL="0">
              <a:buNone/>
            </a:pPr>
            <a:r>
              <a:rPr lang="en-US" sz="1100" i="1" dirty="0">
                <a:solidFill>
                  <a:schemeClr val="accent5"/>
                </a:solidFill>
              </a:rPr>
              <a:t>Stretched account: 67%, High. The healthy account scores 2%, Low, Approve.</a:t>
            </a:r>
            <a:endParaRPr lang="en-US" sz="1100" dirty="0"/>
          </a:p>
        </p:txBody>
      </p:sp>
      <p:sp>
        <p:nvSpPr>
          <p:cNvPr id="8" name="Demo panel"/>
          <p:cNvSpPr/>
          <p:nvPr/>
        </p:nvSpPr>
        <p:spPr>
          <a:xfrm>
            <a:off x="7178040" y="1325880"/>
            <a:ext cx="4462272" cy="4846320"/>
          </a:xfrm>
          <a:prstGeom prst="roundRect">
            <a:avLst>
              <a:gd name="adj" fmla="val 1639"/>
            </a:avLst>
          </a:prstGeom>
          <a:solidFill>
            <a:srgbClr val="16243A"/>
          </a:solidFill>
          <a:ln/>
        </p:spPr>
      </p:sp>
      <p:sp>
        <p:nvSpPr>
          <p:cNvPr id="9" name="Demo circle"/>
          <p:cNvSpPr/>
          <p:nvPr/>
        </p:nvSpPr>
        <p:spPr>
          <a:xfrm>
            <a:off x="7406640" y="1554480"/>
            <a:ext cx="640080" cy="640080"/>
          </a:xfrm>
          <a:prstGeom prst="ellipse">
            <a:avLst/>
          </a:prstGeom>
          <a:solidFill>
            <a:srgbClr val="E8622C"/>
          </a:solidFill>
          <a:ln/>
        </p:spPr>
      </p:sp>
      <p:pic>
        <p:nvPicPr>
          <p:cNvPr id="10" name="Demo icon" descr="preencoded.png">    </p:cNvPr>
          <p:cNvPicPr>
            <a:picLocks noChangeAspect="1"/>
          </p:cNvPicPr>
          <p:nvPr/>
        </p:nvPicPr>
        <p:blipFill>
          <a:blip r:embed="rId2"/>
          <a:stretch>
            <a:fillRect/>
          </a:stretch>
        </p:blipFill>
        <p:spPr>
          <a:xfrm>
            <a:off x="7579462" y="1727302"/>
            <a:ext cx="294437" cy="294437"/>
          </a:xfrm>
          <a:prstGeom prst="rect">
            <a:avLst/>
          </a:prstGeom>
        </p:spPr>
      </p:pic>
      <p:sp>
        <p:nvSpPr>
          <p:cNvPr id="11" name="Text 7"/>
          <p:cNvSpPr txBox="1"/>
          <p:nvPr/>
        </p:nvSpPr>
        <p:spPr>
          <a:xfrm>
            <a:off x="8229600" y="1554480"/>
            <a:ext cx="3200400" cy="640080"/>
          </a:xfrm>
          <a:prstGeom prst="rect">
            <a:avLst/>
          </a:prstGeom>
          <a:noFill/>
          <a:ln/>
        </p:spPr>
        <p:txBody>
          <a:bodyPr wrap="square" lIns="0" tIns="0" rIns="0" bIns="0" rtlCol="0" anchor="ctr"/>
          <a:lstStyle/>
          <a:p>
            <a:pPr indent="0" marL="0">
              <a:buNone/>
            </a:pPr>
            <a:r>
              <a:rPr lang="en-US" sz="2000" b="1" dirty="0">
                <a:solidFill>
                  <a:schemeClr val="bg1"/>
                </a:solidFill>
              </a:rPr>
              <a:t>What I'll show</a:t>
            </a:r>
            <a:endParaRPr lang="en-US" sz="2000" dirty="0"/>
          </a:p>
        </p:txBody>
      </p:sp>
      <p:sp>
        <p:nvSpPr>
          <p:cNvPr id="12" name="Text 8"/>
          <p:cNvSpPr txBox="1"/>
          <p:nvPr/>
        </p:nvSpPr>
        <p:spPr>
          <a:xfrm>
            <a:off x="7406640" y="2423160"/>
            <a:ext cx="4023360" cy="27432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bg1"/>
                </a:solidFill>
              </a:rPr>
              <a:t>Open the app (Loan_Risk_Demo notebook)</a:t>
            </a:r>
            <a:endParaRPr lang="en-US" sz="1600" dirty="0"/>
          </a:p>
          <a:p>
            <a:pPr marL="342900" indent="-342900">
              <a:spcAft>
                <a:spcPts val="1000"/>
              </a:spcAft>
              <a:buSzPct val="100000"/>
              <a:buFont typeface="+mj-lt"/>
              <a:buAutoNum type="arabicPeriod" startAt="1"/>
            </a:pPr>
            <a:r>
              <a:rPr lang="en-US" sz="1600" dirty="0">
                <a:solidFill>
                  <a:schemeClr val="bg1"/>
                </a:solidFill>
              </a:rPr>
              <a:t>Click Healthy account, then Check risk: 2%, Approve</a:t>
            </a:r>
            <a:endParaRPr lang="en-US" sz="1600" dirty="0"/>
          </a:p>
          <a:p>
            <a:pPr marL="342900" indent="-342900">
              <a:spcAft>
                <a:spcPts val="1000"/>
              </a:spcAft>
              <a:buSzPct val="100000"/>
              <a:buFont typeface="+mj-lt"/>
              <a:buAutoNum type="arabicPeriod" startAt="1"/>
            </a:pPr>
            <a:r>
              <a:rPr lang="en-US" sz="1600" dirty="0">
                <a:solidFill>
                  <a:schemeClr val="bg1"/>
                </a:solidFill>
              </a:rPr>
              <a:t>Click Stretched account: 67%, High</a:t>
            </a:r>
            <a:endParaRPr lang="en-US" sz="1600" dirty="0"/>
          </a:p>
          <a:p>
            <a:pPr marL="342900" indent="-342900">
              <a:spcAft>
                <a:spcPts val="1000"/>
              </a:spcAft>
              <a:buSzPct val="100000"/>
              <a:buFont typeface="+mj-lt"/>
              <a:buAutoNum type="arabicPeriod" startAt="1"/>
            </a:pPr>
            <a:r>
              <a:rPr lang="en-US" sz="1600" dirty="0">
                <a:solidFill>
                  <a:schemeClr val="bg1"/>
                </a:solidFill>
              </a:rPr>
              <a:t>Read out 'What the model noticed'</a:t>
            </a:r>
            <a:endParaRPr lang="en-US" sz="1600" dirty="0"/>
          </a:p>
        </p:txBody>
      </p:sp>
      <p:sp>
        <p:nvSpPr>
          <p:cNvPr id="13" name="Text 9"/>
          <p:cNvSpPr txBox="1"/>
          <p:nvPr/>
        </p:nvSpPr>
        <p:spPr>
          <a:xfrm>
            <a:off x="7406640" y="5577840"/>
            <a:ext cx="4023360" cy="365760"/>
          </a:xfrm>
          <a:prstGeom prst="rect">
            <a:avLst/>
          </a:prstGeom>
          <a:noFill/>
          <a:ln/>
        </p:spPr>
        <p:txBody>
          <a:bodyPr wrap="square" lIns="0" tIns="0" rIns="0" bIns="0" rtlCol="0" anchor="t"/>
          <a:lstStyle/>
          <a:p>
            <a:pPr indent="0" marL="0">
              <a:buNone/>
            </a:pPr>
            <a:r>
              <a:rPr lang="en-US" sz="1300" i="1" dirty="0">
                <a:solidFill>
                  <a:srgbClr val="CADCFC"/>
                </a:solidFill>
              </a:rPr>
              <a:t>Backup: this screenshot, or the app in section 12 of the notebook.</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PART 4 · PUTTING IT TO WORK</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Keeping it working: scale and monitoring</a:t>
            </a:r>
            <a:endParaRPr lang="en-US" sz="3400" dirty="0"/>
          </a:p>
        </p:txBody>
      </p:sp>
      <p:sp>
        <p:nvSpPr>
          <p:cNvPr id="5" name="Scale tile 0"/>
          <p:cNvSpPr/>
          <p:nvPr/>
        </p:nvSpPr>
        <p:spPr>
          <a:xfrm>
            <a:off x="548640" y="1325880"/>
            <a:ext cx="5120640" cy="896112"/>
          </a:xfrm>
          <a:prstGeom prst="roundRect">
            <a:avLst>
              <a:gd name="adj" fmla="val 8163"/>
            </a:avLst>
          </a:prstGeom>
          <a:solidFill>
            <a:srgbClr val="16243A"/>
          </a:solidFill>
          <a:ln/>
        </p:spPr>
      </p:sp>
      <p:sp>
        <p:nvSpPr>
          <p:cNvPr id="6" name="Text 4"/>
          <p:cNvSpPr txBox="1"/>
          <p:nvPr/>
        </p:nvSpPr>
        <p:spPr>
          <a:xfrm>
            <a:off x="777240" y="1417320"/>
            <a:ext cx="1828800" cy="71323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~140,000</a:t>
            </a:r>
            <a:endParaRPr lang="en-US" sz="2600" dirty="0"/>
          </a:p>
        </p:txBody>
      </p:sp>
      <p:sp>
        <p:nvSpPr>
          <p:cNvPr id="7" name="Text 5"/>
          <p:cNvSpPr txBox="1"/>
          <p:nvPr/>
        </p:nvSpPr>
        <p:spPr>
          <a:xfrm>
            <a:off x="2697480" y="1417320"/>
            <a:ext cx="2834640" cy="713232"/>
          </a:xfrm>
          <a:prstGeom prst="rect">
            <a:avLst/>
          </a:prstGeom>
          <a:noFill/>
          <a:ln/>
        </p:spPr>
        <p:txBody>
          <a:bodyPr wrap="square" lIns="0" tIns="0" rIns="0" bIns="0" rtlCol="0" anchor="ctr"/>
          <a:lstStyle/>
          <a:p>
            <a:pPr indent="0" marL="0">
              <a:buNone/>
            </a:pPr>
            <a:r>
              <a:rPr lang="en-US" sz="1400" dirty="0">
                <a:solidFill>
                  <a:schemeClr val="bg1"/>
                </a:solidFill>
              </a:rPr>
              <a:t>loans scored per second</a:t>
            </a:r>
            <a:endParaRPr lang="en-US" sz="1400" dirty="0"/>
          </a:p>
        </p:txBody>
      </p:sp>
      <p:sp>
        <p:nvSpPr>
          <p:cNvPr id="8" name="Scale tile 1"/>
          <p:cNvSpPr/>
          <p:nvPr/>
        </p:nvSpPr>
        <p:spPr>
          <a:xfrm>
            <a:off x="548640" y="2350008"/>
            <a:ext cx="5120640" cy="896112"/>
          </a:xfrm>
          <a:prstGeom prst="roundRect">
            <a:avLst>
              <a:gd name="adj" fmla="val 8163"/>
            </a:avLst>
          </a:prstGeom>
          <a:solidFill>
            <a:srgbClr val="16243A"/>
          </a:solidFill>
          <a:ln/>
        </p:spPr>
      </p:sp>
      <p:sp>
        <p:nvSpPr>
          <p:cNvPr id="9" name="Text 7"/>
          <p:cNvSpPr txBox="1"/>
          <p:nvPr/>
        </p:nvSpPr>
        <p:spPr>
          <a:xfrm>
            <a:off x="777240" y="2441448"/>
            <a:ext cx="1828800" cy="71323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 M+</a:t>
            </a:r>
            <a:endParaRPr lang="en-US" sz="2600" dirty="0"/>
          </a:p>
        </p:txBody>
      </p:sp>
      <p:sp>
        <p:nvSpPr>
          <p:cNvPr id="10" name="Text 8"/>
          <p:cNvSpPr txBox="1"/>
          <p:nvPr/>
        </p:nvSpPr>
        <p:spPr>
          <a:xfrm>
            <a:off x="2697480" y="2441448"/>
            <a:ext cx="2834640" cy="713232"/>
          </a:xfrm>
          <a:prstGeom prst="rect">
            <a:avLst/>
          </a:prstGeom>
          <a:noFill/>
          <a:ln/>
        </p:spPr>
        <p:txBody>
          <a:bodyPr wrap="square" lIns="0" tIns="0" rIns="0" bIns="0" rtlCol="0" anchor="ctr"/>
          <a:lstStyle/>
          <a:p>
            <a:pPr indent="0" marL="0">
              <a:buNone/>
            </a:pPr>
            <a:r>
              <a:rPr lang="en-US" sz="1400" dirty="0">
                <a:solidFill>
                  <a:schemeClr val="bg1"/>
                </a:solidFill>
              </a:rPr>
              <a:t>transactions summarised in under a second</a:t>
            </a:r>
            <a:endParaRPr lang="en-US" sz="1400" dirty="0"/>
          </a:p>
        </p:txBody>
      </p:sp>
      <p:sp>
        <p:nvSpPr>
          <p:cNvPr id="11" name="Scale tile 2"/>
          <p:cNvSpPr/>
          <p:nvPr/>
        </p:nvSpPr>
        <p:spPr>
          <a:xfrm>
            <a:off x="548640" y="3374136"/>
            <a:ext cx="5120640" cy="896112"/>
          </a:xfrm>
          <a:prstGeom prst="roundRect">
            <a:avLst>
              <a:gd name="adj" fmla="val 8163"/>
            </a:avLst>
          </a:prstGeom>
          <a:solidFill>
            <a:srgbClr val="16243A"/>
          </a:solidFill>
          <a:ln/>
        </p:spPr>
      </p:sp>
      <p:sp>
        <p:nvSpPr>
          <p:cNvPr id="12" name="Text 10"/>
          <p:cNvSpPr txBox="1"/>
          <p:nvPr/>
        </p:nvSpPr>
        <p:spPr>
          <a:xfrm>
            <a:off x="777240" y="3465576"/>
            <a:ext cx="1828800" cy="71323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0.65</a:t>
            </a:r>
            <a:endParaRPr lang="en-US" sz="2600" dirty="0"/>
          </a:p>
        </p:txBody>
      </p:sp>
      <p:sp>
        <p:nvSpPr>
          <p:cNvPr id="13" name="Text 11"/>
          <p:cNvSpPr txBox="1"/>
          <p:nvPr/>
        </p:nvSpPr>
        <p:spPr>
          <a:xfrm>
            <a:off x="2697480" y="3465576"/>
            <a:ext cx="2834640" cy="713232"/>
          </a:xfrm>
          <a:prstGeom prst="rect">
            <a:avLst/>
          </a:prstGeom>
          <a:noFill/>
          <a:ln/>
        </p:spPr>
        <p:txBody>
          <a:bodyPr wrap="square" lIns="0" tIns="0" rIns="0" bIns="0" rtlCol="0" anchor="ctr"/>
          <a:lstStyle/>
          <a:p>
            <a:pPr indent="0" marL="0">
              <a:buNone/>
            </a:pPr>
            <a:r>
              <a:rPr lang="en-US" sz="1400" dirty="0">
                <a:solidFill>
                  <a:schemeClr val="bg1"/>
                </a:solidFill>
              </a:rPr>
              <a:t>F1 on later years (retrained 1993–96, tested 1997–98)</a:t>
            </a:r>
            <a:endParaRPr lang="en-US" sz="1400" dirty="0"/>
          </a:p>
        </p:txBody>
      </p:sp>
      <p:sp>
        <p:nvSpPr>
          <p:cNvPr id="14" name="Adapt card"/>
          <p:cNvSpPr/>
          <p:nvPr/>
        </p:nvSpPr>
        <p:spPr>
          <a:xfrm>
            <a:off x="548640" y="4526280"/>
            <a:ext cx="5120640" cy="1600200"/>
          </a:xfrm>
          <a:prstGeom prst="roundRect">
            <a:avLst>
              <a:gd name="adj" fmla="val 4571"/>
            </a:avLst>
          </a:prstGeom>
          <a:solidFill>
            <a:schemeClr val="bg2"/>
          </a:solidFill>
          <a:ln/>
        </p:spPr>
      </p:sp>
      <p:sp>
        <p:nvSpPr>
          <p:cNvPr id="15" name="Text 13"/>
          <p:cNvSpPr txBox="1"/>
          <p:nvPr/>
        </p:nvSpPr>
        <p:spPr>
          <a:xfrm>
            <a:off x="777240" y="4663440"/>
            <a:ext cx="4663440" cy="13716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b="1" dirty="0">
                <a:solidFill>
                  <a:schemeClr val="tx2"/>
                </a:solidFill>
              </a:rPr>
              <a:t>Growth: </a:t>
            </a:r>
            <a:pPr indent="0" marL="0">
              <a:spcAft>
                <a:spcPts val="600"/>
              </a:spcAft>
              <a:buNone/>
            </a:pPr>
            <a:r>
              <a:rPr lang="en-US" sz="1500" dirty="0">
                <a:solidFill>
                  <a:schemeClr val="tx1"/>
                </a:solidFill>
              </a:rPr>
              <a:t>same model file runs in parallel batch jobs</a:t>
            </a:r>
            <a:endParaRPr lang="en-US" sz="1500" dirty="0"/>
          </a:p>
          <a:p>
            <a:pPr marL="342900" indent="-342900">
              <a:spcAft>
                <a:spcPts val="600"/>
              </a:spcAft>
              <a:buSzPct val="100000"/>
              <a:buFont typeface="+mj-lt"/>
              <a:buAutoNum type="arabicPeriod" startAt="1"/>
            </a:pPr>
            <a:r>
              <a:rPr lang="en-US" sz="1500" b="1" dirty="0">
                <a:solidFill>
                  <a:schemeClr val="tx2"/>
                </a:solidFill>
              </a:rPr>
              <a:t>Change: </a:t>
            </a:r>
            <a:pPr indent="0" marL="0">
              <a:spcAft>
                <a:spcPts val="600"/>
              </a:spcAft>
              <a:buNone/>
            </a:pPr>
            <a:r>
              <a:rPr lang="en-US" sz="1500" dirty="0">
                <a:solidFill>
                  <a:schemeClr val="tx1"/>
                </a:solidFill>
              </a:rPr>
              <a:t>one function retrains it on new data</a:t>
            </a:r>
            <a:endParaRPr lang="en-US" sz="1500" dirty="0"/>
          </a:p>
        </p:txBody>
      </p:sp>
      <p:sp>
        <p:nvSpPr>
          <p:cNvPr id="16" name="Screenshot frame perf_chart.png"/>
          <p:cNvSpPr/>
          <p:nvPr/>
        </p:nvSpPr>
        <p:spPr>
          <a:xfrm>
            <a:off x="6567803" y="1325880"/>
            <a:ext cx="4448307" cy="2240280"/>
          </a:xfrm>
          <a:prstGeom prst="rect">
            <a:avLst/>
          </a:prstGeom>
          <a:solidFill>
            <a:srgbClr val="FFFFFF"/>
          </a:solidFill>
          <a:ln w="9525">
            <a:solidFill>
              <a:srgbClr val="C9CED6"/>
            </a:solidFill>
            <a:prstDash val="solid"/>
          </a:ln>
        </p:spPr>
      </p:sp>
      <p:pic>
        <p:nvPicPr>
          <p:cNvPr id="17" name="Screenshot perf_chart.png" descr="Screenshot: perf_chart.png">    </p:cNvPr>
          <p:cNvPicPr>
            <a:picLocks noChangeAspect="1"/>
          </p:cNvPicPr>
          <p:nvPr/>
        </p:nvPicPr>
        <p:blipFill>
          <a:blip r:embed="rId1"/>
          <a:stretch>
            <a:fillRect/>
          </a:stretch>
        </p:blipFill>
        <p:spPr>
          <a:xfrm>
            <a:off x="6622667" y="1380744"/>
            <a:ext cx="4338579" cy="2130552"/>
          </a:xfrm>
          <a:prstGeom prst="rect">
            <a:avLst/>
          </a:prstGeom>
        </p:spPr>
      </p:pic>
      <p:sp>
        <p:nvSpPr>
          <p:cNvPr id="18" name="Text 15"/>
          <p:cNvSpPr txBox="1"/>
          <p:nvPr/>
        </p:nvSpPr>
        <p:spPr>
          <a:xfrm>
            <a:off x="6567803" y="3621024"/>
            <a:ext cx="4448307" cy="274320"/>
          </a:xfrm>
          <a:prstGeom prst="rect">
            <a:avLst/>
          </a:prstGeom>
          <a:noFill/>
          <a:ln/>
        </p:spPr>
        <p:txBody>
          <a:bodyPr wrap="square" lIns="0" tIns="0" rIns="0" bIns="0" rtlCol="0" anchor="t"/>
          <a:lstStyle/>
          <a:p>
            <a:pPr indent="0" marL="0">
              <a:buNone/>
            </a:pPr>
            <a:r>
              <a:rPr lang="en-US" sz="1100" i="1" dirty="0">
                <a:solidFill>
                  <a:schemeClr val="accent5"/>
                </a:solidFill>
              </a:rPr>
              <a:t>F1 score by loan year stays at or above the 0.50 alert line</a:t>
            </a:r>
            <a:endParaRPr lang="en-US" sz="1100" dirty="0"/>
          </a:p>
        </p:txBody>
      </p:sp>
      <p:graphicFrame>
        <p:nvGraphicFramePr>
          <p:cNvPr id="23" name="Monitoring table"/>
          <p:cNvGraphicFramePr>
            <a:graphicFrameLocks noGrp="1"/>
          </p:cNvGraphicFramePr>
          <p:nvPr>
            <p:extLst>
              <p:ext uri="{D42A27DB-BD31-4B8C-83A1-F6EECF244321}">
                <p14:modId xmlns:p14="http://schemas.microsoft.com/office/powerpoint/2010/main" val="1579011935"/>
              </p:ext>
            </p:extLst>
          </p:nvPr>
        </p:nvGraphicFramePr>
        <p:xfrm>
          <a:off x="5943600" y="4023360"/>
          <a:ext cx="5696712" cy="914400"/>
        </p:xfrm>
        <a:graphic>
          <a:graphicData uri="http://schemas.openxmlformats.org/drawingml/2006/table">
            <a:tbl>
              <a:tblPr/>
              <a:tblGrid>
                <a:gridCol w="2560320"/>
                <a:gridCol w="1554480"/>
                <a:gridCol w="1581912"/>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Monthly check</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Now</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Alert if</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Change in applicants (PSI)</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0.13 watch</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&gt; 0.25</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Model quality (F1 score)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0.50–0.71</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&lt; 0.50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Default-rate shift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−5.5 pts *</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&gt; ±5 pts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20" name="Text 16"/>
          <p:cNvSpPr txBox="1"/>
          <p:nvPr/>
        </p:nvSpPr>
        <p:spPr>
          <a:xfrm>
            <a:off x="5943600" y="5669280"/>
            <a:ext cx="5696712" cy="411480"/>
          </a:xfrm>
          <a:prstGeom prst="rect">
            <a:avLst/>
          </a:prstGeom>
          <a:noFill/>
          <a:ln/>
        </p:spPr>
        <p:txBody>
          <a:bodyPr wrap="square" lIns="0" tIns="0" rIns="0" bIns="0" rtlCol="0" anchor="t"/>
          <a:lstStyle/>
          <a:p>
            <a:pPr indent="0" marL="0">
              <a:buNone/>
            </a:pPr>
            <a:r>
              <a:rPr lang="en-US" sz="1200" i="1" dirty="0">
                <a:solidFill>
                  <a:schemeClr val="accent5"/>
                </a:solidFill>
              </a:rPr>
              <a:t>* 1998 loans are too new to have defaulted yet: compare loans of the same age.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THE ENDING</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Research objectives: what I found</a:t>
            </a:r>
            <a:endParaRPr lang="en-US" sz="3400" dirty="0"/>
          </a:p>
        </p:txBody>
      </p:sp>
      <p:sp>
        <p:nvSpPr>
          <p:cNvPr id="5" name="Objective row 0"/>
          <p:cNvSpPr/>
          <p:nvPr/>
        </p:nvSpPr>
        <p:spPr>
          <a:xfrm>
            <a:off x="548640" y="1371600"/>
            <a:ext cx="5422392" cy="1463040"/>
          </a:xfrm>
          <a:prstGeom prst="roundRect">
            <a:avLst>
              <a:gd name="adj" fmla="val 5000"/>
            </a:avLst>
          </a:prstGeom>
          <a:solidFill>
            <a:schemeClr val="bg2"/>
          </a:solidFill>
          <a:ln/>
        </p:spPr>
      </p:sp>
      <p:sp>
        <p:nvSpPr>
          <p:cNvPr id="6" name="Obj num 0"/>
          <p:cNvSpPr/>
          <p:nvPr/>
        </p:nvSpPr>
        <p:spPr>
          <a:xfrm>
            <a:off x="777240" y="1600200"/>
            <a:ext cx="548640" cy="548640"/>
          </a:xfrm>
          <a:prstGeom prst="ellipse">
            <a:avLst/>
          </a:prstGeom>
          <a:solidFill>
            <a:srgbClr val="16243A"/>
          </a:solidFill>
          <a:ln/>
        </p:spPr>
      </p:sp>
      <p:sp>
        <p:nvSpPr>
          <p:cNvPr id="7" name="Text 5"/>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554480" y="1572768"/>
            <a:ext cx="4233672" cy="457200"/>
          </a:xfrm>
          <a:prstGeom prst="rect">
            <a:avLst/>
          </a:prstGeom>
          <a:noFill/>
          <a:ln/>
        </p:spPr>
        <p:txBody>
          <a:bodyPr wrap="square" lIns="0" tIns="0" rIns="0" bIns="0" rtlCol="0" anchor="t"/>
          <a:lstStyle/>
          <a:p>
            <a:pPr indent="0" marL="0">
              <a:buNone/>
            </a:pPr>
            <a:r>
              <a:rPr lang="en-US" sz="1700" b="1" dirty="0">
                <a:solidFill>
                  <a:schemeClr val="tx2"/>
                </a:solidFill>
              </a:rPr>
              <a:t>Clean and combine the 8 tables</a:t>
            </a:r>
            <a:endParaRPr lang="en-US" sz="1700" dirty="0"/>
          </a:p>
        </p:txBody>
      </p:sp>
      <p:sp>
        <p:nvSpPr>
          <p:cNvPr id="9" name="Text 7"/>
          <p:cNvSpPr txBox="1"/>
          <p:nvPr/>
        </p:nvSpPr>
        <p:spPr>
          <a:xfrm>
            <a:off x="1554480" y="205740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One reliable table: 682 loans, no rows lost in 8 joins</a:t>
            </a:r>
            <a:endParaRPr lang="en-US" sz="1500" dirty="0"/>
          </a:p>
        </p:txBody>
      </p:sp>
      <p:sp>
        <p:nvSpPr>
          <p:cNvPr id="10" name="Objective row 1"/>
          <p:cNvSpPr/>
          <p:nvPr/>
        </p:nvSpPr>
        <p:spPr>
          <a:xfrm>
            <a:off x="6199632" y="1371600"/>
            <a:ext cx="5422392" cy="1463040"/>
          </a:xfrm>
          <a:prstGeom prst="roundRect">
            <a:avLst>
              <a:gd name="adj" fmla="val 5000"/>
            </a:avLst>
          </a:prstGeom>
          <a:solidFill>
            <a:schemeClr val="bg2"/>
          </a:solidFill>
          <a:ln/>
        </p:spPr>
      </p:sp>
      <p:sp>
        <p:nvSpPr>
          <p:cNvPr id="11" name="Obj num 1"/>
          <p:cNvSpPr/>
          <p:nvPr/>
        </p:nvSpPr>
        <p:spPr>
          <a:xfrm>
            <a:off x="6428232" y="1600200"/>
            <a:ext cx="548640" cy="548640"/>
          </a:xfrm>
          <a:prstGeom prst="ellipse">
            <a:avLst/>
          </a:prstGeom>
          <a:solidFill>
            <a:srgbClr val="16243A"/>
          </a:solidFill>
          <a:ln/>
        </p:spPr>
      </p:sp>
      <p:sp>
        <p:nvSpPr>
          <p:cNvPr id="12" name="Text 10"/>
          <p:cNvSpPr txBox="1"/>
          <p:nvPr/>
        </p:nvSpPr>
        <p:spPr>
          <a:xfrm>
            <a:off x="6428232"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7205472" y="1572768"/>
            <a:ext cx="4233672" cy="457200"/>
          </a:xfrm>
          <a:prstGeom prst="rect">
            <a:avLst/>
          </a:prstGeom>
          <a:noFill/>
          <a:ln/>
        </p:spPr>
        <p:txBody>
          <a:bodyPr wrap="square" lIns="0" tIns="0" rIns="0" bIns="0" rtlCol="0" anchor="t"/>
          <a:lstStyle/>
          <a:p>
            <a:pPr indent="0" marL="0">
              <a:buNone/>
            </a:pPr>
            <a:r>
              <a:rPr lang="en-US" sz="1700" b="1" dirty="0">
                <a:solidFill>
                  <a:schemeClr val="tx2"/>
                </a:solidFill>
              </a:rPr>
              <a:t>Does account behaviour matter?</a:t>
            </a:r>
            <a:endParaRPr lang="en-US" sz="1700" dirty="0"/>
          </a:p>
        </p:txBody>
      </p:sp>
      <p:sp>
        <p:nvSpPr>
          <p:cNvPr id="14" name="Text 12"/>
          <p:cNvSpPr txBox="1"/>
          <p:nvPr/>
        </p:nvSpPr>
        <p:spPr>
          <a:xfrm>
            <a:off x="7205472" y="205740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Strongly: low, unstable balances and overdrafts signal risk</a:t>
            </a:r>
            <a:endParaRPr lang="en-US" sz="1500" dirty="0"/>
          </a:p>
        </p:txBody>
      </p:sp>
      <p:sp>
        <p:nvSpPr>
          <p:cNvPr id="15" name="Objective row 2"/>
          <p:cNvSpPr/>
          <p:nvPr/>
        </p:nvSpPr>
        <p:spPr>
          <a:xfrm>
            <a:off x="548640" y="3017520"/>
            <a:ext cx="5422392" cy="1463040"/>
          </a:xfrm>
          <a:prstGeom prst="roundRect">
            <a:avLst>
              <a:gd name="adj" fmla="val 5000"/>
            </a:avLst>
          </a:prstGeom>
          <a:solidFill>
            <a:schemeClr val="bg2"/>
          </a:solidFill>
          <a:ln/>
        </p:spPr>
      </p:sp>
      <p:sp>
        <p:nvSpPr>
          <p:cNvPr id="16" name="Obj num 2"/>
          <p:cNvSpPr/>
          <p:nvPr/>
        </p:nvSpPr>
        <p:spPr>
          <a:xfrm>
            <a:off x="777240" y="3246120"/>
            <a:ext cx="548640" cy="548640"/>
          </a:xfrm>
          <a:prstGeom prst="ellipse">
            <a:avLst/>
          </a:prstGeom>
          <a:solidFill>
            <a:srgbClr val="16243A"/>
          </a:solidFill>
          <a:ln/>
        </p:spPr>
      </p:sp>
      <p:sp>
        <p:nvSpPr>
          <p:cNvPr id="17" name="Text 15"/>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1554480" y="3218688"/>
            <a:ext cx="4233672" cy="457200"/>
          </a:xfrm>
          <a:prstGeom prst="rect">
            <a:avLst/>
          </a:prstGeom>
          <a:noFill/>
          <a:ln/>
        </p:spPr>
        <p:txBody>
          <a:bodyPr wrap="square" lIns="0" tIns="0" rIns="0" bIns="0" rtlCol="0" anchor="t"/>
          <a:lstStyle/>
          <a:p>
            <a:pPr indent="0" marL="0">
              <a:buNone/>
            </a:pPr>
            <a:r>
              <a:rPr lang="en-US" sz="1700" b="1" dirty="0">
                <a:solidFill>
                  <a:schemeClr val="tx2"/>
                </a:solidFill>
              </a:rPr>
              <a:t>Do loan terms matter?</a:t>
            </a:r>
            <a:endParaRPr lang="en-US" sz="1700" dirty="0"/>
          </a:p>
        </p:txBody>
      </p:sp>
      <p:sp>
        <p:nvSpPr>
          <p:cNvPr id="19" name="Text 17"/>
          <p:cNvSpPr txBox="1"/>
          <p:nvPr/>
        </p:nvSpPr>
        <p:spPr>
          <a:xfrm>
            <a:off x="1554480" y="370332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Yes: a payment that is large versus the balance raises risk</a:t>
            </a:r>
            <a:endParaRPr lang="en-US" sz="1500" dirty="0"/>
          </a:p>
        </p:txBody>
      </p:sp>
      <p:sp>
        <p:nvSpPr>
          <p:cNvPr id="20" name="Objective row 3"/>
          <p:cNvSpPr/>
          <p:nvPr/>
        </p:nvSpPr>
        <p:spPr>
          <a:xfrm>
            <a:off x="6199632" y="3017520"/>
            <a:ext cx="5422392" cy="1463040"/>
          </a:xfrm>
          <a:prstGeom prst="roundRect">
            <a:avLst>
              <a:gd name="adj" fmla="val 5000"/>
            </a:avLst>
          </a:prstGeom>
          <a:solidFill>
            <a:schemeClr val="bg2"/>
          </a:solidFill>
          <a:ln/>
        </p:spPr>
      </p:sp>
      <p:sp>
        <p:nvSpPr>
          <p:cNvPr id="21" name="Obj num 3"/>
          <p:cNvSpPr/>
          <p:nvPr/>
        </p:nvSpPr>
        <p:spPr>
          <a:xfrm>
            <a:off x="6428232" y="3246120"/>
            <a:ext cx="548640" cy="548640"/>
          </a:xfrm>
          <a:prstGeom prst="ellipse">
            <a:avLst/>
          </a:prstGeom>
          <a:solidFill>
            <a:srgbClr val="16243A"/>
          </a:solidFill>
          <a:ln/>
        </p:spPr>
      </p:sp>
      <p:sp>
        <p:nvSpPr>
          <p:cNvPr id="22" name="Text 20"/>
          <p:cNvSpPr txBox="1"/>
          <p:nvPr/>
        </p:nvSpPr>
        <p:spPr>
          <a:xfrm>
            <a:off x="6428232"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Text 21"/>
          <p:cNvSpPr txBox="1"/>
          <p:nvPr/>
        </p:nvSpPr>
        <p:spPr>
          <a:xfrm>
            <a:off x="7205472" y="3218688"/>
            <a:ext cx="4233672" cy="457200"/>
          </a:xfrm>
          <a:prstGeom prst="rect">
            <a:avLst/>
          </a:prstGeom>
          <a:noFill/>
          <a:ln/>
        </p:spPr>
        <p:txBody>
          <a:bodyPr wrap="square" lIns="0" tIns="0" rIns="0" bIns="0" rtlCol="0" anchor="t"/>
          <a:lstStyle/>
          <a:p>
            <a:pPr indent="0" marL="0">
              <a:buNone/>
            </a:pPr>
            <a:r>
              <a:rPr lang="en-US" sz="1700" b="1" dirty="0">
                <a:solidFill>
                  <a:schemeClr val="tx2"/>
                </a:solidFill>
              </a:rPr>
              <a:t>Do customer and regional factors matter?</a:t>
            </a:r>
            <a:endParaRPr lang="en-US" sz="1700" dirty="0"/>
          </a:p>
        </p:txBody>
      </p:sp>
      <p:sp>
        <p:nvSpPr>
          <p:cNvPr id="24" name="Text 22"/>
          <p:cNvSpPr txBox="1"/>
          <p:nvPr/>
        </p:nvSpPr>
        <p:spPr>
          <a:xfrm>
            <a:off x="7205472" y="370332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Less: shared accounts are safer; region has little effect</a:t>
            </a:r>
            <a:endParaRPr lang="en-US" sz="1500" dirty="0"/>
          </a:p>
        </p:txBody>
      </p:sp>
      <p:sp>
        <p:nvSpPr>
          <p:cNvPr id="25" name="Objective row 4"/>
          <p:cNvSpPr/>
          <p:nvPr/>
        </p:nvSpPr>
        <p:spPr>
          <a:xfrm>
            <a:off x="548640" y="4663440"/>
            <a:ext cx="5422392" cy="1463040"/>
          </a:xfrm>
          <a:prstGeom prst="roundRect">
            <a:avLst>
              <a:gd name="adj" fmla="val 5000"/>
            </a:avLst>
          </a:prstGeom>
          <a:solidFill>
            <a:schemeClr val="bg2"/>
          </a:solidFill>
          <a:ln/>
        </p:spPr>
      </p:sp>
      <p:sp>
        <p:nvSpPr>
          <p:cNvPr id="26" name="Obj num 4"/>
          <p:cNvSpPr/>
          <p:nvPr/>
        </p:nvSpPr>
        <p:spPr>
          <a:xfrm>
            <a:off x="777240" y="4892040"/>
            <a:ext cx="548640" cy="548640"/>
          </a:xfrm>
          <a:prstGeom prst="ellipse">
            <a:avLst/>
          </a:prstGeom>
          <a:solidFill>
            <a:srgbClr val="16243A"/>
          </a:solidFill>
          <a:ln/>
        </p:spPr>
      </p:sp>
      <p:sp>
        <p:nvSpPr>
          <p:cNvPr id="27" name="Text 25"/>
          <p:cNvSpPr txBox="1"/>
          <p:nvPr/>
        </p:nvSpPr>
        <p:spPr>
          <a:xfrm>
            <a:off x="777240"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8" name="Text 26"/>
          <p:cNvSpPr txBox="1"/>
          <p:nvPr/>
        </p:nvSpPr>
        <p:spPr>
          <a:xfrm>
            <a:off x="1554480" y="4864608"/>
            <a:ext cx="4233672" cy="457200"/>
          </a:xfrm>
          <a:prstGeom prst="rect">
            <a:avLst/>
          </a:prstGeom>
          <a:noFill/>
          <a:ln/>
        </p:spPr>
        <p:txBody>
          <a:bodyPr wrap="square" lIns="0" tIns="0" rIns="0" bIns="0" rtlCol="0" anchor="t"/>
          <a:lstStyle/>
          <a:p>
            <a:pPr indent="0" marL="0">
              <a:buNone/>
            </a:pPr>
            <a:r>
              <a:rPr lang="en-US" sz="1700" b="1" dirty="0">
                <a:solidFill>
                  <a:schemeClr val="tx2"/>
                </a:solidFill>
              </a:rPr>
              <a:t>Build and compare prediction models</a:t>
            </a:r>
            <a:endParaRPr lang="en-US" sz="1700" dirty="0"/>
          </a:p>
        </p:txBody>
      </p:sp>
      <p:sp>
        <p:nvSpPr>
          <p:cNvPr id="29" name="Text 27"/>
          <p:cNvSpPr txBox="1"/>
          <p:nvPr/>
        </p:nvSpPr>
        <p:spPr>
          <a:xfrm>
            <a:off x="1554480" y="534924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Best model: F1 0.77 on unseen loans (pass mark 0.50)</a:t>
            </a:r>
            <a:endParaRPr lang="en-US" sz="1500" dirty="0"/>
          </a:p>
        </p:txBody>
      </p:sp>
      <p:sp>
        <p:nvSpPr>
          <p:cNvPr id="30" name="Objective row 5"/>
          <p:cNvSpPr/>
          <p:nvPr/>
        </p:nvSpPr>
        <p:spPr>
          <a:xfrm>
            <a:off x="6199632" y="4663440"/>
            <a:ext cx="5422392" cy="1463040"/>
          </a:xfrm>
          <a:prstGeom prst="roundRect">
            <a:avLst>
              <a:gd name="adj" fmla="val 5000"/>
            </a:avLst>
          </a:prstGeom>
          <a:solidFill>
            <a:schemeClr val="bg2"/>
          </a:solidFill>
          <a:ln/>
        </p:spPr>
      </p:sp>
      <p:sp>
        <p:nvSpPr>
          <p:cNvPr id="31" name="Obj num 5"/>
          <p:cNvSpPr/>
          <p:nvPr/>
        </p:nvSpPr>
        <p:spPr>
          <a:xfrm>
            <a:off x="6428232" y="4892040"/>
            <a:ext cx="548640" cy="548640"/>
          </a:xfrm>
          <a:prstGeom prst="ellipse">
            <a:avLst/>
          </a:prstGeom>
          <a:solidFill>
            <a:srgbClr val="16243A"/>
          </a:solidFill>
          <a:ln/>
        </p:spPr>
      </p:sp>
      <p:sp>
        <p:nvSpPr>
          <p:cNvPr id="32" name="Text 30"/>
          <p:cNvSpPr txBox="1"/>
          <p:nvPr/>
        </p:nvSpPr>
        <p:spPr>
          <a:xfrm>
            <a:off x="6428232"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3" name="Text 31"/>
          <p:cNvSpPr txBox="1"/>
          <p:nvPr/>
        </p:nvSpPr>
        <p:spPr>
          <a:xfrm>
            <a:off x="7205472" y="4864608"/>
            <a:ext cx="4233672" cy="457200"/>
          </a:xfrm>
          <a:prstGeom prst="rect">
            <a:avLst/>
          </a:prstGeom>
          <a:noFill/>
          <a:ln/>
        </p:spPr>
        <p:txBody>
          <a:bodyPr wrap="square" lIns="0" tIns="0" rIns="0" bIns="0" rtlCol="0" anchor="t"/>
          <a:lstStyle/>
          <a:p>
            <a:pPr indent="0" marL="0">
              <a:buNone/>
            </a:pPr>
            <a:r>
              <a:rPr lang="en-US" sz="1700" b="1" dirty="0">
                <a:solidFill>
                  <a:schemeClr val="tx2"/>
                </a:solidFill>
              </a:rPr>
              <a:t>Recommend next steps</a:t>
            </a:r>
            <a:endParaRPr lang="en-US" sz="1700" dirty="0"/>
          </a:p>
        </p:txBody>
      </p:sp>
      <p:sp>
        <p:nvSpPr>
          <p:cNvPr id="34" name="Text 32"/>
          <p:cNvSpPr txBox="1"/>
          <p:nvPr/>
        </p:nvSpPr>
        <p:spPr>
          <a:xfrm>
            <a:off x="7205472" y="5349240"/>
            <a:ext cx="4233672" cy="685800"/>
          </a:xfrm>
          <a:prstGeom prst="rect">
            <a:avLst/>
          </a:prstGeom>
          <a:noFill/>
          <a:ln/>
        </p:spPr>
        <p:txBody>
          <a:bodyPr wrap="square" lIns="0" tIns="0" rIns="0" bIns="0" rtlCol="0" anchor="t"/>
          <a:lstStyle/>
          <a:p>
            <a:pPr indent="0" marL="0">
              <a:buNone/>
            </a:pPr>
            <a:r>
              <a:rPr lang="en-US" sz="1500" b="1" dirty="0">
                <a:solidFill>
                  <a:schemeClr val="accent1"/>
                </a:solidFill>
              </a:rPr>
              <a:t>Found: </a:t>
            </a:r>
            <a:pPr indent="0" marL="0">
              <a:buNone/>
            </a:pPr>
            <a:r>
              <a:rPr lang="en-US" sz="1500" dirty="0">
                <a:solidFill>
                  <a:schemeClr val="tx1"/>
                </a:solidFill>
              </a:rPr>
              <a:t>Pilot the model with a credit officer; monitor monthly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THE ENDING</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ending: the problem, solved</a:t>
            </a:r>
            <a:endParaRPr lang="en-US" sz="3400" dirty="0"/>
          </a:p>
        </p:txBody>
      </p:sp>
      <p:sp>
        <p:nvSpPr>
          <p:cNvPr id="5" name="Results card"/>
          <p:cNvSpPr/>
          <p:nvPr/>
        </p:nvSpPr>
        <p:spPr>
          <a:xfrm>
            <a:off x="548640" y="1280160"/>
            <a:ext cx="5989320" cy="4206240"/>
          </a:xfrm>
          <a:prstGeom prst="roundRect">
            <a:avLst>
              <a:gd name="adj" fmla="val 1739"/>
            </a:avLst>
          </a:prstGeom>
          <a:solidFill>
            <a:schemeClr val="bg2"/>
          </a:solidFill>
          <a:ln/>
        </p:spPr>
      </p:sp>
      <p:sp>
        <p:nvSpPr>
          <p:cNvPr id="6" name="Results circle"/>
          <p:cNvSpPr/>
          <p:nvPr/>
        </p:nvSpPr>
        <p:spPr>
          <a:xfrm>
            <a:off x="777240" y="1417320"/>
            <a:ext cx="548640" cy="548640"/>
          </a:xfrm>
          <a:prstGeom prst="ellipse">
            <a:avLst/>
          </a:prstGeom>
          <a:solidFill>
            <a:srgbClr val="16243A"/>
          </a:solidFill>
          <a:ln/>
        </p:spPr>
      </p:sp>
      <p:pic>
        <p:nvPicPr>
          <p:cNvPr id="7" name="Results icon" descr="preencoded.png">    </p:cNvPr>
          <p:cNvPicPr>
            <a:picLocks noChangeAspect="1"/>
          </p:cNvPicPr>
          <p:nvPr/>
        </p:nvPicPr>
        <p:blipFill>
          <a:blip r:embed="rId1"/>
          <a:stretch>
            <a:fillRect/>
          </a:stretch>
        </p:blipFill>
        <p:spPr>
          <a:xfrm>
            <a:off x="925373" y="1565453"/>
            <a:ext cx="252374" cy="252374"/>
          </a:xfrm>
          <a:prstGeom prst="rect">
            <a:avLst/>
          </a:prstGeom>
        </p:spPr>
      </p:pic>
      <p:sp>
        <p:nvSpPr>
          <p:cNvPr id="8" name="Text 5"/>
          <p:cNvSpPr txBox="1"/>
          <p:nvPr/>
        </p:nvSpPr>
        <p:spPr>
          <a:xfrm>
            <a:off x="1463040" y="1417320"/>
            <a:ext cx="4937760" cy="548640"/>
          </a:xfrm>
          <a:prstGeom prst="rect">
            <a:avLst/>
          </a:prstGeom>
          <a:noFill/>
          <a:ln/>
        </p:spPr>
        <p:txBody>
          <a:bodyPr wrap="square" lIns="0" tIns="0" rIns="0" bIns="0" rtlCol="0" anchor="ctr"/>
          <a:lstStyle/>
          <a:p>
            <a:pPr indent="0" marL="0">
              <a:buNone/>
            </a:pPr>
            <a:r>
              <a:rPr lang="en-US" sz="1600" b="1" dirty="0">
                <a:solidFill>
                  <a:schemeClr val="tx2"/>
                </a:solidFill>
              </a:rPr>
              <a:t>How well it works: 137 loans it had never seen</a:t>
            </a:r>
            <a:endParaRPr lang="en-US" sz="1600" dirty="0"/>
          </a:p>
        </p:txBody>
      </p:sp>
      <p:sp>
        <p:nvSpPr>
          <p:cNvPr id="9" name="Text 6"/>
          <p:cNvSpPr txBox="1"/>
          <p:nvPr/>
        </p:nvSpPr>
        <p:spPr>
          <a:xfrm>
            <a:off x="1783080" y="2057400"/>
            <a:ext cx="2542032" cy="228600"/>
          </a:xfrm>
          <a:prstGeom prst="rect">
            <a:avLst/>
          </a:prstGeom>
          <a:noFill/>
          <a:ln/>
        </p:spPr>
        <p:txBody>
          <a:bodyPr wrap="square" lIns="0" tIns="0" rIns="0" bIns="0" rtlCol="0" anchor="t"/>
          <a:lstStyle/>
          <a:p>
            <a:pPr algn="ctr" indent="0" marL="0">
              <a:buNone/>
            </a:pPr>
            <a:r>
              <a:rPr lang="en-US" sz="1150" b="1" dirty="0">
                <a:solidFill>
                  <a:schemeClr val="tx2"/>
                </a:solidFill>
              </a:rPr>
              <a:t>Model said</a:t>
            </a:r>
            <a:endParaRPr lang="en-US" sz="1150" dirty="0"/>
          </a:p>
        </p:txBody>
      </p:sp>
      <p:sp>
        <p:nvSpPr>
          <p:cNvPr id="10" name="Text 7"/>
          <p:cNvSpPr txBox="1"/>
          <p:nvPr/>
        </p:nvSpPr>
        <p:spPr>
          <a:xfrm>
            <a:off x="1783080" y="2267712"/>
            <a:ext cx="1234440" cy="228600"/>
          </a:xfrm>
          <a:prstGeom prst="rect">
            <a:avLst/>
          </a:prstGeom>
          <a:noFill/>
          <a:ln/>
        </p:spPr>
        <p:txBody>
          <a:bodyPr wrap="square" lIns="0" tIns="0" rIns="0" bIns="0" rtlCol="0" anchor="t"/>
          <a:lstStyle/>
          <a:p>
            <a:pPr algn="ctr" indent="0" marL="0">
              <a:buNone/>
            </a:pPr>
            <a:r>
              <a:rPr lang="en-US" sz="1100" dirty="0">
                <a:solidFill>
                  <a:schemeClr val="accent5"/>
                </a:solidFill>
              </a:rPr>
              <a:t>Good</a:t>
            </a:r>
            <a:endParaRPr lang="en-US" sz="1100" dirty="0"/>
          </a:p>
        </p:txBody>
      </p:sp>
      <p:sp>
        <p:nvSpPr>
          <p:cNvPr id="11" name="Text 8"/>
          <p:cNvSpPr txBox="1"/>
          <p:nvPr/>
        </p:nvSpPr>
        <p:spPr>
          <a:xfrm>
            <a:off x="3090672" y="2267712"/>
            <a:ext cx="1234440" cy="228600"/>
          </a:xfrm>
          <a:prstGeom prst="rect">
            <a:avLst/>
          </a:prstGeom>
          <a:noFill/>
          <a:ln/>
        </p:spPr>
        <p:txBody>
          <a:bodyPr wrap="square" lIns="0" tIns="0" rIns="0" bIns="0" rtlCol="0" anchor="t"/>
          <a:lstStyle/>
          <a:p>
            <a:pPr algn="ctr" indent="0" marL="0">
              <a:buNone/>
            </a:pPr>
            <a:r>
              <a:rPr lang="en-US" sz="1100" dirty="0">
                <a:solidFill>
                  <a:schemeClr val="accent5"/>
                </a:solidFill>
              </a:rPr>
              <a:t>Bad</a:t>
            </a:r>
            <a:endParaRPr lang="en-US" sz="1100" dirty="0"/>
          </a:p>
        </p:txBody>
      </p:sp>
      <p:sp>
        <p:nvSpPr>
          <p:cNvPr id="12" name="Text 9"/>
          <p:cNvSpPr txBox="1"/>
          <p:nvPr/>
        </p:nvSpPr>
        <p:spPr>
          <a:xfrm>
            <a:off x="685800" y="2514600"/>
            <a:ext cx="1051560" cy="960120"/>
          </a:xfrm>
          <a:prstGeom prst="rect">
            <a:avLst/>
          </a:prstGeom>
          <a:noFill/>
          <a:ln/>
        </p:spPr>
        <p:txBody>
          <a:bodyPr wrap="square" lIns="0" tIns="0" rIns="0" bIns="0" rtlCol="0" anchor="ctr"/>
          <a:lstStyle/>
          <a:p>
            <a:pPr algn="r" indent="0" marL="0">
              <a:buNone/>
            </a:pPr>
            <a:r>
              <a:rPr lang="en-US" sz="1100" dirty="0">
                <a:solidFill>
                  <a:schemeClr val="accent5"/>
                </a:solidFill>
              </a:rPr>
              <a:t>Really good</a:t>
            </a:r>
            <a:endParaRPr lang="en-US" sz="1100" dirty="0"/>
          </a:p>
        </p:txBody>
      </p:sp>
      <p:sp>
        <p:nvSpPr>
          <p:cNvPr id="13" name="Text 10"/>
          <p:cNvSpPr txBox="1"/>
          <p:nvPr/>
        </p:nvSpPr>
        <p:spPr>
          <a:xfrm>
            <a:off x="685800" y="3547872"/>
            <a:ext cx="1051560" cy="960120"/>
          </a:xfrm>
          <a:prstGeom prst="rect">
            <a:avLst/>
          </a:prstGeom>
          <a:noFill/>
          <a:ln/>
        </p:spPr>
        <p:txBody>
          <a:bodyPr wrap="square" lIns="0" tIns="0" rIns="0" bIns="0" rtlCol="0" anchor="ctr"/>
          <a:lstStyle/>
          <a:p>
            <a:pPr algn="r" indent="0" marL="0">
              <a:buNone/>
            </a:pPr>
            <a:r>
              <a:rPr lang="en-US" sz="1100" dirty="0">
                <a:solidFill>
                  <a:schemeClr val="accent5"/>
                </a:solidFill>
              </a:rPr>
              <a:t>Really bad</a:t>
            </a:r>
            <a:endParaRPr lang="en-US" sz="1100" dirty="0"/>
          </a:p>
        </p:txBody>
      </p:sp>
      <p:sp>
        <p:nvSpPr>
          <p:cNvPr id="14" name="Mini CM 0"/>
          <p:cNvSpPr/>
          <p:nvPr/>
        </p:nvSpPr>
        <p:spPr>
          <a:xfrm>
            <a:off x="1783080" y="2514600"/>
            <a:ext cx="1234440" cy="960120"/>
          </a:xfrm>
          <a:prstGeom prst="roundRect">
            <a:avLst>
              <a:gd name="adj" fmla="val 7619"/>
            </a:avLst>
          </a:prstGeom>
          <a:solidFill>
            <a:srgbClr val="DCE9F9"/>
          </a:solidFill>
          <a:ln/>
        </p:spPr>
      </p:sp>
      <p:sp>
        <p:nvSpPr>
          <p:cNvPr id="15" name="Text 12"/>
          <p:cNvSpPr txBox="1"/>
          <p:nvPr/>
        </p:nvSpPr>
        <p:spPr>
          <a:xfrm>
            <a:off x="1783080" y="2587752"/>
            <a:ext cx="123444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121</a:t>
            </a:r>
            <a:endParaRPr lang="en-US" sz="2400" dirty="0"/>
          </a:p>
        </p:txBody>
      </p:sp>
      <p:sp>
        <p:nvSpPr>
          <p:cNvPr id="16" name="Text 13"/>
          <p:cNvSpPr txBox="1"/>
          <p:nvPr/>
        </p:nvSpPr>
        <p:spPr>
          <a:xfrm>
            <a:off x="1783080" y="3090672"/>
            <a:ext cx="1234440" cy="274320"/>
          </a:xfrm>
          <a:prstGeom prst="rect">
            <a:avLst/>
          </a:prstGeom>
          <a:noFill/>
          <a:ln/>
        </p:spPr>
        <p:txBody>
          <a:bodyPr wrap="square" lIns="0" tIns="0" rIns="0" bIns="0" rtlCol="0" anchor="t"/>
          <a:lstStyle/>
          <a:p>
            <a:pPr algn="ctr" indent="0" marL="0">
              <a:buNone/>
            </a:pPr>
            <a:r>
              <a:rPr lang="en-US" sz="1100" dirty="0">
                <a:solidFill>
                  <a:schemeClr val="tx2"/>
                </a:solidFill>
              </a:rPr>
              <a:t>approved</a:t>
            </a:r>
            <a:endParaRPr lang="en-US" sz="1100" dirty="0"/>
          </a:p>
        </p:txBody>
      </p:sp>
      <p:sp>
        <p:nvSpPr>
          <p:cNvPr id="17" name="Mini CM 1"/>
          <p:cNvSpPr/>
          <p:nvPr/>
        </p:nvSpPr>
        <p:spPr>
          <a:xfrm>
            <a:off x="3090672" y="2514600"/>
            <a:ext cx="1234440" cy="960120"/>
          </a:xfrm>
          <a:prstGeom prst="roundRect">
            <a:avLst>
              <a:gd name="adj" fmla="val 7619"/>
            </a:avLst>
          </a:prstGeom>
          <a:solidFill>
            <a:srgbClr val="FCE6DC"/>
          </a:solidFill>
          <a:ln/>
        </p:spPr>
      </p:sp>
      <p:sp>
        <p:nvSpPr>
          <p:cNvPr id="18" name="Text 15"/>
          <p:cNvSpPr txBox="1"/>
          <p:nvPr/>
        </p:nvSpPr>
        <p:spPr>
          <a:xfrm>
            <a:off x="3090672" y="2587752"/>
            <a:ext cx="123444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1</a:t>
            </a:r>
            <a:endParaRPr lang="en-US" sz="2400" dirty="0"/>
          </a:p>
        </p:txBody>
      </p:sp>
      <p:sp>
        <p:nvSpPr>
          <p:cNvPr id="19" name="Text 16"/>
          <p:cNvSpPr txBox="1"/>
          <p:nvPr/>
        </p:nvSpPr>
        <p:spPr>
          <a:xfrm>
            <a:off x="3090672" y="3090672"/>
            <a:ext cx="1234440" cy="274320"/>
          </a:xfrm>
          <a:prstGeom prst="rect">
            <a:avLst/>
          </a:prstGeom>
          <a:noFill/>
          <a:ln/>
        </p:spPr>
        <p:txBody>
          <a:bodyPr wrap="square" lIns="0" tIns="0" rIns="0" bIns="0" rtlCol="0" anchor="t"/>
          <a:lstStyle/>
          <a:p>
            <a:pPr algn="ctr" indent="0" marL="0">
              <a:buNone/>
            </a:pPr>
            <a:r>
              <a:rPr lang="en-US" sz="1100" dirty="0">
                <a:solidFill>
                  <a:schemeClr val="tx2"/>
                </a:solidFill>
              </a:rPr>
              <a:t>false alarm</a:t>
            </a:r>
            <a:endParaRPr lang="en-US" sz="1100" dirty="0"/>
          </a:p>
        </p:txBody>
      </p:sp>
      <p:sp>
        <p:nvSpPr>
          <p:cNvPr id="20" name="Mini CM 2"/>
          <p:cNvSpPr/>
          <p:nvPr/>
        </p:nvSpPr>
        <p:spPr>
          <a:xfrm>
            <a:off x="1783080" y="3547872"/>
            <a:ext cx="1234440" cy="960120"/>
          </a:xfrm>
          <a:prstGeom prst="roundRect">
            <a:avLst>
              <a:gd name="adj" fmla="val 7619"/>
            </a:avLst>
          </a:prstGeom>
          <a:solidFill>
            <a:srgbClr val="FCE6DC"/>
          </a:solidFill>
          <a:ln/>
        </p:spPr>
      </p:sp>
      <p:sp>
        <p:nvSpPr>
          <p:cNvPr id="21" name="Text 18"/>
          <p:cNvSpPr txBox="1"/>
          <p:nvPr/>
        </p:nvSpPr>
        <p:spPr>
          <a:xfrm>
            <a:off x="1783080" y="3621024"/>
            <a:ext cx="1234440" cy="50292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5</a:t>
            </a:r>
            <a:endParaRPr lang="en-US" sz="2400" dirty="0"/>
          </a:p>
        </p:txBody>
      </p:sp>
      <p:sp>
        <p:nvSpPr>
          <p:cNvPr id="22" name="Text 19"/>
          <p:cNvSpPr txBox="1"/>
          <p:nvPr/>
        </p:nvSpPr>
        <p:spPr>
          <a:xfrm>
            <a:off x="1783080" y="4123944"/>
            <a:ext cx="1234440" cy="274320"/>
          </a:xfrm>
          <a:prstGeom prst="rect">
            <a:avLst/>
          </a:prstGeom>
          <a:noFill/>
          <a:ln/>
        </p:spPr>
        <p:txBody>
          <a:bodyPr wrap="square" lIns="0" tIns="0" rIns="0" bIns="0" rtlCol="0" anchor="t"/>
          <a:lstStyle/>
          <a:p>
            <a:pPr algn="ctr" indent="0" marL="0">
              <a:buNone/>
            </a:pPr>
            <a:r>
              <a:rPr lang="en-US" sz="1100" dirty="0">
                <a:solidFill>
                  <a:schemeClr val="tx2"/>
                </a:solidFill>
              </a:rPr>
              <a:t>missed</a:t>
            </a:r>
            <a:endParaRPr lang="en-US" sz="1100" dirty="0"/>
          </a:p>
        </p:txBody>
      </p:sp>
      <p:sp>
        <p:nvSpPr>
          <p:cNvPr id="23" name="Mini CM 3"/>
          <p:cNvSpPr/>
          <p:nvPr/>
        </p:nvSpPr>
        <p:spPr>
          <a:xfrm>
            <a:off x="3090672" y="3547872"/>
            <a:ext cx="1234440" cy="960120"/>
          </a:xfrm>
          <a:prstGeom prst="roundRect">
            <a:avLst>
              <a:gd name="adj" fmla="val 7619"/>
            </a:avLst>
          </a:prstGeom>
          <a:solidFill>
            <a:srgbClr val="1A9E6E"/>
          </a:solidFill>
          <a:ln/>
        </p:spPr>
      </p:sp>
      <p:sp>
        <p:nvSpPr>
          <p:cNvPr id="24" name="Text 21"/>
          <p:cNvSpPr txBox="1"/>
          <p:nvPr/>
        </p:nvSpPr>
        <p:spPr>
          <a:xfrm>
            <a:off x="3090672" y="3621024"/>
            <a:ext cx="1234440" cy="50292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25" name="Text 22"/>
          <p:cNvSpPr txBox="1"/>
          <p:nvPr/>
        </p:nvSpPr>
        <p:spPr>
          <a:xfrm>
            <a:off x="3090672" y="4123944"/>
            <a:ext cx="1234440" cy="274320"/>
          </a:xfrm>
          <a:prstGeom prst="rect">
            <a:avLst/>
          </a:prstGeom>
          <a:noFill/>
          <a:ln/>
        </p:spPr>
        <p:txBody>
          <a:bodyPr wrap="square" lIns="0" tIns="0" rIns="0" bIns="0" rtlCol="0" anchor="t"/>
          <a:lstStyle/>
          <a:p>
            <a:pPr algn="ctr" indent="0" marL="0">
              <a:buNone/>
            </a:pPr>
            <a:r>
              <a:rPr lang="en-US" sz="1100" dirty="0">
                <a:solidFill>
                  <a:srgbClr val="FFFFFF"/>
                </a:solidFill>
              </a:rPr>
              <a:t>caught</a:t>
            </a:r>
            <a:endParaRPr lang="en-US" sz="1100" dirty="0"/>
          </a:p>
        </p:txBody>
      </p:sp>
      <p:sp>
        <p:nvSpPr>
          <p:cNvPr id="26" name="Score 0"/>
          <p:cNvSpPr/>
          <p:nvPr/>
        </p:nvSpPr>
        <p:spPr>
          <a:xfrm>
            <a:off x="4480560" y="2057400"/>
            <a:ext cx="1920240" cy="658368"/>
          </a:xfrm>
          <a:prstGeom prst="roundRect">
            <a:avLst>
              <a:gd name="adj" fmla="val 11111"/>
            </a:avLst>
          </a:prstGeom>
          <a:solidFill>
            <a:srgbClr val="16243A"/>
          </a:solidFill>
          <a:ln/>
        </p:spPr>
      </p:sp>
      <p:sp>
        <p:nvSpPr>
          <p:cNvPr id="27" name="Text 24"/>
          <p:cNvSpPr txBox="1"/>
          <p:nvPr/>
        </p:nvSpPr>
        <p:spPr>
          <a:xfrm>
            <a:off x="4553712" y="2084832"/>
            <a:ext cx="731520" cy="60350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0.77</a:t>
            </a:r>
            <a:endParaRPr lang="en-US" sz="1800" dirty="0"/>
          </a:p>
        </p:txBody>
      </p:sp>
      <p:sp>
        <p:nvSpPr>
          <p:cNvPr id="28" name="Text 25"/>
          <p:cNvSpPr txBox="1"/>
          <p:nvPr/>
        </p:nvSpPr>
        <p:spPr>
          <a:xfrm>
            <a:off x="5266944" y="2084832"/>
            <a:ext cx="1115568" cy="603504"/>
          </a:xfrm>
          <a:prstGeom prst="rect">
            <a:avLst/>
          </a:prstGeom>
          <a:noFill/>
          <a:ln/>
        </p:spPr>
        <p:txBody>
          <a:bodyPr wrap="square" lIns="0" tIns="0" rIns="0" bIns="0" rtlCol="0" anchor="ctr"/>
          <a:lstStyle/>
          <a:p>
            <a:pPr indent="0" marL="0">
              <a:buNone/>
            </a:pPr>
            <a:r>
              <a:rPr lang="en-US" sz="1050" b="1" dirty="0">
                <a:solidFill>
                  <a:schemeClr val="bg1"/>
                </a:solidFill>
              </a:rPr>
              <a:t>F1 score</a:t>
            </a:r>
            <a:endParaRPr lang="en-US" sz="1050" dirty="0"/>
          </a:p>
          <a:p>
            <a:pPr indent="0" marL="0">
              <a:buNone/>
            </a:pPr>
            <a:r>
              <a:rPr lang="en-US" sz="1000" dirty="0">
                <a:solidFill>
                  <a:srgbClr val="CADCFC"/>
                </a:solidFill>
              </a:rPr>
              <a:t>pass mark 0.50</a:t>
            </a:r>
            <a:endParaRPr lang="en-US" sz="1050" dirty="0"/>
          </a:p>
        </p:txBody>
      </p:sp>
      <p:sp>
        <p:nvSpPr>
          <p:cNvPr id="29" name="Score 1"/>
          <p:cNvSpPr/>
          <p:nvPr/>
        </p:nvSpPr>
        <p:spPr>
          <a:xfrm>
            <a:off x="4480560" y="2788920"/>
            <a:ext cx="1920240" cy="658368"/>
          </a:xfrm>
          <a:prstGeom prst="roundRect">
            <a:avLst>
              <a:gd name="adj" fmla="val 11111"/>
            </a:avLst>
          </a:prstGeom>
          <a:solidFill>
            <a:srgbClr val="FFFFFF"/>
          </a:solidFill>
          <a:ln/>
        </p:spPr>
      </p:sp>
      <p:sp>
        <p:nvSpPr>
          <p:cNvPr id="30" name="Text 27"/>
          <p:cNvSpPr txBox="1"/>
          <p:nvPr/>
        </p:nvSpPr>
        <p:spPr>
          <a:xfrm>
            <a:off x="4553712" y="2816352"/>
            <a:ext cx="731520" cy="60350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91%</a:t>
            </a:r>
            <a:endParaRPr lang="en-US" sz="1800" dirty="0"/>
          </a:p>
        </p:txBody>
      </p:sp>
      <p:sp>
        <p:nvSpPr>
          <p:cNvPr id="31" name="Text 28"/>
          <p:cNvSpPr txBox="1"/>
          <p:nvPr/>
        </p:nvSpPr>
        <p:spPr>
          <a:xfrm>
            <a:off x="5266944" y="2816352"/>
            <a:ext cx="1115568" cy="603504"/>
          </a:xfrm>
          <a:prstGeom prst="rect">
            <a:avLst/>
          </a:prstGeom>
          <a:noFill/>
          <a:ln/>
        </p:spPr>
        <p:txBody>
          <a:bodyPr wrap="square" lIns="0" tIns="0" rIns="0" bIns="0" rtlCol="0" anchor="ctr"/>
          <a:lstStyle/>
          <a:p>
            <a:pPr indent="0" marL="0">
              <a:buNone/>
            </a:pPr>
            <a:r>
              <a:rPr lang="en-US" sz="1050" b="1" dirty="0">
                <a:solidFill>
                  <a:schemeClr val="tx1"/>
                </a:solidFill>
              </a:rPr>
              <a:t>warnings right</a:t>
            </a:r>
            <a:endParaRPr lang="en-US" sz="1050" dirty="0"/>
          </a:p>
          <a:p>
            <a:pPr indent="0" marL="0">
              <a:buNone/>
            </a:pPr>
            <a:r>
              <a:rPr lang="en-US" sz="1000" dirty="0">
                <a:solidFill>
                  <a:schemeClr val="accent5"/>
                </a:solidFill>
              </a:rPr>
              <a:t>10 of 11</a:t>
            </a:r>
            <a:endParaRPr lang="en-US" sz="1050" dirty="0"/>
          </a:p>
        </p:txBody>
      </p:sp>
      <p:sp>
        <p:nvSpPr>
          <p:cNvPr id="32" name="Score 2"/>
          <p:cNvSpPr/>
          <p:nvPr/>
        </p:nvSpPr>
        <p:spPr>
          <a:xfrm>
            <a:off x="4480560" y="3520440"/>
            <a:ext cx="1920240" cy="658368"/>
          </a:xfrm>
          <a:prstGeom prst="roundRect">
            <a:avLst>
              <a:gd name="adj" fmla="val 11111"/>
            </a:avLst>
          </a:prstGeom>
          <a:solidFill>
            <a:srgbClr val="FFFFFF"/>
          </a:solidFill>
          <a:ln/>
        </p:spPr>
      </p:sp>
      <p:sp>
        <p:nvSpPr>
          <p:cNvPr id="33" name="Text 30"/>
          <p:cNvSpPr txBox="1"/>
          <p:nvPr/>
        </p:nvSpPr>
        <p:spPr>
          <a:xfrm>
            <a:off x="4553712" y="3547872"/>
            <a:ext cx="731520" cy="60350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67%</a:t>
            </a:r>
            <a:endParaRPr lang="en-US" sz="1800" dirty="0"/>
          </a:p>
        </p:txBody>
      </p:sp>
      <p:sp>
        <p:nvSpPr>
          <p:cNvPr id="34" name="Text 31"/>
          <p:cNvSpPr txBox="1"/>
          <p:nvPr/>
        </p:nvSpPr>
        <p:spPr>
          <a:xfrm>
            <a:off x="5266944" y="3547872"/>
            <a:ext cx="1115568" cy="603504"/>
          </a:xfrm>
          <a:prstGeom prst="rect">
            <a:avLst/>
          </a:prstGeom>
          <a:noFill/>
          <a:ln/>
        </p:spPr>
        <p:txBody>
          <a:bodyPr wrap="square" lIns="0" tIns="0" rIns="0" bIns="0" rtlCol="0" anchor="ctr"/>
          <a:lstStyle/>
          <a:p>
            <a:pPr indent="0" marL="0">
              <a:buNone/>
            </a:pPr>
            <a:r>
              <a:rPr lang="en-US" sz="1050" b="1" dirty="0">
                <a:solidFill>
                  <a:schemeClr val="tx1"/>
                </a:solidFill>
              </a:rPr>
              <a:t>bad loans caught</a:t>
            </a:r>
            <a:endParaRPr lang="en-US" sz="1050" dirty="0"/>
          </a:p>
          <a:p>
            <a:pPr indent="0" marL="0">
              <a:buNone/>
            </a:pPr>
            <a:r>
              <a:rPr lang="en-US" sz="1000" dirty="0">
                <a:solidFill>
                  <a:schemeClr val="accent5"/>
                </a:solidFill>
              </a:rPr>
              <a:t>10 of 15</a:t>
            </a:r>
            <a:endParaRPr lang="en-US" sz="1050" dirty="0"/>
          </a:p>
        </p:txBody>
      </p:sp>
      <p:sp>
        <p:nvSpPr>
          <p:cNvPr id="35" name="Score 3"/>
          <p:cNvSpPr/>
          <p:nvPr/>
        </p:nvSpPr>
        <p:spPr>
          <a:xfrm>
            <a:off x="4480560" y="4251960"/>
            <a:ext cx="1920240" cy="658368"/>
          </a:xfrm>
          <a:prstGeom prst="roundRect">
            <a:avLst>
              <a:gd name="adj" fmla="val 11111"/>
            </a:avLst>
          </a:prstGeom>
          <a:solidFill>
            <a:srgbClr val="FFFFFF"/>
          </a:solidFill>
          <a:ln/>
        </p:spPr>
      </p:sp>
      <p:sp>
        <p:nvSpPr>
          <p:cNvPr id="36" name="Text 33"/>
          <p:cNvSpPr txBox="1"/>
          <p:nvPr/>
        </p:nvSpPr>
        <p:spPr>
          <a:xfrm>
            <a:off x="4553712" y="4279392"/>
            <a:ext cx="731520" cy="60350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96%</a:t>
            </a:r>
            <a:endParaRPr lang="en-US" sz="1800" dirty="0"/>
          </a:p>
        </p:txBody>
      </p:sp>
      <p:sp>
        <p:nvSpPr>
          <p:cNvPr id="37" name="Text 34"/>
          <p:cNvSpPr txBox="1"/>
          <p:nvPr/>
        </p:nvSpPr>
        <p:spPr>
          <a:xfrm>
            <a:off x="5266944" y="4279392"/>
            <a:ext cx="1115568" cy="603504"/>
          </a:xfrm>
          <a:prstGeom prst="rect">
            <a:avLst/>
          </a:prstGeom>
          <a:noFill/>
          <a:ln/>
        </p:spPr>
        <p:txBody>
          <a:bodyPr wrap="square" lIns="0" tIns="0" rIns="0" bIns="0" rtlCol="0" anchor="ctr"/>
          <a:lstStyle/>
          <a:p>
            <a:pPr indent="0" marL="0">
              <a:buNone/>
            </a:pPr>
            <a:r>
              <a:rPr lang="en-US" sz="1050" b="1" dirty="0">
                <a:solidFill>
                  <a:schemeClr val="tx1"/>
                </a:solidFill>
              </a:rPr>
              <a:t>accuracy</a:t>
            </a:r>
            <a:endParaRPr lang="en-US" sz="1050" dirty="0"/>
          </a:p>
          <a:p>
            <a:pPr indent="0" marL="0">
              <a:buNone/>
            </a:pPr>
            <a:r>
              <a:rPr lang="en-US" sz="1000" dirty="0">
                <a:solidFill>
                  <a:schemeClr val="accent5"/>
                </a:solidFill>
              </a:rPr>
              <a:t>lazy guess: 89%</a:t>
            </a:r>
            <a:endParaRPr lang="en-US" sz="1050" dirty="0"/>
          </a:p>
        </p:txBody>
      </p:sp>
      <p:sp>
        <p:nvSpPr>
          <p:cNvPr id="38" name="Text 35"/>
          <p:cNvSpPr txBox="1"/>
          <p:nvPr/>
        </p:nvSpPr>
        <p:spPr>
          <a:xfrm>
            <a:off x="777240" y="5074920"/>
            <a:ext cx="5577840" cy="320040"/>
          </a:xfrm>
          <a:prstGeom prst="rect">
            <a:avLst/>
          </a:prstGeom>
          <a:noFill/>
          <a:ln/>
        </p:spPr>
        <p:txBody>
          <a:bodyPr wrap="square" lIns="0" tIns="0" rIns="0" bIns="0" rtlCol="0" anchor="t"/>
          <a:lstStyle/>
          <a:p>
            <a:pPr indent="0" marL="0">
              <a:buNone/>
            </a:pPr>
            <a:r>
              <a:rPr lang="en-US" sz="1150" i="1" dirty="0">
                <a:solidFill>
                  <a:schemeClr val="accent5"/>
                </a:solidFill>
              </a:rPr>
              <a:t>F1 = 2 × precision × recall ÷ (precision + recall)  ·  0 = useless, 1 = perfect</a:t>
            </a:r>
            <a:endParaRPr lang="en-US" sz="1150" dirty="0"/>
          </a:p>
        </p:txBody>
      </p:sp>
      <p:sp>
        <p:nvSpPr>
          <p:cNvPr id="39" name="Right card 0"/>
          <p:cNvSpPr/>
          <p:nvPr/>
        </p:nvSpPr>
        <p:spPr>
          <a:xfrm>
            <a:off x="6720840" y="1280160"/>
            <a:ext cx="4922215" cy="2011680"/>
          </a:xfrm>
          <a:prstGeom prst="roundRect">
            <a:avLst>
              <a:gd name="adj" fmla="val 3636"/>
            </a:avLst>
          </a:prstGeom>
          <a:solidFill>
            <a:schemeClr val="bg2"/>
          </a:solidFill>
          <a:ln/>
        </p:spPr>
      </p:sp>
      <p:sp>
        <p:nvSpPr>
          <p:cNvPr id="40" name="Right 0 circle"/>
          <p:cNvSpPr/>
          <p:nvPr/>
        </p:nvSpPr>
        <p:spPr>
          <a:xfrm>
            <a:off x="6949440" y="1463040"/>
            <a:ext cx="502920" cy="502920"/>
          </a:xfrm>
          <a:prstGeom prst="ellipse">
            <a:avLst/>
          </a:prstGeom>
          <a:solidFill>
            <a:srgbClr val="16243A"/>
          </a:solidFill>
          <a:ln/>
        </p:spPr>
      </p:sp>
      <p:pic>
        <p:nvPicPr>
          <p:cNvPr id="41" name="Right 0 icon" descr="preencoded.png">    </p:cNvPr>
          <p:cNvPicPr>
            <a:picLocks noChangeAspect="1"/>
          </p:cNvPicPr>
          <p:nvPr/>
        </p:nvPicPr>
        <p:blipFill>
          <a:blip r:embed="rId2"/>
          <a:stretch>
            <a:fillRect/>
          </a:stretch>
        </p:blipFill>
        <p:spPr>
          <a:xfrm>
            <a:off x="7085228" y="1598828"/>
            <a:ext cx="231343" cy="231343"/>
          </a:xfrm>
          <a:prstGeom prst="rect">
            <a:avLst/>
          </a:prstGeom>
        </p:spPr>
      </p:pic>
      <p:sp>
        <p:nvSpPr>
          <p:cNvPr id="42" name="Text 38"/>
          <p:cNvSpPr txBox="1"/>
          <p:nvPr/>
        </p:nvSpPr>
        <p:spPr>
          <a:xfrm>
            <a:off x="7589520" y="1463040"/>
            <a:ext cx="3916375" cy="502920"/>
          </a:xfrm>
          <a:prstGeom prst="rect">
            <a:avLst/>
          </a:prstGeom>
          <a:noFill/>
          <a:ln/>
        </p:spPr>
        <p:txBody>
          <a:bodyPr wrap="square" lIns="0" tIns="0" rIns="0" bIns="0" rtlCol="0" anchor="ctr"/>
          <a:lstStyle/>
          <a:p>
            <a:pPr indent="0" marL="0">
              <a:buNone/>
            </a:pPr>
            <a:r>
              <a:rPr lang="en-US" sz="1600" b="1" dirty="0">
                <a:solidFill>
                  <a:schemeClr val="tx2"/>
                </a:solidFill>
              </a:rPr>
              <a:t>What matters</a:t>
            </a:r>
            <a:endParaRPr lang="en-US" sz="1600" dirty="0"/>
          </a:p>
        </p:txBody>
      </p:sp>
      <p:sp>
        <p:nvSpPr>
          <p:cNvPr id="43" name="Text 39"/>
          <p:cNvSpPr txBox="1"/>
          <p:nvPr/>
        </p:nvSpPr>
        <p:spPr>
          <a:xfrm>
            <a:off x="6949440" y="2103120"/>
            <a:ext cx="1508760" cy="50292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Behaviour</a:t>
            </a:r>
            <a:endParaRPr lang="en-US" sz="1700" dirty="0"/>
          </a:p>
        </p:txBody>
      </p:sp>
      <p:sp>
        <p:nvSpPr>
          <p:cNvPr id="44" name="Text 40"/>
          <p:cNvSpPr txBox="1"/>
          <p:nvPr/>
        </p:nvSpPr>
        <p:spPr>
          <a:xfrm>
            <a:off x="8458200" y="2103120"/>
            <a:ext cx="3047695" cy="502920"/>
          </a:xfrm>
          <a:prstGeom prst="rect">
            <a:avLst/>
          </a:prstGeom>
          <a:noFill/>
          <a:ln/>
        </p:spPr>
        <p:txBody>
          <a:bodyPr wrap="square" lIns="0" tIns="0" rIns="0" bIns="0" rtlCol="0" anchor="ctr"/>
          <a:lstStyle/>
          <a:p>
            <a:pPr indent="0" marL="0">
              <a:buNone/>
            </a:pPr>
            <a:r>
              <a:rPr lang="en-US" sz="1250" dirty="0">
                <a:solidFill>
                  <a:schemeClr val="tx1"/>
                </a:solidFill>
              </a:rPr>
              <a:t>balances, overdrafts, payment vs balance</a:t>
            </a:r>
            <a:endParaRPr lang="en-US" sz="1250" dirty="0"/>
          </a:p>
        </p:txBody>
      </p:sp>
      <p:sp>
        <p:nvSpPr>
          <p:cNvPr id="45" name="Text 41"/>
          <p:cNvSpPr txBox="1"/>
          <p:nvPr/>
        </p:nvSpPr>
        <p:spPr>
          <a:xfrm>
            <a:off x="6949440" y="2670048"/>
            <a:ext cx="1508760" cy="50292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Less so</a:t>
            </a:r>
            <a:endParaRPr lang="en-US" sz="1700" dirty="0"/>
          </a:p>
        </p:txBody>
      </p:sp>
      <p:sp>
        <p:nvSpPr>
          <p:cNvPr id="46" name="Text 42"/>
          <p:cNvSpPr txBox="1"/>
          <p:nvPr/>
        </p:nvSpPr>
        <p:spPr>
          <a:xfrm>
            <a:off x="8458200" y="2670048"/>
            <a:ext cx="3047695" cy="502920"/>
          </a:xfrm>
          <a:prstGeom prst="rect">
            <a:avLst/>
          </a:prstGeom>
          <a:noFill/>
          <a:ln/>
        </p:spPr>
        <p:txBody>
          <a:bodyPr wrap="square" lIns="0" tIns="0" rIns="0" bIns="0" rtlCol="0" anchor="ctr"/>
          <a:lstStyle/>
          <a:p>
            <a:pPr indent="0" marL="0">
              <a:buNone/>
            </a:pPr>
            <a:r>
              <a:rPr lang="en-US" sz="1250" dirty="0">
                <a:solidFill>
                  <a:schemeClr val="tx1"/>
                </a:solidFill>
              </a:rPr>
              <a:t>region, salary, age</a:t>
            </a:r>
            <a:endParaRPr lang="en-US" sz="1250" dirty="0"/>
          </a:p>
        </p:txBody>
      </p:sp>
      <p:sp>
        <p:nvSpPr>
          <p:cNvPr id="47" name="Right card 1"/>
          <p:cNvSpPr/>
          <p:nvPr/>
        </p:nvSpPr>
        <p:spPr>
          <a:xfrm>
            <a:off x="6720840" y="3429000"/>
            <a:ext cx="4922215" cy="2011680"/>
          </a:xfrm>
          <a:prstGeom prst="roundRect">
            <a:avLst>
              <a:gd name="adj" fmla="val 3636"/>
            </a:avLst>
          </a:prstGeom>
          <a:solidFill>
            <a:schemeClr val="bg2"/>
          </a:solidFill>
          <a:ln/>
        </p:spPr>
      </p:sp>
      <p:sp>
        <p:nvSpPr>
          <p:cNvPr id="48" name="Right 1 circle"/>
          <p:cNvSpPr/>
          <p:nvPr/>
        </p:nvSpPr>
        <p:spPr>
          <a:xfrm>
            <a:off x="6949440" y="3611880"/>
            <a:ext cx="502920" cy="502920"/>
          </a:xfrm>
          <a:prstGeom prst="ellipse">
            <a:avLst/>
          </a:prstGeom>
          <a:solidFill>
            <a:srgbClr val="16243A"/>
          </a:solidFill>
          <a:ln/>
        </p:spPr>
      </p:sp>
      <p:pic>
        <p:nvPicPr>
          <p:cNvPr id="49" name="Right 1 icon" descr="preencoded.png">    </p:cNvPr>
          <p:cNvPicPr>
            <a:picLocks noChangeAspect="1"/>
          </p:cNvPicPr>
          <p:nvPr/>
        </p:nvPicPr>
        <p:blipFill>
          <a:blip r:embed="rId3"/>
          <a:stretch>
            <a:fillRect/>
          </a:stretch>
        </p:blipFill>
        <p:spPr>
          <a:xfrm>
            <a:off x="7085228" y="3747668"/>
            <a:ext cx="231343" cy="231343"/>
          </a:xfrm>
          <a:prstGeom prst="rect">
            <a:avLst/>
          </a:prstGeom>
        </p:spPr>
      </p:pic>
      <p:sp>
        <p:nvSpPr>
          <p:cNvPr id="50" name="Text 45"/>
          <p:cNvSpPr txBox="1"/>
          <p:nvPr/>
        </p:nvSpPr>
        <p:spPr>
          <a:xfrm>
            <a:off x="7589520" y="3611880"/>
            <a:ext cx="3916375" cy="502920"/>
          </a:xfrm>
          <a:prstGeom prst="rect">
            <a:avLst/>
          </a:prstGeom>
          <a:noFill/>
          <a:ln/>
        </p:spPr>
        <p:txBody>
          <a:bodyPr wrap="square" lIns="0" tIns="0" rIns="0" bIns="0" rtlCol="0" anchor="ctr"/>
          <a:lstStyle/>
          <a:p>
            <a:pPr indent="0" marL="0">
              <a:buNone/>
            </a:pPr>
            <a:r>
              <a:rPr lang="en-US" sz="1600" b="1" dirty="0">
                <a:solidFill>
                  <a:schemeClr val="tx2"/>
                </a:solidFill>
              </a:rPr>
              <a:t>What it means</a:t>
            </a:r>
            <a:endParaRPr lang="en-US" sz="1600" dirty="0"/>
          </a:p>
        </p:txBody>
      </p:sp>
      <p:sp>
        <p:nvSpPr>
          <p:cNvPr id="51" name="Text 46"/>
          <p:cNvSpPr txBox="1"/>
          <p:nvPr/>
        </p:nvSpPr>
        <p:spPr>
          <a:xfrm>
            <a:off x="6949440" y="4251960"/>
            <a:ext cx="1508760" cy="50292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Reliable</a:t>
            </a:r>
            <a:endParaRPr lang="en-US" sz="1700" dirty="0"/>
          </a:p>
        </p:txBody>
      </p:sp>
      <p:sp>
        <p:nvSpPr>
          <p:cNvPr id="52" name="Text 47"/>
          <p:cNvSpPr txBox="1"/>
          <p:nvPr/>
        </p:nvSpPr>
        <p:spPr>
          <a:xfrm>
            <a:off x="8458200" y="4251960"/>
            <a:ext cx="3047695" cy="502920"/>
          </a:xfrm>
          <a:prstGeom prst="rect">
            <a:avLst/>
          </a:prstGeom>
          <a:noFill/>
          <a:ln/>
        </p:spPr>
        <p:txBody>
          <a:bodyPr wrap="square" lIns="0" tIns="0" rIns="0" bIns="0" rtlCol="0" anchor="ctr"/>
          <a:lstStyle/>
          <a:p>
            <a:pPr indent="0" marL="0">
              <a:buNone/>
            </a:pPr>
            <a:r>
              <a:rPr lang="en-US" sz="1250" dirty="0">
                <a:solidFill>
                  <a:schemeClr val="tx1"/>
                </a:solidFill>
              </a:rPr>
              <a:t>scrambled answers: F1 drops to 0.02; later years: F1 0.65</a:t>
            </a:r>
            <a:endParaRPr lang="en-US" sz="1250" dirty="0"/>
          </a:p>
        </p:txBody>
      </p:sp>
      <p:sp>
        <p:nvSpPr>
          <p:cNvPr id="53" name="Text 48"/>
          <p:cNvSpPr txBox="1"/>
          <p:nvPr/>
        </p:nvSpPr>
        <p:spPr>
          <a:xfrm>
            <a:off x="6949440" y="4818888"/>
            <a:ext cx="1508760" cy="50292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Pilot-ready</a:t>
            </a:r>
            <a:endParaRPr lang="en-US" sz="1700" dirty="0"/>
          </a:p>
        </p:txBody>
      </p:sp>
      <p:sp>
        <p:nvSpPr>
          <p:cNvPr id="54" name="Text 49"/>
          <p:cNvSpPr txBox="1"/>
          <p:nvPr/>
        </p:nvSpPr>
        <p:spPr>
          <a:xfrm>
            <a:off x="8458200" y="4818888"/>
            <a:ext cx="3047695" cy="502920"/>
          </a:xfrm>
          <a:prstGeom prst="rect">
            <a:avLst/>
          </a:prstGeom>
          <a:noFill/>
          <a:ln/>
        </p:spPr>
        <p:txBody>
          <a:bodyPr wrap="square" lIns="0" tIns="0" rIns="0" bIns="0" rtlCol="0" anchor="ctr"/>
          <a:lstStyle/>
          <a:p>
            <a:pPr indent="0" marL="0">
              <a:buNone/>
            </a:pPr>
            <a:r>
              <a:rPr lang="en-US" sz="1250" dirty="0">
                <a:solidFill>
                  <a:schemeClr val="tx1"/>
                </a:solidFill>
              </a:rPr>
              <a:t>with a credit officer checking its warnings</a:t>
            </a:r>
            <a:endParaRPr lang="en-US" sz="1250" dirty="0"/>
          </a:p>
        </p:txBody>
      </p:sp>
      <p:sp>
        <p:nvSpPr>
          <p:cNvPr id="55" name="Answer banner"/>
          <p:cNvSpPr/>
          <p:nvPr/>
        </p:nvSpPr>
        <p:spPr>
          <a:xfrm>
            <a:off x="548640" y="5623560"/>
            <a:ext cx="11094415" cy="548640"/>
          </a:xfrm>
          <a:prstGeom prst="roundRect">
            <a:avLst>
              <a:gd name="adj" fmla="val 13333"/>
            </a:avLst>
          </a:prstGeom>
          <a:solidFill>
            <a:srgbClr val="16243A"/>
          </a:solidFill>
          <a:ln/>
        </p:spPr>
      </p:sp>
      <p:sp>
        <p:nvSpPr>
          <p:cNvPr id="56" name="Text 51"/>
          <p:cNvSpPr txBox="1"/>
          <p:nvPr/>
        </p:nvSpPr>
        <p:spPr>
          <a:xfrm>
            <a:off x="822960" y="5623560"/>
            <a:ext cx="10545775" cy="548640"/>
          </a:xfrm>
          <a:prstGeom prst="rect">
            <a:avLst/>
          </a:prstGeom>
          <a:noFill/>
          <a:ln/>
        </p:spPr>
        <p:txBody>
          <a:bodyPr wrap="square" lIns="0" tIns="0" rIns="0" bIns="0" rtlCol="0" anchor="ctr"/>
          <a:lstStyle/>
          <a:p>
            <a:pPr indent="0" marL="0">
              <a:buNone/>
            </a:pPr>
            <a:r>
              <a:rPr lang="en-US" sz="1500" b="1" dirty="0">
                <a:solidFill>
                  <a:schemeClr val="accent1"/>
                </a:solidFill>
              </a:rPr>
              <a:t>Answer for our credit officer: </a:t>
            </a:r>
            <a:pPr indent="0" marL="0">
              <a:buNone/>
            </a:pPr>
            <a:r>
              <a:rPr lang="en-US" sz="1500" dirty="0">
                <a:solidFill>
                  <a:schemeClr val="bg1"/>
                </a:solidFill>
              </a:rPr>
              <a:t>yes, the bank can spot most risky borrowers before saying yes, using data it already has.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hapter tag"/>
          <p:cNvSpPr/>
          <p:nvPr/>
        </p:nvSpPr>
        <p:spPr>
          <a:xfrm>
            <a:off x="548640" y="128016"/>
            <a:ext cx="2834640" cy="274320"/>
          </a:xfrm>
          <a:prstGeom prst="roundRect">
            <a:avLst>
              <a:gd name="adj" fmla="val 20000"/>
            </a:avLst>
          </a:prstGeom>
          <a:solidFill>
            <a:srgbClr val="FCE6DC"/>
          </a:solidFill>
          <a:ln/>
        </p:spPr>
      </p:sp>
      <p:sp>
        <p:nvSpPr>
          <p:cNvPr id="3" name="Text 1"/>
          <p:cNvSpPr txBox="1"/>
          <p:nvPr/>
        </p:nvSpPr>
        <p:spPr>
          <a:xfrm>
            <a:off x="658368" y="128016"/>
            <a:ext cx="2651760" cy="274320"/>
          </a:xfrm>
          <a:prstGeom prst="rect">
            <a:avLst/>
          </a:prstGeom>
          <a:noFill/>
          <a:ln/>
        </p:spPr>
        <p:txBody>
          <a:bodyPr wrap="square" lIns="0" tIns="0" rIns="0" bIns="0" rtlCol="0" anchor="ctr"/>
          <a:lstStyle/>
          <a:p>
            <a:pPr indent="0" marL="0">
              <a:buNone/>
            </a:pPr>
            <a:r>
              <a:rPr lang="en-US" sz="1000" b="1" spc="100" kern="0" dirty="0">
                <a:solidFill>
                  <a:schemeClr val="accent1"/>
                </a:solidFill>
              </a:rPr>
              <a:t>THE ENDING</a:t>
            </a:r>
            <a:endParaRPr lang="en-US" sz="1000" dirty="0"/>
          </a:p>
        </p:txBody>
      </p:sp>
      <p:sp>
        <p:nvSpPr>
          <p:cNvPr id="4"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the bank should do next</a:t>
            </a:r>
            <a:endParaRPr lang="en-US" sz="3400" dirty="0"/>
          </a:p>
        </p:txBody>
      </p:sp>
      <p:sp>
        <p:nvSpPr>
          <p:cNvPr id="5" name="Rec card 0"/>
          <p:cNvSpPr/>
          <p:nvPr/>
        </p:nvSpPr>
        <p:spPr>
          <a:xfrm>
            <a:off x="548640" y="1371600"/>
            <a:ext cx="5422392" cy="1463040"/>
          </a:xfrm>
          <a:prstGeom prst="roundRect">
            <a:avLst>
              <a:gd name="adj" fmla="val 5000"/>
            </a:avLst>
          </a:prstGeom>
          <a:solidFill>
            <a:srgbClr val="DCF3E8"/>
          </a:solidFill>
          <a:ln/>
        </p:spPr>
      </p:sp>
      <p:sp>
        <p:nvSpPr>
          <p:cNvPr id="6" name="Rec 0 circle"/>
          <p:cNvSpPr/>
          <p:nvPr/>
        </p:nvSpPr>
        <p:spPr>
          <a:xfrm>
            <a:off x="777240" y="1737360"/>
            <a:ext cx="731520" cy="731520"/>
          </a:xfrm>
          <a:prstGeom prst="ellipse">
            <a:avLst/>
          </a:prstGeom>
          <a:solidFill>
            <a:srgbClr val="1A9E6E"/>
          </a:solidFill>
          <a:ln/>
        </p:spPr>
      </p:sp>
      <p:pic>
        <p:nvPicPr>
          <p:cNvPr id="7" name="Rec 0 icon" descr="preencoded.png">    </p:cNvPr>
          <p:cNvPicPr>
            <a:picLocks noChangeAspect="1"/>
          </p:cNvPicPr>
          <p:nvPr/>
        </p:nvPicPr>
        <p:blipFill>
          <a:blip r:embed="rId1"/>
          <a:stretch>
            <a:fillRect/>
          </a:stretch>
        </p:blipFill>
        <p:spPr>
          <a:xfrm>
            <a:off x="974750" y="1934870"/>
            <a:ext cx="336499" cy="336499"/>
          </a:xfrm>
          <a:prstGeom prst="rect">
            <a:avLst/>
          </a:prstGeom>
        </p:spPr>
      </p:pic>
      <p:sp>
        <p:nvSpPr>
          <p:cNvPr id="8" name="Text 5"/>
          <p:cNvSpPr txBox="1"/>
          <p:nvPr/>
        </p:nvSpPr>
        <p:spPr>
          <a:xfrm>
            <a:off x="1737360" y="1554480"/>
            <a:ext cx="4050792" cy="411480"/>
          </a:xfrm>
          <a:prstGeom prst="rect">
            <a:avLst/>
          </a:prstGeom>
          <a:noFill/>
          <a:ln/>
        </p:spPr>
        <p:txBody>
          <a:bodyPr wrap="square" lIns="0" tIns="0" rIns="0" bIns="0" rtlCol="0" anchor="t"/>
          <a:lstStyle/>
          <a:p>
            <a:pPr indent="0" marL="0">
              <a:buNone/>
            </a:pPr>
            <a:r>
              <a:rPr lang="en-US" sz="1700" b="1" dirty="0">
                <a:solidFill>
                  <a:schemeClr val="tx2"/>
                </a:solidFill>
              </a:rPr>
              <a:t>Pilot the model</a:t>
            </a:r>
            <a:endParaRPr lang="en-US" sz="1700" dirty="0"/>
          </a:p>
        </p:txBody>
      </p:sp>
      <p:sp>
        <p:nvSpPr>
          <p:cNvPr id="9" name="Text 6"/>
          <p:cNvSpPr txBox="1"/>
          <p:nvPr/>
        </p:nvSpPr>
        <p:spPr>
          <a:xfrm>
            <a:off x="1737360" y="2011680"/>
            <a:ext cx="4050792" cy="731520"/>
          </a:xfrm>
          <a:prstGeom prst="rect">
            <a:avLst/>
          </a:prstGeom>
          <a:noFill/>
          <a:ln/>
        </p:spPr>
        <p:txBody>
          <a:bodyPr wrap="square" lIns="0" tIns="0" rIns="0" bIns="0" rtlCol="0" anchor="t"/>
          <a:lstStyle/>
          <a:p>
            <a:pPr indent="0" marL="0">
              <a:buNone/>
            </a:pPr>
            <a:r>
              <a:rPr lang="en-US" sz="1500" dirty="0">
                <a:solidFill>
                  <a:schemeClr val="tx1"/>
                </a:solidFill>
              </a:rPr>
              <a:t>Score every application; a credit officer reviews High-risk flags.</a:t>
            </a:r>
            <a:endParaRPr lang="en-US" sz="1500" dirty="0"/>
          </a:p>
        </p:txBody>
      </p:sp>
      <p:sp>
        <p:nvSpPr>
          <p:cNvPr id="10" name="Rec card 1"/>
          <p:cNvSpPr/>
          <p:nvPr/>
        </p:nvSpPr>
        <p:spPr>
          <a:xfrm>
            <a:off x="6199632" y="1371600"/>
            <a:ext cx="5422392" cy="1463040"/>
          </a:xfrm>
          <a:prstGeom prst="roundRect">
            <a:avLst>
              <a:gd name="adj" fmla="val 5000"/>
            </a:avLst>
          </a:prstGeom>
          <a:solidFill>
            <a:schemeClr val="bg2"/>
          </a:solidFill>
          <a:ln/>
        </p:spPr>
      </p:sp>
      <p:sp>
        <p:nvSpPr>
          <p:cNvPr id="11" name="Rec 1 circle"/>
          <p:cNvSpPr/>
          <p:nvPr/>
        </p:nvSpPr>
        <p:spPr>
          <a:xfrm>
            <a:off x="6428232" y="1737360"/>
            <a:ext cx="731520" cy="731520"/>
          </a:xfrm>
          <a:prstGeom prst="ellipse">
            <a:avLst/>
          </a:prstGeom>
          <a:solidFill>
            <a:srgbClr val="16243A"/>
          </a:solidFill>
          <a:ln/>
        </p:spPr>
      </p:sp>
      <p:pic>
        <p:nvPicPr>
          <p:cNvPr id="12" name="Rec 1 icon" descr="preencoded.png">    </p:cNvPr>
          <p:cNvPicPr>
            <a:picLocks noChangeAspect="1"/>
          </p:cNvPicPr>
          <p:nvPr/>
        </p:nvPicPr>
        <p:blipFill>
          <a:blip r:embed="rId2"/>
          <a:stretch>
            <a:fillRect/>
          </a:stretch>
        </p:blipFill>
        <p:spPr>
          <a:xfrm>
            <a:off x="6625742" y="1934870"/>
            <a:ext cx="336499" cy="336499"/>
          </a:xfrm>
          <a:prstGeom prst="rect">
            <a:avLst/>
          </a:prstGeom>
        </p:spPr>
      </p:pic>
      <p:sp>
        <p:nvSpPr>
          <p:cNvPr id="13" name="Text 9"/>
          <p:cNvSpPr txBox="1"/>
          <p:nvPr/>
        </p:nvSpPr>
        <p:spPr>
          <a:xfrm>
            <a:off x="7388352" y="1554480"/>
            <a:ext cx="4050792" cy="411480"/>
          </a:xfrm>
          <a:prstGeom prst="rect">
            <a:avLst/>
          </a:prstGeom>
          <a:noFill/>
          <a:ln/>
        </p:spPr>
        <p:txBody>
          <a:bodyPr wrap="square" lIns="0" tIns="0" rIns="0" bIns="0" rtlCol="0" anchor="t"/>
          <a:lstStyle/>
          <a:p>
            <a:pPr indent="0" marL="0">
              <a:buNone/>
            </a:pPr>
            <a:r>
              <a:rPr lang="en-US" sz="1700" b="1" dirty="0">
                <a:solidFill>
                  <a:schemeClr val="tx2"/>
                </a:solidFill>
              </a:rPr>
              <a:t>Watch account behaviour</a:t>
            </a:r>
            <a:endParaRPr lang="en-US" sz="1700" dirty="0"/>
          </a:p>
        </p:txBody>
      </p:sp>
      <p:sp>
        <p:nvSpPr>
          <p:cNvPr id="14" name="Text 10"/>
          <p:cNvSpPr txBox="1"/>
          <p:nvPr/>
        </p:nvSpPr>
        <p:spPr>
          <a:xfrm>
            <a:off x="7388352" y="2011680"/>
            <a:ext cx="4050792" cy="731520"/>
          </a:xfrm>
          <a:prstGeom prst="rect">
            <a:avLst/>
          </a:prstGeom>
          <a:noFill/>
          <a:ln/>
        </p:spPr>
        <p:txBody>
          <a:bodyPr wrap="square" lIns="0" tIns="0" rIns="0" bIns="0" rtlCol="0" anchor="t"/>
          <a:lstStyle/>
          <a:p>
            <a:pPr indent="0" marL="0">
              <a:buNone/>
            </a:pPr>
            <a:r>
              <a:rPr lang="en-US" sz="1500" dirty="0">
                <a:solidFill>
                  <a:schemeClr val="tx1"/>
                </a:solidFill>
              </a:rPr>
              <a:t>Overdrafts and low balances before a loan are early warning signs.</a:t>
            </a:r>
            <a:endParaRPr lang="en-US" sz="1500" dirty="0"/>
          </a:p>
        </p:txBody>
      </p:sp>
      <p:sp>
        <p:nvSpPr>
          <p:cNvPr id="15" name="Rec card 2"/>
          <p:cNvSpPr/>
          <p:nvPr/>
        </p:nvSpPr>
        <p:spPr>
          <a:xfrm>
            <a:off x="548640" y="3017520"/>
            <a:ext cx="5422392" cy="1463040"/>
          </a:xfrm>
          <a:prstGeom prst="roundRect">
            <a:avLst>
              <a:gd name="adj" fmla="val 5000"/>
            </a:avLst>
          </a:prstGeom>
          <a:solidFill>
            <a:schemeClr val="bg2"/>
          </a:solidFill>
          <a:ln/>
        </p:spPr>
      </p:sp>
      <p:sp>
        <p:nvSpPr>
          <p:cNvPr id="16" name="Rec 2 circle"/>
          <p:cNvSpPr/>
          <p:nvPr/>
        </p:nvSpPr>
        <p:spPr>
          <a:xfrm>
            <a:off x="777240" y="3383280"/>
            <a:ext cx="731520" cy="731520"/>
          </a:xfrm>
          <a:prstGeom prst="ellipse">
            <a:avLst/>
          </a:prstGeom>
          <a:solidFill>
            <a:srgbClr val="16243A"/>
          </a:solidFill>
          <a:ln/>
        </p:spPr>
      </p:sp>
      <p:pic>
        <p:nvPicPr>
          <p:cNvPr id="17" name="Rec 2 icon" descr="preencoded.png">    </p:cNvPr>
          <p:cNvPicPr>
            <a:picLocks noChangeAspect="1"/>
          </p:cNvPicPr>
          <p:nvPr/>
        </p:nvPicPr>
        <p:blipFill>
          <a:blip r:embed="rId3"/>
          <a:stretch>
            <a:fillRect/>
          </a:stretch>
        </p:blipFill>
        <p:spPr>
          <a:xfrm>
            <a:off x="974750" y="3580790"/>
            <a:ext cx="336499" cy="336499"/>
          </a:xfrm>
          <a:prstGeom prst="rect">
            <a:avLst/>
          </a:prstGeom>
        </p:spPr>
      </p:pic>
      <p:sp>
        <p:nvSpPr>
          <p:cNvPr id="18" name="Text 13"/>
          <p:cNvSpPr txBox="1"/>
          <p:nvPr/>
        </p:nvSpPr>
        <p:spPr>
          <a:xfrm>
            <a:off x="1737360" y="3200400"/>
            <a:ext cx="4050792" cy="411480"/>
          </a:xfrm>
          <a:prstGeom prst="rect">
            <a:avLst/>
          </a:prstGeom>
          <a:noFill/>
          <a:ln/>
        </p:spPr>
        <p:txBody>
          <a:bodyPr wrap="square" lIns="0" tIns="0" rIns="0" bIns="0" rtlCol="0" anchor="t"/>
          <a:lstStyle/>
          <a:p>
            <a:pPr indent="0" marL="0">
              <a:buNone/>
            </a:pPr>
            <a:r>
              <a:rPr lang="en-US" sz="1700" b="1" dirty="0">
                <a:solidFill>
                  <a:schemeClr val="tx2"/>
                </a:solidFill>
              </a:rPr>
              <a:t>Add dates to standing orders</a:t>
            </a:r>
            <a:endParaRPr lang="en-US" sz="1700" dirty="0"/>
          </a:p>
        </p:txBody>
      </p:sp>
      <p:sp>
        <p:nvSpPr>
          <p:cNvPr id="19" name="Text 14"/>
          <p:cNvSpPr txBox="1"/>
          <p:nvPr/>
        </p:nvSpPr>
        <p:spPr>
          <a:xfrm>
            <a:off x="1737360" y="3657600"/>
            <a:ext cx="4050792" cy="731520"/>
          </a:xfrm>
          <a:prstGeom prst="rect">
            <a:avLst/>
          </a:prstGeom>
          <a:noFill/>
          <a:ln/>
        </p:spPr>
        <p:txBody>
          <a:bodyPr wrap="square" lIns="0" tIns="0" rIns="0" bIns="0" rtlCol="0" anchor="t"/>
          <a:lstStyle/>
          <a:p>
            <a:pPr indent="0" marL="0">
              <a:buNone/>
            </a:pPr>
            <a:r>
              <a:rPr lang="en-US" sz="1500" dirty="0">
                <a:solidFill>
                  <a:schemeClr val="tx1"/>
                </a:solidFill>
              </a:rPr>
              <a:t>So they can be used safely in future models.</a:t>
            </a:r>
            <a:endParaRPr lang="en-US" sz="1500" dirty="0"/>
          </a:p>
        </p:txBody>
      </p:sp>
      <p:sp>
        <p:nvSpPr>
          <p:cNvPr id="20" name="Rec card 3"/>
          <p:cNvSpPr/>
          <p:nvPr/>
        </p:nvSpPr>
        <p:spPr>
          <a:xfrm>
            <a:off x="6199632" y="3017520"/>
            <a:ext cx="5422392" cy="1463040"/>
          </a:xfrm>
          <a:prstGeom prst="roundRect">
            <a:avLst>
              <a:gd name="adj" fmla="val 5000"/>
            </a:avLst>
          </a:prstGeom>
          <a:solidFill>
            <a:schemeClr val="bg2"/>
          </a:solidFill>
          <a:ln/>
        </p:spPr>
      </p:sp>
      <p:sp>
        <p:nvSpPr>
          <p:cNvPr id="21" name="Rec 3 circle"/>
          <p:cNvSpPr/>
          <p:nvPr/>
        </p:nvSpPr>
        <p:spPr>
          <a:xfrm>
            <a:off x="6428232" y="3383280"/>
            <a:ext cx="731520" cy="731520"/>
          </a:xfrm>
          <a:prstGeom prst="ellipse">
            <a:avLst/>
          </a:prstGeom>
          <a:solidFill>
            <a:srgbClr val="16243A"/>
          </a:solidFill>
          <a:ln/>
        </p:spPr>
      </p:sp>
      <p:pic>
        <p:nvPicPr>
          <p:cNvPr id="22" name="Rec 3 icon" descr="preencoded.png">    </p:cNvPr>
          <p:cNvPicPr>
            <a:picLocks noChangeAspect="1"/>
          </p:cNvPicPr>
          <p:nvPr/>
        </p:nvPicPr>
        <p:blipFill>
          <a:blip r:embed="rId4"/>
          <a:stretch>
            <a:fillRect/>
          </a:stretch>
        </p:blipFill>
        <p:spPr>
          <a:xfrm>
            <a:off x="6625742" y="3580790"/>
            <a:ext cx="336499" cy="336499"/>
          </a:xfrm>
          <a:prstGeom prst="rect">
            <a:avLst/>
          </a:prstGeom>
        </p:spPr>
      </p:pic>
      <p:sp>
        <p:nvSpPr>
          <p:cNvPr id="23" name="Text 17"/>
          <p:cNvSpPr txBox="1"/>
          <p:nvPr/>
        </p:nvSpPr>
        <p:spPr>
          <a:xfrm>
            <a:off x="7388352" y="3200400"/>
            <a:ext cx="4050792" cy="411480"/>
          </a:xfrm>
          <a:prstGeom prst="rect">
            <a:avLst/>
          </a:prstGeom>
          <a:noFill/>
          <a:ln/>
        </p:spPr>
        <p:txBody>
          <a:bodyPr wrap="square" lIns="0" tIns="0" rIns="0" bIns="0" rtlCol="0" anchor="t"/>
          <a:lstStyle/>
          <a:p>
            <a:pPr indent="0" marL="0">
              <a:buNone/>
            </a:pPr>
            <a:r>
              <a:rPr lang="en-US" sz="1700" b="1" dirty="0">
                <a:solidFill>
                  <a:schemeClr val="tx2"/>
                </a:solidFill>
              </a:rPr>
              <a:t>Monitor monthly</a:t>
            </a:r>
            <a:endParaRPr lang="en-US" sz="1700" dirty="0"/>
          </a:p>
        </p:txBody>
      </p:sp>
      <p:sp>
        <p:nvSpPr>
          <p:cNvPr id="24" name="Text 18"/>
          <p:cNvSpPr txBox="1"/>
          <p:nvPr/>
        </p:nvSpPr>
        <p:spPr>
          <a:xfrm>
            <a:off x="7388352" y="3657600"/>
            <a:ext cx="4050792" cy="731520"/>
          </a:xfrm>
          <a:prstGeom prst="rect">
            <a:avLst/>
          </a:prstGeom>
          <a:noFill/>
          <a:ln/>
        </p:spPr>
        <p:txBody>
          <a:bodyPr wrap="square" lIns="0" tIns="0" rIns="0" bIns="0" rtlCol="0" anchor="t"/>
          <a:lstStyle/>
          <a:p>
            <a:pPr indent="0" marL="0">
              <a:buNone/>
            </a:pPr>
            <a:r>
              <a:rPr lang="en-US" sz="1500" dirty="0">
                <a:solidFill>
                  <a:schemeClr val="tx1"/>
                </a:solidFill>
              </a:rPr>
              <a:t>PSI, F1 score and default rate; retrain when an alert fires.</a:t>
            </a:r>
            <a:endParaRPr lang="en-US" sz="1500" dirty="0"/>
          </a:p>
        </p:txBody>
      </p:sp>
      <p:sp>
        <p:nvSpPr>
          <p:cNvPr id="25" name="Rec card 4"/>
          <p:cNvSpPr/>
          <p:nvPr/>
        </p:nvSpPr>
        <p:spPr>
          <a:xfrm>
            <a:off x="548640" y="4663440"/>
            <a:ext cx="5422392" cy="1463040"/>
          </a:xfrm>
          <a:prstGeom prst="roundRect">
            <a:avLst>
              <a:gd name="adj" fmla="val 5000"/>
            </a:avLst>
          </a:prstGeom>
          <a:solidFill>
            <a:schemeClr val="bg2"/>
          </a:solidFill>
          <a:ln/>
        </p:spPr>
      </p:sp>
      <p:sp>
        <p:nvSpPr>
          <p:cNvPr id="26" name="Rec 4 circle"/>
          <p:cNvSpPr/>
          <p:nvPr/>
        </p:nvSpPr>
        <p:spPr>
          <a:xfrm>
            <a:off x="777240" y="5029200"/>
            <a:ext cx="731520" cy="731520"/>
          </a:xfrm>
          <a:prstGeom prst="ellipse">
            <a:avLst/>
          </a:prstGeom>
          <a:solidFill>
            <a:srgbClr val="16243A"/>
          </a:solidFill>
          <a:ln/>
        </p:spPr>
      </p:sp>
      <p:pic>
        <p:nvPicPr>
          <p:cNvPr id="27" name="Rec 4 icon" descr="preencoded.png">    </p:cNvPr>
          <p:cNvPicPr>
            <a:picLocks noChangeAspect="1"/>
          </p:cNvPicPr>
          <p:nvPr/>
        </p:nvPicPr>
        <p:blipFill>
          <a:blip r:embed="rId5"/>
          <a:stretch>
            <a:fillRect/>
          </a:stretch>
        </p:blipFill>
        <p:spPr>
          <a:xfrm>
            <a:off x="974750" y="5226710"/>
            <a:ext cx="336499" cy="336499"/>
          </a:xfrm>
          <a:prstGeom prst="rect">
            <a:avLst/>
          </a:prstGeom>
        </p:spPr>
      </p:pic>
      <p:sp>
        <p:nvSpPr>
          <p:cNvPr id="28" name="Text 21"/>
          <p:cNvSpPr txBox="1"/>
          <p:nvPr/>
        </p:nvSpPr>
        <p:spPr>
          <a:xfrm>
            <a:off x="1737360" y="4846320"/>
            <a:ext cx="4050792" cy="411480"/>
          </a:xfrm>
          <a:prstGeom prst="rect">
            <a:avLst/>
          </a:prstGeom>
          <a:noFill/>
          <a:ln/>
        </p:spPr>
        <p:txBody>
          <a:bodyPr wrap="square" lIns="0" tIns="0" rIns="0" bIns="0" rtlCol="0" anchor="t"/>
          <a:lstStyle/>
          <a:p>
            <a:pPr indent="0" marL="0">
              <a:buNone/>
            </a:pPr>
            <a:r>
              <a:rPr lang="en-US" sz="1700" b="1" dirty="0">
                <a:solidFill>
                  <a:schemeClr val="tx2"/>
                </a:solidFill>
              </a:rPr>
              <a:t>Build in fairness</a:t>
            </a:r>
            <a:endParaRPr lang="en-US" sz="1700" dirty="0"/>
          </a:p>
        </p:txBody>
      </p:sp>
      <p:sp>
        <p:nvSpPr>
          <p:cNvPr id="29" name="Text 22"/>
          <p:cNvSpPr txBox="1"/>
          <p:nvPr/>
        </p:nvSpPr>
        <p:spPr>
          <a:xfrm>
            <a:off x="1737360" y="5303520"/>
            <a:ext cx="4050792" cy="731520"/>
          </a:xfrm>
          <a:prstGeom prst="rect">
            <a:avLst/>
          </a:prstGeom>
          <a:noFill/>
          <a:ln/>
        </p:spPr>
        <p:txBody>
          <a:bodyPr wrap="square" lIns="0" tIns="0" rIns="0" bIns="0" rtlCol="0" anchor="t"/>
          <a:lstStyle/>
          <a:p>
            <a:pPr indent="0" marL="0">
              <a:buNone/>
            </a:pPr>
            <a:r>
              <a:rPr lang="en-US" sz="1500" dirty="0">
                <a:solidFill>
                  <a:schemeClr val="tx1"/>
                </a:solidFill>
              </a:rPr>
              <a:t>Keep gender out of credit decisions and check results are fair.</a:t>
            </a:r>
            <a:endParaRPr lang="en-US" sz="1500" dirty="0"/>
          </a:p>
        </p:txBody>
      </p:sp>
      <p:sp>
        <p:nvSpPr>
          <p:cNvPr id="30" name="Rec card 5"/>
          <p:cNvSpPr/>
          <p:nvPr/>
        </p:nvSpPr>
        <p:spPr>
          <a:xfrm>
            <a:off x="6199632" y="4663440"/>
            <a:ext cx="5422392" cy="1463040"/>
          </a:xfrm>
          <a:prstGeom prst="roundRect">
            <a:avLst>
              <a:gd name="adj" fmla="val 5000"/>
            </a:avLst>
          </a:prstGeom>
          <a:solidFill>
            <a:schemeClr val="bg2"/>
          </a:solidFill>
          <a:ln/>
        </p:spPr>
      </p:sp>
      <p:sp>
        <p:nvSpPr>
          <p:cNvPr id="31" name="Rec 5 circle"/>
          <p:cNvSpPr/>
          <p:nvPr/>
        </p:nvSpPr>
        <p:spPr>
          <a:xfrm>
            <a:off x="6428232" y="5029200"/>
            <a:ext cx="731520" cy="731520"/>
          </a:xfrm>
          <a:prstGeom prst="ellipse">
            <a:avLst/>
          </a:prstGeom>
          <a:solidFill>
            <a:srgbClr val="16243A"/>
          </a:solidFill>
          <a:ln/>
        </p:spPr>
      </p:sp>
      <p:pic>
        <p:nvPicPr>
          <p:cNvPr id="32" name="Rec 5 icon" descr="preencoded.png">    </p:cNvPr>
          <p:cNvPicPr>
            <a:picLocks noChangeAspect="1"/>
          </p:cNvPicPr>
          <p:nvPr/>
        </p:nvPicPr>
        <p:blipFill>
          <a:blip r:embed="rId6"/>
          <a:stretch>
            <a:fillRect/>
          </a:stretch>
        </p:blipFill>
        <p:spPr>
          <a:xfrm>
            <a:off x="6625742" y="5226710"/>
            <a:ext cx="336499" cy="336499"/>
          </a:xfrm>
          <a:prstGeom prst="rect">
            <a:avLst/>
          </a:prstGeom>
        </p:spPr>
      </p:pic>
      <p:sp>
        <p:nvSpPr>
          <p:cNvPr id="33" name="Text 25"/>
          <p:cNvSpPr txBox="1"/>
          <p:nvPr/>
        </p:nvSpPr>
        <p:spPr>
          <a:xfrm>
            <a:off x="7388352" y="4846320"/>
            <a:ext cx="4050792" cy="411480"/>
          </a:xfrm>
          <a:prstGeom prst="rect">
            <a:avLst/>
          </a:prstGeom>
          <a:noFill/>
          <a:ln/>
        </p:spPr>
        <p:txBody>
          <a:bodyPr wrap="square" lIns="0" tIns="0" rIns="0" bIns="0" rtlCol="0" anchor="t"/>
          <a:lstStyle/>
          <a:p>
            <a:pPr indent="0" marL="0">
              <a:buNone/>
            </a:pPr>
            <a:r>
              <a:rPr lang="en-US" sz="1700" b="1" dirty="0">
                <a:solidFill>
                  <a:schemeClr val="tx2"/>
                </a:solidFill>
              </a:rPr>
              <a:t>Explain decisions</a:t>
            </a:r>
            <a:endParaRPr lang="en-US" sz="1700" dirty="0"/>
          </a:p>
        </p:txBody>
      </p:sp>
      <p:sp>
        <p:nvSpPr>
          <p:cNvPr id="34" name="Text 26"/>
          <p:cNvSpPr txBox="1"/>
          <p:nvPr/>
        </p:nvSpPr>
        <p:spPr>
          <a:xfrm>
            <a:off x="7388352" y="5303520"/>
            <a:ext cx="4050792" cy="731520"/>
          </a:xfrm>
          <a:prstGeom prst="rect">
            <a:avLst/>
          </a:prstGeom>
          <a:noFill/>
          <a:ln/>
        </p:spPr>
        <p:txBody>
          <a:bodyPr wrap="square" lIns="0" tIns="0" rIns="0" bIns="0" rtlCol="0" anchor="t"/>
          <a:lstStyle/>
          <a:p>
            <a:pPr indent="0" marL="0">
              <a:buNone/>
            </a:pPr>
            <a:r>
              <a:rPr lang="en-US" sz="1500" dirty="0">
                <a:solidFill>
                  <a:schemeClr val="tx1"/>
                </a:solidFill>
              </a:rPr>
              <a:t>Use the simple scorecard to explain outcomes to customers.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Questions I may be asked (1 of 2)</a:t>
            </a:r>
            <a:endParaRPr lang="en-US" sz="3400" dirty="0"/>
          </a:p>
        </p:txBody>
      </p:sp>
      <p:graphicFrame>
        <p:nvGraphicFramePr>
          <p:cNvPr id="27" name="QA 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840480"/>
                <a:gridCol w="7253935"/>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Simple answer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6243A"/>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Why Random Forest, not the simpler model?</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The scorecard catches a few more defaulters but raises many more false alarms (F1 0.52 vs 0.77). I keep it to explain decisions.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Only 15 defaulters in the test: is 0.77 reliable?</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It is a small test, so I also report F1 0.56 from the 5 practice rounds and 0.65 on later years. All pass 0.50.</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Why not just use accuracy?</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Saying 'nobody defaults' is already 89% accurate and catches nobody. Recall and F1 are not fooled by that.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What is data leakage and how did you avoid it?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Using information the bank did not have on the loan date. I used only transactions and cards from before each loan, and left out Order.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Only 11% defaulted. How did you handle that?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Both parts of the split keep 11% defaulters, and the model is told a missed defaulter counts more (class weights).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Why did you leave out gender?</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Fairness: credit decisions should not depend on gender, and the model works well without it.</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Why does it miss 5 of 15 defaulters?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At a 50% cut-off it is careful (10 of 11 flags right). Reviewing everything above 30% (Medium and High) flags 14 of 15 defaulters.</a:t>
                      </a:r>
                      <a:endParaRPr lang="en-US" sz="13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Questions I may be asked (2 of 2)</a:t>
            </a:r>
            <a:endParaRPr lang="en-US" sz="3400" dirty="0"/>
          </a:p>
        </p:txBody>
      </p:sp>
      <p:graphicFrame>
        <p:nvGraphicFramePr>
          <p:cNvPr id="28" name="QA table 1"/>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840480"/>
                <a:gridCol w="7253935"/>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624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Simple answer</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6243A"/>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Why was the Order table left out?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It has no dates, so the orders may have been set up after the loan. That would be leakage.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How did you choose the 30% and 60% cut-offs?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They are a business choice the bank can change. On the test loans, all 9 High-risk loans defaulted versus 1% of Low.</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How do you know it is not overfitting?</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Practice rounds, one final exam on hidden loans, the scrambled-answer check (F1 0.02) and the later-years test (F1 0.65).</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How would a bank actually use it?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Score each application in the app, or score all loans in a nightly file for Excel / Power BI. A credit officer checks High flags.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What is PSI?</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 number for how much new applicants differ from the training data. Above 0.25 means retrain.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What are the limitations?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Small (682 loans) and old (1990s) data from one bank. Next: newer data, fairness checks, dates on orders.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Account behaviour: defaulters vs good borrowers</a:t>
            </a:r>
            <a:endParaRPr lang="en-US" sz="3400" dirty="0"/>
          </a:p>
        </p:txBody>
      </p:sp>
      <p:sp>
        <p:nvSpPr>
          <p:cNvPr id="4" name="Screenshot frame box_out.png"/>
          <p:cNvSpPr/>
          <p:nvPr/>
        </p:nvSpPr>
        <p:spPr>
          <a:xfrm>
            <a:off x="548640" y="1325880"/>
            <a:ext cx="7589520" cy="4006074"/>
          </a:xfrm>
          <a:prstGeom prst="rect">
            <a:avLst/>
          </a:prstGeom>
          <a:solidFill>
            <a:srgbClr val="FFFFFF"/>
          </a:solidFill>
          <a:ln w="9525">
            <a:solidFill>
              <a:srgbClr val="C9CED6"/>
            </a:solidFill>
            <a:prstDash val="solid"/>
          </a:ln>
        </p:spPr>
      </p:sp>
      <p:pic>
        <p:nvPicPr>
          <p:cNvPr id="5" name="Screenshot box_out.png" descr="Screenshot: box_out.png">    </p:cNvPr>
          <p:cNvPicPr>
            <a:picLocks noChangeAspect="1"/>
          </p:cNvPicPr>
          <p:nvPr/>
        </p:nvPicPr>
        <p:blipFill>
          <a:blip r:embed="rId1"/>
          <a:stretch>
            <a:fillRect/>
          </a:stretch>
        </p:blipFill>
        <p:spPr>
          <a:xfrm>
            <a:off x="603504" y="1380744"/>
            <a:ext cx="7479792" cy="3896346"/>
          </a:xfrm>
          <a:prstGeom prst="rect">
            <a:avLst/>
          </a:prstGeom>
        </p:spPr>
      </p:pic>
      <p:sp>
        <p:nvSpPr>
          <p:cNvPr id="6" name="Box panel"/>
          <p:cNvSpPr/>
          <p:nvPr/>
        </p:nvSpPr>
        <p:spPr>
          <a:xfrm>
            <a:off x="8412480" y="1325880"/>
            <a:ext cx="3227832" cy="4846320"/>
          </a:xfrm>
          <a:prstGeom prst="roundRect">
            <a:avLst>
              <a:gd name="adj" fmla="val 2266"/>
            </a:avLst>
          </a:prstGeom>
          <a:solidFill>
            <a:schemeClr val="bg2"/>
          </a:solidFill>
          <a:ln/>
        </p:spPr>
      </p:sp>
      <p:sp>
        <p:nvSpPr>
          <p:cNvPr id="7" name="Text 4"/>
          <p:cNvSpPr txBox="1"/>
          <p:nvPr/>
        </p:nvSpPr>
        <p:spPr>
          <a:xfrm>
            <a:off x="8641080" y="1554480"/>
            <a:ext cx="2834640" cy="411480"/>
          </a:xfrm>
          <a:prstGeom prst="rect">
            <a:avLst/>
          </a:prstGeom>
          <a:noFill/>
          <a:ln/>
        </p:spPr>
        <p:txBody>
          <a:bodyPr wrap="square" lIns="0" tIns="0" rIns="0" bIns="0" rtlCol="0" anchor="t"/>
          <a:lstStyle/>
          <a:p>
            <a:pPr indent="0" marL="0">
              <a:buNone/>
            </a:pPr>
            <a:r>
              <a:rPr lang="en-US" sz="1800" b="1" dirty="0">
                <a:solidFill>
                  <a:schemeClr val="tx2"/>
                </a:solidFill>
              </a:rPr>
              <a:t>Box plots</a:t>
            </a:r>
            <a:endParaRPr lang="en-US" sz="1800" dirty="0"/>
          </a:p>
        </p:txBody>
      </p:sp>
      <p:sp>
        <p:nvSpPr>
          <p:cNvPr id="8" name="Text 5"/>
          <p:cNvSpPr txBox="1"/>
          <p:nvPr/>
        </p:nvSpPr>
        <p:spPr>
          <a:xfrm>
            <a:off x="8641080" y="2103120"/>
            <a:ext cx="2788920" cy="3840480"/>
          </a:xfrm>
          <a:prstGeom prst="rect">
            <a:avLst/>
          </a:prstGeom>
          <a:noFill/>
          <a:ln/>
        </p:spPr>
        <p:txBody>
          <a:bodyPr wrap="square" lIns="0" tIns="0" rIns="0" bIns="0" rtlCol="0" anchor="t"/>
          <a:lstStyle/>
          <a:p>
            <a:pPr indent="0" marL="0">
              <a:buNone/>
            </a:pPr>
            <a:r>
              <a:rPr lang="en-US" sz="1500" dirty="0">
                <a:solidFill>
                  <a:schemeClr val="tx1"/>
                </a:solidFill>
              </a:rPr>
              <a:t>Each box shows the middle half of customers. Defaulters (orange) had lower balances and a higher payment-to-balance ratio. Median latest balance: 21,959 vs 39,416 CZK.</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Correlation and default rate by year</a:t>
            </a:r>
            <a:endParaRPr lang="en-US" sz="3400" dirty="0"/>
          </a:p>
        </p:txBody>
      </p:sp>
      <p:sp>
        <p:nvSpPr>
          <p:cNvPr id="4" name="Screenshot frame corr_out.png"/>
          <p:cNvSpPr/>
          <p:nvPr/>
        </p:nvSpPr>
        <p:spPr>
          <a:xfrm>
            <a:off x="548640" y="1325880"/>
            <a:ext cx="5760720" cy="3987749"/>
          </a:xfrm>
          <a:prstGeom prst="rect">
            <a:avLst/>
          </a:prstGeom>
          <a:solidFill>
            <a:srgbClr val="FFFFFF"/>
          </a:solidFill>
          <a:ln w="9525">
            <a:solidFill>
              <a:srgbClr val="C9CED6"/>
            </a:solidFill>
            <a:prstDash val="solid"/>
          </a:ln>
        </p:spPr>
      </p:sp>
      <p:pic>
        <p:nvPicPr>
          <p:cNvPr id="5" name="Screenshot corr_out.png" descr="Screenshot: corr_out.png">    </p:cNvPr>
          <p:cNvPicPr>
            <a:picLocks noChangeAspect="1"/>
          </p:cNvPicPr>
          <p:nvPr/>
        </p:nvPicPr>
        <p:blipFill>
          <a:blip r:embed="rId1"/>
          <a:stretch>
            <a:fillRect/>
          </a:stretch>
        </p:blipFill>
        <p:spPr>
          <a:xfrm>
            <a:off x="603504" y="1380744"/>
            <a:ext cx="5650992" cy="3878021"/>
          </a:xfrm>
          <a:prstGeom prst="rect">
            <a:avLst/>
          </a:prstGeom>
        </p:spPr>
      </p:pic>
      <p:graphicFrame>
        <p:nvGraphicFramePr>
          <p:cNvPr id="6" name="Year chart" descr=""/>
          <p:cNvGraphicFramePr/>
          <p:nvPr/>
        </p:nvGraphicFramePr>
        <p:xfrm>
          <a:off x="6583680" y="1325880"/>
          <a:ext cx="5056632" cy="2926080"/>
        </p:xfrm>
        <a:graphic xmlns:a="http://schemas.openxmlformats.org/drawingml/2006/main">
          <a:graphicData uri="http://schemas.openxmlformats.org/drawingml/2006/chart">
            <c:chart xmlns:c="http://schemas.openxmlformats.org/drawingml/2006/chart" r:id="rId2"/>
          </a:graphicData>
        </a:graphic>
      </p:graphicFrame>
      <p:sp>
        <p:nvSpPr>
          <p:cNvPr id="7" name="Corr takeaway"/>
          <p:cNvSpPr/>
          <p:nvPr/>
        </p:nvSpPr>
        <p:spPr>
          <a:xfrm>
            <a:off x="6583680" y="4480560"/>
            <a:ext cx="5056632" cy="1645920"/>
          </a:xfrm>
          <a:prstGeom prst="roundRect">
            <a:avLst>
              <a:gd name="adj" fmla="val 4444"/>
            </a:avLst>
          </a:prstGeom>
          <a:solidFill>
            <a:schemeClr val="bg2"/>
          </a:solidFill>
          <a:ln/>
        </p:spPr>
      </p:sp>
      <p:sp>
        <p:nvSpPr>
          <p:cNvPr id="8" name="Text 4"/>
          <p:cNvSpPr txBox="1"/>
          <p:nvPr/>
        </p:nvSpPr>
        <p:spPr>
          <a:xfrm>
            <a:off x="6812280" y="4572000"/>
            <a:ext cx="4617720" cy="1463040"/>
          </a:xfrm>
          <a:prstGeom prst="rect">
            <a:avLst/>
          </a:prstGeom>
          <a:noFill/>
          <a:ln/>
        </p:spPr>
        <p:txBody>
          <a:bodyPr wrap="square" lIns="0" tIns="0" rIns="0" bIns="0" rtlCol="0" anchor="ctr"/>
          <a:lstStyle/>
          <a:p>
            <a:pPr indent="0" marL="0">
              <a:buNone/>
            </a:pPr>
            <a:r>
              <a:rPr lang="en-US" sz="1400" dirty="0">
                <a:solidFill>
                  <a:schemeClr val="tx1"/>
                </a:solidFill>
              </a:rPr>
              <a:t>Overdrafts and an unstable balance correlate most with default; shared accounts least. 1998 looks safe only because those loans are too new to have defaulted.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Statistical tests: 11 of 26 inputs significant</a:t>
            </a:r>
            <a:endParaRPr lang="en-US" sz="3400" dirty="0"/>
          </a:p>
        </p:txBody>
      </p:sp>
      <p:graphicFrame>
        <p:nvGraphicFramePr>
          <p:cNvPr id="31" name="Stats table"/>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651760"/>
                <a:gridCol w="2103120"/>
                <a:gridCol w="219456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Significant?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chemeClr val="tx2"/>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Times overdrawn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Penalty interest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Payment vs balance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Latest / lowest balance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Account users</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Loan amount / payment</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Yes (p &lt; 0.001)</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Region</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Chi-square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No (p = 0.15)</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Card type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Chi-square</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No (p = 0.19)</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Average salary</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Mann-Whitney U</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No (p = 0.36)</a:t>
                      </a:r>
                      <a:endParaRPr lang="en-US" sz="1400" dirty="0">
                        <a:latin typeface="Calibri" charset="0"/>
                        <a:ea typeface="Calibri" charset="0"/>
                        <a:cs typeface="Calibri" charset="0"/>
                      </a:endParaRPr>
                    </a:p>
                  </a:txBody>
                  <a:tcPr marL="73152" marR="73152"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bl>
          </a:graphicData>
        </a:graphic>
      </p:graphicFrame>
      <p:sp>
        <p:nvSpPr>
          <p:cNvPr id="5" name="Screenshot frame tests_out.png"/>
          <p:cNvSpPr/>
          <p:nvPr/>
        </p:nvSpPr>
        <p:spPr>
          <a:xfrm>
            <a:off x="7902688" y="1325880"/>
            <a:ext cx="3607337" cy="4846320"/>
          </a:xfrm>
          <a:prstGeom prst="rect">
            <a:avLst/>
          </a:prstGeom>
          <a:solidFill>
            <a:srgbClr val="FFFFFF"/>
          </a:solidFill>
          <a:ln w="9525">
            <a:solidFill>
              <a:srgbClr val="C9CED6"/>
            </a:solidFill>
            <a:prstDash val="solid"/>
          </a:ln>
        </p:spPr>
      </p:sp>
      <p:pic>
        <p:nvPicPr>
          <p:cNvPr id="6" name="Screenshot tests_out.png" descr="Screenshot: tests_out.png">    </p:cNvPr>
          <p:cNvPicPr>
            <a:picLocks noChangeAspect="1"/>
          </p:cNvPicPr>
          <p:nvPr/>
        </p:nvPicPr>
        <p:blipFill>
          <a:blip r:embed="rId1"/>
          <a:stretch>
            <a:fillRect/>
          </a:stretch>
        </p:blipFill>
        <p:spPr>
          <a:xfrm>
            <a:off x="7957552" y="1380744"/>
            <a:ext cx="3497609" cy="4736592"/>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Confusion matrix and scores (test set)</a:t>
            </a:r>
            <a:endParaRPr lang="en-US" sz="3400" dirty="0"/>
          </a:p>
        </p:txBody>
      </p:sp>
      <p:sp>
        <p:nvSpPr>
          <p:cNvPr id="4" name="Screenshot frame cmroc_out.png"/>
          <p:cNvSpPr/>
          <p:nvPr/>
        </p:nvSpPr>
        <p:spPr>
          <a:xfrm>
            <a:off x="548640" y="1325880"/>
            <a:ext cx="11094415" cy="4267279"/>
          </a:xfrm>
          <a:prstGeom prst="rect">
            <a:avLst/>
          </a:prstGeom>
          <a:solidFill>
            <a:srgbClr val="FFFFFF"/>
          </a:solidFill>
          <a:ln w="9525">
            <a:solidFill>
              <a:srgbClr val="C9CED6"/>
            </a:solidFill>
            <a:prstDash val="solid"/>
          </a:ln>
        </p:spPr>
      </p:sp>
      <p:pic>
        <p:nvPicPr>
          <p:cNvPr id="5" name="Screenshot cmroc_out.png" descr="Screenshot: cmroc_out.png">    </p:cNvPr>
          <p:cNvPicPr>
            <a:picLocks noChangeAspect="1"/>
          </p:cNvPicPr>
          <p:nvPr/>
        </p:nvPicPr>
        <p:blipFill>
          <a:blip r:embed="rId1"/>
          <a:stretch>
            <a:fillRect/>
          </a:stretch>
        </p:blipFill>
        <p:spPr>
          <a:xfrm>
            <a:off x="603504" y="1380744"/>
            <a:ext cx="10984687" cy="415755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Scoring code and batch results</a:t>
            </a:r>
            <a:endParaRPr lang="en-US" sz="3400" dirty="0"/>
          </a:p>
        </p:txBody>
      </p:sp>
      <p:sp>
        <p:nvSpPr>
          <p:cNvPr id="4" name="Screenshot frame scorefn_cell.png"/>
          <p:cNvSpPr/>
          <p:nvPr/>
        </p:nvSpPr>
        <p:spPr>
          <a:xfrm>
            <a:off x="548640" y="1325880"/>
            <a:ext cx="6583680" cy="4630002"/>
          </a:xfrm>
          <a:prstGeom prst="rect">
            <a:avLst/>
          </a:prstGeom>
          <a:solidFill>
            <a:srgbClr val="FFFFFF"/>
          </a:solidFill>
          <a:ln w="9525">
            <a:solidFill>
              <a:srgbClr val="C9CED6"/>
            </a:solidFill>
            <a:prstDash val="solid"/>
          </a:ln>
        </p:spPr>
      </p:sp>
      <p:pic>
        <p:nvPicPr>
          <p:cNvPr id="5" name="Screenshot scorefn_cell.png" descr="Screenshot: scorefn_cell.png">    </p:cNvPr>
          <p:cNvPicPr>
            <a:picLocks noChangeAspect="1"/>
          </p:cNvPicPr>
          <p:nvPr/>
        </p:nvPicPr>
        <p:blipFill>
          <a:blip r:embed="rId1"/>
          <a:stretch>
            <a:fillRect/>
          </a:stretch>
        </p:blipFill>
        <p:spPr>
          <a:xfrm>
            <a:off x="603504" y="1380744"/>
            <a:ext cx="6473952" cy="4520274"/>
          </a:xfrm>
          <a:prstGeom prst="rect">
            <a:avLst/>
          </a:prstGeom>
        </p:spPr>
      </p:pic>
      <p:sp>
        <p:nvSpPr>
          <p:cNvPr id="6" name="Screenshot frame batch_out.png"/>
          <p:cNvSpPr/>
          <p:nvPr/>
        </p:nvSpPr>
        <p:spPr>
          <a:xfrm>
            <a:off x="7406640" y="1325880"/>
            <a:ext cx="4233672" cy="1813887"/>
          </a:xfrm>
          <a:prstGeom prst="rect">
            <a:avLst/>
          </a:prstGeom>
          <a:solidFill>
            <a:srgbClr val="FFFFFF"/>
          </a:solidFill>
          <a:ln w="9525">
            <a:solidFill>
              <a:srgbClr val="C9CED6"/>
            </a:solidFill>
            <a:prstDash val="solid"/>
          </a:ln>
        </p:spPr>
      </p:sp>
      <p:pic>
        <p:nvPicPr>
          <p:cNvPr id="7" name="Screenshot batch_out.png" descr="Screenshot: batch_out.png">    </p:cNvPr>
          <p:cNvPicPr>
            <a:picLocks noChangeAspect="1"/>
          </p:cNvPicPr>
          <p:nvPr/>
        </p:nvPicPr>
        <p:blipFill>
          <a:blip r:embed="rId2"/>
          <a:stretch>
            <a:fillRect/>
          </a:stretch>
        </p:blipFill>
        <p:spPr>
          <a:xfrm>
            <a:off x="7461504" y="1380744"/>
            <a:ext cx="4123944" cy="1704159"/>
          </a:xfrm>
          <a:prstGeom prst="rect">
            <a:avLst/>
          </a:prstGeom>
        </p:spPr>
      </p:pic>
      <p:sp>
        <p:nvSpPr>
          <p:cNvPr id="8" name="Text 4"/>
          <p:cNvSpPr txBox="1"/>
          <p:nvPr/>
        </p:nvSpPr>
        <p:spPr>
          <a:xfrm>
            <a:off x="7406640" y="3194631"/>
            <a:ext cx="4233672" cy="274320"/>
          </a:xfrm>
          <a:prstGeom prst="rect">
            <a:avLst/>
          </a:prstGeom>
          <a:noFill/>
          <a:ln/>
        </p:spPr>
        <p:txBody>
          <a:bodyPr wrap="square" lIns="0" tIns="0" rIns="0" bIns="0" rtlCol="0" anchor="t"/>
          <a:lstStyle/>
          <a:p>
            <a:pPr indent="0" marL="0">
              <a:buNone/>
            </a:pPr>
            <a:r>
              <a:rPr lang="en-US" sz="1100" i="1" dirty="0">
                <a:solidFill>
                  <a:schemeClr val="accent5"/>
                </a:solidFill>
              </a:rPr>
              <a:t>Risk bands vs actual defaults</a:t>
            </a:r>
            <a:endParaRPr lang="en-US" sz="1100" dirty="0"/>
          </a:p>
        </p:txBody>
      </p:sp>
      <p:sp>
        <p:nvSpPr>
          <p:cNvPr id="9" name="Band takeaway"/>
          <p:cNvSpPr/>
          <p:nvPr/>
        </p:nvSpPr>
        <p:spPr>
          <a:xfrm>
            <a:off x="7406640" y="3657600"/>
            <a:ext cx="4233672" cy="2468880"/>
          </a:xfrm>
          <a:prstGeom prst="roundRect">
            <a:avLst>
              <a:gd name="adj" fmla="val 2963"/>
            </a:avLst>
          </a:prstGeom>
          <a:solidFill>
            <a:schemeClr val="bg2"/>
          </a:solidFill>
          <a:ln/>
        </p:spPr>
      </p:sp>
      <p:sp>
        <p:nvSpPr>
          <p:cNvPr id="10" name="Text 6"/>
          <p:cNvSpPr txBox="1"/>
          <p:nvPr/>
        </p:nvSpPr>
        <p:spPr>
          <a:xfrm>
            <a:off x="7635240" y="3794760"/>
            <a:ext cx="3794760" cy="2194560"/>
          </a:xfrm>
          <a:prstGeom prst="rect">
            <a:avLst/>
          </a:prstGeom>
          <a:noFill/>
          <a:ln/>
        </p:spPr>
        <p:txBody>
          <a:bodyPr wrap="square" lIns="0" tIns="0" rIns="0" bIns="0" rtlCol="0" anchor="ctr"/>
          <a:lstStyle/>
          <a:p>
            <a:pPr indent="0" marL="0">
              <a:buNone/>
            </a:pPr>
            <a:r>
              <a:rPr lang="en-US" sz="1600" dirty="0">
                <a:solidFill>
                  <a:schemeClr val="tx1"/>
                </a:solidFill>
              </a:rPr>
              <a:t>High band: all 9 loans defaulted. Low band: 1%. The bands separate risky and safe borrowers clearly.</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Monitoring detail: change in applicants (PSI)</a:t>
            </a:r>
            <a:endParaRPr lang="en-US" sz="3400" dirty="0"/>
          </a:p>
        </p:txBody>
      </p:sp>
      <p:sp>
        <p:nvSpPr>
          <p:cNvPr id="4" name="Screenshot frame psi_chart.png"/>
          <p:cNvSpPr/>
          <p:nvPr/>
        </p:nvSpPr>
        <p:spPr>
          <a:xfrm>
            <a:off x="548640" y="1325880"/>
            <a:ext cx="6766560" cy="4217315"/>
          </a:xfrm>
          <a:prstGeom prst="rect">
            <a:avLst/>
          </a:prstGeom>
          <a:solidFill>
            <a:srgbClr val="FFFFFF"/>
          </a:solidFill>
          <a:ln w="9525">
            <a:solidFill>
              <a:srgbClr val="C9CED6"/>
            </a:solidFill>
            <a:prstDash val="solid"/>
          </a:ln>
        </p:spPr>
      </p:sp>
      <p:pic>
        <p:nvPicPr>
          <p:cNvPr id="5" name="Screenshot psi_chart.png" descr="Screenshot: psi_chart.png">    </p:cNvPr>
          <p:cNvPicPr>
            <a:picLocks noChangeAspect="1"/>
          </p:cNvPicPr>
          <p:nvPr/>
        </p:nvPicPr>
        <p:blipFill>
          <a:blip r:embed="rId1"/>
          <a:stretch>
            <a:fillRect/>
          </a:stretch>
        </p:blipFill>
        <p:spPr>
          <a:xfrm>
            <a:off x="603504" y="1380744"/>
            <a:ext cx="6656832" cy="4107587"/>
          </a:xfrm>
          <a:prstGeom prst="rect">
            <a:avLst/>
          </a:prstGeom>
        </p:spPr>
      </p:pic>
      <p:sp>
        <p:nvSpPr>
          <p:cNvPr id="6" name="PSI panel"/>
          <p:cNvSpPr/>
          <p:nvPr/>
        </p:nvSpPr>
        <p:spPr>
          <a:xfrm>
            <a:off x="7589520" y="1325880"/>
            <a:ext cx="4050792" cy="4846320"/>
          </a:xfrm>
          <a:prstGeom prst="roundRect">
            <a:avLst>
              <a:gd name="adj" fmla="val 1806"/>
            </a:avLst>
          </a:prstGeom>
          <a:solidFill>
            <a:schemeClr val="bg2"/>
          </a:solidFill>
          <a:ln/>
        </p:spPr>
      </p:sp>
      <p:sp>
        <p:nvSpPr>
          <p:cNvPr id="7" name="Text 4"/>
          <p:cNvSpPr txBox="1"/>
          <p:nvPr/>
        </p:nvSpPr>
        <p:spPr>
          <a:xfrm>
            <a:off x="7818120" y="1554480"/>
            <a:ext cx="3657600" cy="411480"/>
          </a:xfrm>
          <a:prstGeom prst="rect">
            <a:avLst/>
          </a:prstGeom>
          <a:noFill/>
          <a:ln/>
        </p:spPr>
        <p:txBody>
          <a:bodyPr wrap="square" lIns="0" tIns="0" rIns="0" bIns="0" rtlCol="0" anchor="t"/>
          <a:lstStyle/>
          <a:p>
            <a:pPr indent="0" marL="0">
              <a:buNone/>
            </a:pPr>
            <a:r>
              <a:rPr lang="en-US" sz="1800" b="1" dirty="0">
                <a:solidFill>
                  <a:schemeClr val="tx2"/>
                </a:solidFill>
              </a:rPr>
              <a:t>How to read PSI</a:t>
            </a:r>
            <a:endParaRPr lang="en-US" sz="1800" dirty="0"/>
          </a:p>
        </p:txBody>
      </p:sp>
      <p:sp>
        <p:nvSpPr>
          <p:cNvPr id="8" name="Text 5"/>
          <p:cNvSpPr txBox="1"/>
          <p:nvPr/>
        </p:nvSpPr>
        <p:spPr>
          <a:xfrm>
            <a:off x="7818120" y="2103120"/>
            <a:ext cx="3657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Below 0.10: stable</a:t>
            </a:r>
            <a:endParaRPr lang="en-US" sz="1600" dirty="0"/>
          </a:p>
          <a:p>
            <a:pPr marL="342900" indent="-342900">
              <a:spcAft>
                <a:spcPts val="800"/>
              </a:spcAft>
              <a:buSzPct val="100000"/>
              <a:buChar char="•"/>
            </a:pPr>
            <a:r>
              <a:rPr lang="en-US" sz="1600" dirty="0">
                <a:solidFill>
                  <a:schemeClr val="tx1"/>
                </a:solidFill>
              </a:rPr>
              <a:t>0.10–0.25: watch</a:t>
            </a:r>
            <a:endParaRPr lang="en-US" sz="1600" dirty="0"/>
          </a:p>
          <a:p>
            <a:pPr marL="342900" indent="-342900">
              <a:spcAft>
                <a:spcPts val="800"/>
              </a:spcAft>
              <a:buSzPct val="100000"/>
              <a:buChar char="•"/>
            </a:pPr>
            <a:r>
              <a:rPr lang="en-US" sz="1600" dirty="0">
                <a:solidFill>
                  <a:schemeClr val="tx1"/>
                </a:solidFill>
              </a:rPr>
              <a:t>Above 0.25: retrain</a:t>
            </a:r>
            <a:endParaRPr lang="en-US" sz="1600" dirty="0"/>
          </a:p>
        </p:txBody>
      </p:sp>
      <p:sp>
        <p:nvSpPr>
          <p:cNvPr id="9" name="Text 6"/>
          <p:cNvSpPr txBox="1"/>
          <p:nvPr/>
        </p:nvSpPr>
        <p:spPr>
          <a:xfrm>
            <a:off x="7818120" y="3657600"/>
            <a:ext cx="3611880" cy="2286000"/>
          </a:xfrm>
          <a:prstGeom prst="rect">
            <a:avLst/>
          </a:prstGeom>
          <a:noFill/>
          <a:ln/>
        </p:spPr>
        <p:txBody>
          <a:bodyPr wrap="square" lIns="0" tIns="0" rIns="0" bIns="0" rtlCol="0" anchor="t"/>
          <a:lstStyle/>
          <a:p>
            <a:pPr indent="0" marL="0">
              <a:buNone/>
            </a:pPr>
            <a:r>
              <a:rPr lang="en-US" sz="1500" dirty="0">
                <a:solidFill>
                  <a:schemeClr val="tx1"/>
                </a:solidFill>
              </a:rPr>
              <a:t>A few inputs (spending, account age, salary) are in the watch zone: customers change slowly over time, a reason for scheduled retraining.</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10180015" y="109728"/>
            <a:ext cx="1463040" cy="256032"/>
          </a:xfrm>
          <a:prstGeom prst="rect">
            <a:avLst/>
          </a:prstGeom>
          <a:noFill/>
          <a:ln/>
        </p:spPr>
        <p:txBody>
          <a:bodyPr wrap="square" lIns="0" tIns="0" rIns="0" bIns="0" rtlCol="0" anchor="t"/>
          <a:lstStyle/>
          <a:p>
            <a:pPr algn="r" indent="0" marL="0">
              <a:buNone/>
            </a:pPr>
            <a:r>
              <a:rPr lang="en-US" sz="1000" b="1" dirty="0">
                <a:solidFill>
                  <a:schemeClr val="accent1"/>
                </a:solidFill>
              </a:rPr>
              <a:t>APPENDIX</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Tools and techniques used</a:t>
            </a:r>
            <a:endParaRPr lang="en-US" sz="3400" dirty="0"/>
          </a:p>
        </p:txBody>
      </p:sp>
      <p:sp>
        <p:nvSpPr>
          <p:cNvPr id="4" name="Tool card 0"/>
          <p:cNvSpPr/>
          <p:nvPr/>
        </p:nvSpPr>
        <p:spPr>
          <a:xfrm>
            <a:off x="548640" y="1417320"/>
            <a:ext cx="2615184" cy="2240280"/>
          </a:xfrm>
          <a:prstGeom prst="roundRect">
            <a:avLst>
              <a:gd name="adj" fmla="val 3265"/>
            </a:avLst>
          </a:prstGeom>
          <a:solidFill>
            <a:schemeClr val="bg2"/>
          </a:solidFill>
          <a:ln/>
        </p:spPr>
      </p:sp>
      <p:sp>
        <p:nvSpPr>
          <p:cNvPr id="5" name="Tool 0 circle"/>
          <p:cNvSpPr/>
          <p:nvPr/>
        </p:nvSpPr>
        <p:spPr>
          <a:xfrm>
            <a:off x="822960" y="1691640"/>
            <a:ext cx="685800" cy="685800"/>
          </a:xfrm>
          <a:prstGeom prst="ellipse">
            <a:avLst/>
          </a:prstGeom>
          <a:solidFill>
            <a:srgbClr val="16243A"/>
          </a:solidFill>
          <a:ln/>
        </p:spPr>
      </p:sp>
      <p:pic>
        <p:nvPicPr>
          <p:cNvPr id="6" name="Tool 0 icon" descr="preencoded.png">    </p:cNvPr>
          <p:cNvPicPr>
            <a:picLocks noChangeAspect="1"/>
          </p:cNvPicPr>
          <p:nvPr/>
        </p:nvPicPr>
        <p:blipFill>
          <a:blip r:embed="rId1"/>
          <a:stretch>
            <a:fillRect/>
          </a:stretch>
        </p:blipFill>
        <p:spPr>
          <a:xfrm>
            <a:off x="1008126" y="1876806"/>
            <a:ext cx="315468" cy="315468"/>
          </a:xfrm>
          <a:prstGeom prst="rect">
            <a:avLst/>
          </a:prstGeom>
        </p:spPr>
      </p:pic>
      <p:sp>
        <p:nvSpPr>
          <p:cNvPr id="7" name="Text 4"/>
          <p:cNvSpPr txBox="1"/>
          <p:nvPr/>
        </p:nvSpPr>
        <p:spPr>
          <a:xfrm>
            <a:off x="822960" y="2514600"/>
            <a:ext cx="2157984" cy="411480"/>
          </a:xfrm>
          <a:prstGeom prst="rect">
            <a:avLst/>
          </a:prstGeom>
          <a:noFill/>
          <a:ln/>
        </p:spPr>
        <p:txBody>
          <a:bodyPr wrap="square" lIns="0" tIns="0" rIns="0" bIns="0" rtlCol="0" anchor="t"/>
          <a:lstStyle/>
          <a:p>
            <a:pPr indent="0" marL="0">
              <a:buNone/>
            </a:pPr>
            <a:r>
              <a:rPr lang="en-US" sz="1700" b="1" dirty="0">
                <a:solidFill>
                  <a:schemeClr val="tx2"/>
                </a:solidFill>
              </a:rPr>
              <a:t>Google Colab / Jupyter</a:t>
            </a:r>
            <a:endParaRPr lang="en-US" sz="1700" dirty="0"/>
          </a:p>
        </p:txBody>
      </p:sp>
      <p:sp>
        <p:nvSpPr>
          <p:cNvPr id="8" name="Text 5"/>
          <p:cNvSpPr txBox="1"/>
          <p:nvPr/>
        </p:nvSpPr>
        <p:spPr>
          <a:xfrm>
            <a:off x="822960" y="2926080"/>
            <a:ext cx="2157984" cy="640080"/>
          </a:xfrm>
          <a:prstGeom prst="rect">
            <a:avLst/>
          </a:prstGeom>
          <a:noFill/>
          <a:ln/>
        </p:spPr>
        <p:txBody>
          <a:bodyPr wrap="square" lIns="0" tIns="0" rIns="0" bIns="0" rtlCol="0" anchor="t"/>
          <a:lstStyle/>
          <a:p>
            <a:pPr indent="0" marL="0">
              <a:buNone/>
            </a:pPr>
            <a:r>
              <a:rPr lang="en-US" sz="1400" dirty="0">
                <a:solidFill>
                  <a:schemeClr val="tx1"/>
                </a:solidFill>
              </a:rPr>
              <a:t>Notebook environment for every step (.ipynb deliverable)</a:t>
            </a:r>
            <a:endParaRPr lang="en-US" sz="1400" dirty="0"/>
          </a:p>
        </p:txBody>
      </p:sp>
      <p:sp>
        <p:nvSpPr>
          <p:cNvPr id="9" name="Tool card 1"/>
          <p:cNvSpPr/>
          <p:nvPr/>
        </p:nvSpPr>
        <p:spPr>
          <a:xfrm>
            <a:off x="3374136" y="1417320"/>
            <a:ext cx="2615184" cy="2240280"/>
          </a:xfrm>
          <a:prstGeom prst="roundRect">
            <a:avLst>
              <a:gd name="adj" fmla="val 3265"/>
            </a:avLst>
          </a:prstGeom>
          <a:solidFill>
            <a:schemeClr val="bg2"/>
          </a:solidFill>
          <a:ln/>
        </p:spPr>
      </p:sp>
      <p:sp>
        <p:nvSpPr>
          <p:cNvPr id="10" name="Tool 1 circle"/>
          <p:cNvSpPr/>
          <p:nvPr/>
        </p:nvSpPr>
        <p:spPr>
          <a:xfrm>
            <a:off x="3648456" y="1691640"/>
            <a:ext cx="685800" cy="685800"/>
          </a:xfrm>
          <a:prstGeom prst="ellipse">
            <a:avLst/>
          </a:prstGeom>
          <a:solidFill>
            <a:srgbClr val="16243A"/>
          </a:solidFill>
          <a:ln/>
        </p:spPr>
      </p:sp>
      <p:pic>
        <p:nvPicPr>
          <p:cNvPr id="11" name="Tool 1 icon" descr="preencoded.png">    </p:cNvPr>
          <p:cNvPicPr>
            <a:picLocks noChangeAspect="1"/>
          </p:cNvPicPr>
          <p:nvPr/>
        </p:nvPicPr>
        <p:blipFill>
          <a:blip r:embed="rId2"/>
          <a:stretch>
            <a:fillRect/>
          </a:stretch>
        </p:blipFill>
        <p:spPr>
          <a:xfrm>
            <a:off x="3833622" y="1876806"/>
            <a:ext cx="315468" cy="315468"/>
          </a:xfrm>
          <a:prstGeom prst="rect">
            <a:avLst/>
          </a:prstGeom>
        </p:spPr>
      </p:pic>
      <p:sp>
        <p:nvSpPr>
          <p:cNvPr id="12" name="Text 8"/>
          <p:cNvSpPr txBox="1"/>
          <p:nvPr/>
        </p:nvSpPr>
        <p:spPr>
          <a:xfrm>
            <a:off x="3648456" y="2514600"/>
            <a:ext cx="2157984" cy="411480"/>
          </a:xfrm>
          <a:prstGeom prst="rect">
            <a:avLst/>
          </a:prstGeom>
          <a:noFill/>
          <a:ln/>
        </p:spPr>
        <p:txBody>
          <a:bodyPr wrap="square" lIns="0" tIns="0" rIns="0" bIns="0" rtlCol="0" anchor="t"/>
          <a:lstStyle/>
          <a:p>
            <a:pPr indent="0" marL="0">
              <a:buNone/>
            </a:pPr>
            <a:r>
              <a:rPr lang="en-US" sz="1700" b="1" dirty="0">
                <a:solidFill>
                  <a:schemeClr val="tx2"/>
                </a:solidFill>
              </a:rPr>
              <a:t>pandas &amp; NumPy</a:t>
            </a:r>
            <a:endParaRPr lang="en-US" sz="1700" dirty="0"/>
          </a:p>
        </p:txBody>
      </p:sp>
      <p:sp>
        <p:nvSpPr>
          <p:cNvPr id="13" name="Text 9"/>
          <p:cNvSpPr txBox="1"/>
          <p:nvPr/>
        </p:nvSpPr>
        <p:spPr>
          <a:xfrm>
            <a:off x="3648456" y="2926080"/>
            <a:ext cx="2157984" cy="640080"/>
          </a:xfrm>
          <a:prstGeom prst="rect">
            <a:avLst/>
          </a:prstGeom>
          <a:noFill/>
          <a:ln/>
        </p:spPr>
        <p:txBody>
          <a:bodyPr wrap="square" lIns="0" tIns="0" rIns="0" bIns="0" rtlCol="0" anchor="t"/>
          <a:lstStyle/>
          <a:p>
            <a:pPr indent="0" marL="0">
              <a:buNone/>
            </a:pPr>
            <a:r>
              <a:rPr lang="en-US" sz="1400" dirty="0">
                <a:solidFill>
                  <a:schemeClr val="tx1"/>
                </a:solidFill>
              </a:rPr>
              <a:t>Loading, cleaning, integration, feature engineering</a:t>
            </a:r>
            <a:endParaRPr lang="en-US" sz="1400" dirty="0"/>
          </a:p>
        </p:txBody>
      </p:sp>
      <p:sp>
        <p:nvSpPr>
          <p:cNvPr id="14" name="Tool card 2"/>
          <p:cNvSpPr/>
          <p:nvPr/>
        </p:nvSpPr>
        <p:spPr>
          <a:xfrm>
            <a:off x="6199632" y="1417320"/>
            <a:ext cx="2615184" cy="2240280"/>
          </a:xfrm>
          <a:prstGeom prst="roundRect">
            <a:avLst>
              <a:gd name="adj" fmla="val 3265"/>
            </a:avLst>
          </a:prstGeom>
          <a:solidFill>
            <a:schemeClr val="bg2"/>
          </a:solidFill>
          <a:ln/>
        </p:spPr>
      </p:sp>
      <p:sp>
        <p:nvSpPr>
          <p:cNvPr id="15" name="Tool 2 circle"/>
          <p:cNvSpPr/>
          <p:nvPr/>
        </p:nvSpPr>
        <p:spPr>
          <a:xfrm>
            <a:off x="6473952" y="1691640"/>
            <a:ext cx="685800" cy="685800"/>
          </a:xfrm>
          <a:prstGeom prst="ellipse">
            <a:avLst/>
          </a:prstGeom>
          <a:solidFill>
            <a:srgbClr val="16243A"/>
          </a:solidFill>
          <a:ln/>
        </p:spPr>
      </p:sp>
      <p:pic>
        <p:nvPicPr>
          <p:cNvPr id="16" name="Tool 2 icon" descr="preencoded.png">    </p:cNvPr>
          <p:cNvPicPr>
            <a:picLocks noChangeAspect="1"/>
          </p:cNvPicPr>
          <p:nvPr/>
        </p:nvPicPr>
        <p:blipFill>
          <a:blip r:embed="rId3"/>
          <a:stretch>
            <a:fillRect/>
          </a:stretch>
        </p:blipFill>
        <p:spPr>
          <a:xfrm>
            <a:off x="6659118" y="1876806"/>
            <a:ext cx="315468" cy="315468"/>
          </a:xfrm>
          <a:prstGeom prst="rect">
            <a:avLst/>
          </a:prstGeom>
        </p:spPr>
      </p:pic>
      <p:sp>
        <p:nvSpPr>
          <p:cNvPr id="17" name="Text 12"/>
          <p:cNvSpPr txBox="1"/>
          <p:nvPr/>
        </p:nvSpPr>
        <p:spPr>
          <a:xfrm>
            <a:off x="6473952" y="2514600"/>
            <a:ext cx="2157984" cy="411480"/>
          </a:xfrm>
          <a:prstGeom prst="rect">
            <a:avLst/>
          </a:prstGeom>
          <a:noFill/>
          <a:ln/>
        </p:spPr>
        <p:txBody>
          <a:bodyPr wrap="square" lIns="0" tIns="0" rIns="0" bIns="0" rtlCol="0" anchor="t"/>
          <a:lstStyle/>
          <a:p>
            <a:pPr indent="0" marL="0">
              <a:buNone/>
            </a:pPr>
            <a:r>
              <a:rPr lang="en-US" sz="1700" b="1" dirty="0">
                <a:solidFill>
                  <a:schemeClr val="tx2"/>
                </a:solidFill>
              </a:rPr>
              <a:t>Matplotlib &amp; Seaborn</a:t>
            </a:r>
            <a:endParaRPr lang="en-US" sz="1700" dirty="0"/>
          </a:p>
        </p:txBody>
      </p:sp>
      <p:sp>
        <p:nvSpPr>
          <p:cNvPr id="18" name="Text 13"/>
          <p:cNvSpPr txBox="1"/>
          <p:nvPr/>
        </p:nvSpPr>
        <p:spPr>
          <a:xfrm>
            <a:off x="6473952" y="2926080"/>
            <a:ext cx="2157984" cy="640080"/>
          </a:xfrm>
          <a:prstGeom prst="rect">
            <a:avLst/>
          </a:prstGeom>
          <a:noFill/>
          <a:ln/>
        </p:spPr>
        <p:txBody>
          <a:bodyPr wrap="square" lIns="0" tIns="0" rIns="0" bIns="0" rtlCol="0" anchor="t"/>
          <a:lstStyle/>
          <a:p>
            <a:pPr indent="0" marL="0">
              <a:buNone/>
            </a:pPr>
            <a:r>
              <a:rPr lang="en-US" sz="1400" dirty="0">
                <a:solidFill>
                  <a:schemeClr val="tx1"/>
                </a:solidFill>
              </a:rPr>
              <a:t>Bar, box, line, heatmap and drift charts</a:t>
            </a:r>
            <a:endParaRPr lang="en-US" sz="1400" dirty="0"/>
          </a:p>
        </p:txBody>
      </p:sp>
      <p:sp>
        <p:nvSpPr>
          <p:cNvPr id="19" name="Tool card 3"/>
          <p:cNvSpPr/>
          <p:nvPr/>
        </p:nvSpPr>
        <p:spPr>
          <a:xfrm>
            <a:off x="9025128" y="1417320"/>
            <a:ext cx="2615184" cy="2240280"/>
          </a:xfrm>
          <a:prstGeom prst="roundRect">
            <a:avLst>
              <a:gd name="adj" fmla="val 3265"/>
            </a:avLst>
          </a:prstGeom>
          <a:solidFill>
            <a:schemeClr val="bg2"/>
          </a:solidFill>
          <a:ln/>
        </p:spPr>
      </p:sp>
      <p:sp>
        <p:nvSpPr>
          <p:cNvPr id="20" name="Tool 3 circle"/>
          <p:cNvSpPr/>
          <p:nvPr/>
        </p:nvSpPr>
        <p:spPr>
          <a:xfrm>
            <a:off x="9299448" y="1691640"/>
            <a:ext cx="685800" cy="685800"/>
          </a:xfrm>
          <a:prstGeom prst="ellipse">
            <a:avLst/>
          </a:prstGeom>
          <a:solidFill>
            <a:srgbClr val="16243A"/>
          </a:solidFill>
          <a:ln/>
        </p:spPr>
      </p:sp>
      <p:pic>
        <p:nvPicPr>
          <p:cNvPr id="21" name="Tool 3 icon" descr="preencoded.png">    </p:cNvPr>
          <p:cNvPicPr>
            <a:picLocks noChangeAspect="1"/>
          </p:cNvPicPr>
          <p:nvPr/>
        </p:nvPicPr>
        <p:blipFill>
          <a:blip r:embed="rId4"/>
          <a:stretch>
            <a:fillRect/>
          </a:stretch>
        </p:blipFill>
        <p:spPr>
          <a:xfrm>
            <a:off x="9484614" y="1876806"/>
            <a:ext cx="315468" cy="315468"/>
          </a:xfrm>
          <a:prstGeom prst="rect">
            <a:avLst/>
          </a:prstGeom>
        </p:spPr>
      </p:pic>
      <p:sp>
        <p:nvSpPr>
          <p:cNvPr id="22" name="Text 16"/>
          <p:cNvSpPr txBox="1"/>
          <p:nvPr/>
        </p:nvSpPr>
        <p:spPr>
          <a:xfrm>
            <a:off x="9299448" y="2514600"/>
            <a:ext cx="2157984" cy="411480"/>
          </a:xfrm>
          <a:prstGeom prst="rect">
            <a:avLst/>
          </a:prstGeom>
          <a:noFill/>
          <a:ln/>
        </p:spPr>
        <p:txBody>
          <a:bodyPr wrap="square" lIns="0" tIns="0" rIns="0" bIns="0" rtlCol="0" anchor="t"/>
          <a:lstStyle/>
          <a:p>
            <a:pPr indent="0" marL="0">
              <a:buNone/>
            </a:pPr>
            <a:r>
              <a:rPr lang="en-US" sz="1700" b="1" dirty="0">
                <a:solidFill>
                  <a:schemeClr val="tx2"/>
                </a:solidFill>
              </a:rPr>
              <a:t>SciPy</a:t>
            </a:r>
            <a:endParaRPr lang="en-US" sz="1700" dirty="0"/>
          </a:p>
        </p:txBody>
      </p:sp>
      <p:sp>
        <p:nvSpPr>
          <p:cNvPr id="23" name="Text 17"/>
          <p:cNvSpPr txBox="1"/>
          <p:nvPr/>
        </p:nvSpPr>
        <p:spPr>
          <a:xfrm>
            <a:off x="9299448" y="2926080"/>
            <a:ext cx="2157984" cy="640080"/>
          </a:xfrm>
          <a:prstGeom prst="rect">
            <a:avLst/>
          </a:prstGeom>
          <a:noFill/>
          <a:ln/>
        </p:spPr>
        <p:txBody>
          <a:bodyPr wrap="square" lIns="0" tIns="0" rIns="0" bIns="0" rtlCol="0" anchor="t"/>
          <a:lstStyle/>
          <a:p>
            <a:pPr indent="0" marL="0">
              <a:buNone/>
            </a:pPr>
            <a:r>
              <a:rPr lang="en-US" sz="1400" dirty="0">
                <a:solidFill>
                  <a:schemeClr val="tx1"/>
                </a:solidFill>
              </a:rPr>
              <a:t>Chi-square and Mann-Whitney U hypothesis tests</a:t>
            </a:r>
            <a:endParaRPr lang="en-US" sz="1400" dirty="0"/>
          </a:p>
        </p:txBody>
      </p:sp>
      <p:sp>
        <p:nvSpPr>
          <p:cNvPr id="24" name="Tool card 4"/>
          <p:cNvSpPr/>
          <p:nvPr/>
        </p:nvSpPr>
        <p:spPr>
          <a:xfrm>
            <a:off x="548640" y="3886200"/>
            <a:ext cx="2615184" cy="2240280"/>
          </a:xfrm>
          <a:prstGeom prst="roundRect">
            <a:avLst>
              <a:gd name="adj" fmla="val 3265"/>
            </a:avLst>
          </a:prstGeom>
          <a:solidFill>
            <a:schemeClr val="bg2"/>
          </a:solidFill>
          <a:ln/>
        </p:spPr>
      </p:sp>
      <p:sp>
        <p:nvSpPr>
          <p:cNvPr id="25" name="Tool 4 circle"/>
          <p:cNvSpPr/>
          <p:nvPr/>
        </p:nvSpPr>
        <p:spPr>
          <a:xfrm>
            <a:off x="822960" y="4160520"/>
            <a:ext cx="685800" cy="685800"/>
          </a:xfrm>
          <a:prstGeom prst="ellipse">
            <a:avLst/>
          </a:prstGeom>
          <a:solidFill>
            <a:srgbClr val="16243A"/>
          </a:solidFill>
          <a:ln/>
        </p:spPr>
      </p:sp>
      <p:pic>
        <p:nvPicPr>
          <p:cNvPr id="26" name="Tool 4 icon" descr="preencoded.png">    </p:cNvPr>
          <p:cNvPicPr>
            <a:picLocks noChangeAspect="1"/>
          </p:cNvPicPr>
          <p:nvPr/>
        </p:nvPicPr>
        <p:blipFill>
          <a:blip r:embed="rId5"/>
          <a:stretch>
            <a:fillRect/>
          </a:stretch>
        </p:blipFill>
        <p:spPr>
          <a:xfrm>
            <a:off x="1008126" y="4345686"/>
            <a:ext cx="315468" cy="315468"/>
          </a:xfrm>
          <a:prstGeom prst="rect">
            <a:avLst/>
          </a:prstGeom>
        </p:spPr>
      </p:pic>
      <p:sp>
        <p:nvSpPr>
          <p:cNvPr id="27" name="Text 20"/>
          <p:cNvSpPr txBox="1"/>
          <p:nvPr/>
        </p:nvSpPr>
        <p:spPr>
          <a:xfrm>
            <a:off x="822960" y="4983480"/>
            <a:ext cx="2157984" cy="411480"/>
          </a:xfrm>
          <a:prstGeom prst="rect">
            <a:avLst/>
          </a:prstGeom>
          <a:noFill/>
          <a:ln/>
        </p:spPr>
        <p:txBody>
          <a:bodyPr wrap="square" lIns="0" tIns="0" rIns="0" bIns="0" rtlCol="0" anchor="t"/>
          <a:lstStyle/>
          <a:p>
            <a:pPr indent="0" marL="0">
              <a:buNone/>
            </a:pPr>
            <a:r>
              <a:rPr lang="en-US" sz="1700" b="1" dirty="0">
                <a:solidFill>
                  <a:schemeClr val="tx2"/>
                </a:solidFill>
              </a:rPr>
              <a:t>scikit-learn</a:t>
            </a:r>
            <a:endParaRPr lang="en-US" sz="1700" dirty="0"/>
          </a:p>
        </p:txBody>
      </p:sp>
      <p:sp>
        <p:nvSpPr>
          <p:cNvPr id="28" name="Text 21"/>
          <p:cNvSpPr txBox="1"/>
          <p:nvPr/>
        </p:nvSpPr>
        <p:spPr>
          <a:xfrm>
            <a:off x="822960" y="5394960"/>
            <a:ext cx="2157984" cy="640080"/>
          </a:xfrm>
          <a:prstGeom prst="rect">
            <a:avLst/>
          </a:prstGeom>
          <a:noFill/>
          <a:ln/>
        </p:spPr>
        <p:txBody>
          <a:bodyPr wrap="square" lIns="0" tIns="0" rIns="0" bIns="0" rtlCol="0" anchor="t"/>
          <a:lstStyle/>
          <a:p>
            <a:pPr indent="0" marL="0">
              <a:buNone/>
            </a:pPr>
            <a:r>
              <a:rPr lang="en-US" sz="1400" dirty="0">
                <a:solidFill>
                  <a:schemeClr val="tx1"/>
                </a:solidFill>
              </a:rPr>
              <a:t>Pipelines, 5 models, cross-validation, tuning, metrics</a:t>
            </a:r>
            <a:endParaRPr lang="en-US" sz="1400" dirty="0"/>
          </a:p>
        </p:txBody>
      </p:sp>
      <p:sp>
        <p:nvSpPr>
          <p:cNvPr id="29" name="Tool card 5"/>
          <p:cNvSpPr/>
          <p:nvPr/>
        </p:nvSpPr>
        <p:spPr>
          <a:xfrm>
            <a:off x="3374136" y="3886200"/>
            <a:ext cx="2615184" cy="2240280"/>
          </a:xfrm>
          <a:prstGeom prst="roundRect">
            <a:avLst>
              <a:gd name="adj" fmla="val 3265"/>
            </a:avLst>
          </a:prstGeom>
          <a:solidFill>
            <a:schemeClr val="bg2"/>
          </a:solidFill>
          <a:ln/>
        </p:spPr>
      </p:sp>
      <p:sp>
        <p:nvSpPr>
          <p:cNvPr id="30" name="Tool 5 circle"/>
          <p:cNvSpPr/>
          <p:nvPr/>
        </p:nvSpPr>
        <p:spPr>
          <a:xfrm>
            <a:off x="3648456" y="4160520"/>
            <a:ext cx="685800" cy="685800"/>
          </a:xfrm>
          <a:prstGeom prst="ellipse">
            <a:avLst/>
          </a:prstGeom>
          <a:solidFill>
            <a:srgbClr val="16243A"/>
          </a:solidFill>
          <a:ln/>
        </p:spPr>
      </p:sp>
      <p:pic>
        <p:nvPicPr>
          <p:cNvPr id="31" name="Tool 5 icon" descr="preencoded.png">    </p:cNvPr>
          <p:cNvPicPr>
            <a:picLocks noChangeAspect="1"/>
          </p:cNvPicPr>
          <p:nvPr/>
        </p:nvPicPr>
        <p:blipFill>
          <a:blip r:embed="rId6"/>
          <a:stretch>
            <a:fillRect/>
          </a:stretch>
        </p:blipFill>
        <p:spPr>
          <a:xfrm>
            <a:off x="3833622" y="4345686"/>
            <a:ext cx="315468" cy="315468"/>
          </a:xfrm>
          <a:prstGeom prst="rect">
            <a:avLst/>
          </a:prstGeom>
        </p:spPr>
      </p:pic>
      <p:sp>
        <p:nvSpPr>
          <p:cNvPr id="32" name="Text 24"/>
          <p:cNvSpPr txBox="1"/>
          <p:nvPr/>
        </p:nvSpPr>
        <p:spPr>
          <a:xfrm>
            <a:off x="3648456" y="4983480"/>
            <a:ext cx="2157984" cy="411480"/>
          </a:xfrm>
          <a:prstGeom prst="rect">
            <a:avLst/>
          </a:prstGeom>
          <a:noFill/>
          <a:ln/>
        </p:spPr>
        <p:txBody>
          <a:bodyPr wrap="square" lIns="0" tIns="0" rIns="0" bIns="0" rtlCol="0" anchor="t"/>
          <a:lstStyle/>
          <a:p>
            <a:pPr indent="0" marL="0">
              <a:buNone/>
            </a:pPr>
            <a:r>
              <a:rPr lang="en-US" sz="1700" b="1" dirty="0">
                <a:solidFill>
                  <a:schemeClr val="tx2"/>
                </a:solidFill>
              </a:rPr>
              <a:t>joblib</a:t>
            </a:r>
            <a:endParaRPr lang="en-US" sz="1700" dirty="0"/>
          </a:p>
        </p:txBody>
      </p:sp>
      <p:sp>
        <p:nvSpPr>
          <p:cNvPr id="33" name="Text 25"/>
          <p:cNvSpPr txBox="1"/>
          <p:nvPr/>
        </p:nvSpPr>
        <p:spPr>
          <a:xfrm>
            <a:off x="3648456" y="5394960"/>
            <a:ext cx="2157984" cy="640080"/>
          </a:xfrm>
          <a:prstGeom prst="rect">
            <a:avLst/>
          </a:prstGeom>
          <a:noFill/>
          <a:ln/>
        </p:spPr>
        <p:txBody>
          <a:bodyPr wrap="square" lIns="0" tIns="0" rIns="0" bIns="0" rtlCol="0" anchor="t"/>
          <a:lstStyle/>
          <a:p>
            <a:pPr indent="0" marL="0">
              <a:buNone/>
            </a:pPr>
            <a:r>
              <a:rPr lang="en-US" sz="1400" dirty="0">
                <a:solidFill>
                  <a:schemeClr val="tx1"/>
                </a:solidFill>
              </a:rPr>
              <a:t>Saving the trained pipeline for deployment</a:t>
            </a:r>
            <a:endParaRPr lang="en-US" sz="1400" dirty="0"/>
          </a:p>
        </p:txBody>
      </p:sp>
      <p:sp>
        <p:nvSpPr>
          <p:cNvPr id="34" name="Tool card 6"/>
          <p:cNvSpPr/>
          <p:nvPr/>
        </p:nvSpPr>
        <p:spPr>
          <a:xfrm>
            <a:off x="6199632" y="3886200"/>
            <a:ext cx="2615184" cy="2240280"/>
          </a:xfrm>
          <a:prstGeom prst="roundRect">
            <a:avLst>
              <a:gd name="adj" fmla="val 3265"/>
            </a:avLst>
          </a:prstGeom>
          <a:solidFill>
            <a:schemeClr val="bg2"/>
          </a:solidFill>
          <a:ln/>
        </p:spPr>
      </p:sp>
      <p:sp>
        <p:nvSpPr>
          <p:cNvPr id="35" name="Tool 6 circle"/>
          <p:cNvSpPr/>
          <p:nvPr/>
        </p:nvSpPr>
        <p:spPr>
          <a:xfrm>
            <a:off x="6473952" y="4160520"/>
            <a:ext cx="685800" cy="685800"/>
          </a:xfrm>
          <a:prstGeom prst="ellipse">
            <a:avLst/>
          </a:prstGeom>
          <a:solidFill>
            <a:srgbClr val="16243A"/>
          </a:solidFill>
          <a:ln/>
        </p:spPr>
      </p:sp>
      <p:pic>
        <p:nvPicPr>
          <p:cNvPr id="36" name="Tool 6 icon" descr="preencoded.png">    </p:cNvPr>
          <p:cNvPicPr>
            <a:picLocks noChangeAspect="1"/>
          </p:cNvPicPr>
          <p:nvPr/>
        </p:nvPicPr>
        <p:blipFill>
          <a:blip r:embed="rId7"/>
          <a:stretch>
            <a:fillRect/>
          </a:stretch>
        </p:blipFill>
        <p:spPr>
          <a:xfrm>
            <a:off x="6659118" y="4345686"/>
            <a:ext cx="315468" cy="315468"/>
          </a:xfrm>
          <a:prstGeom prst="rect">
            <a:avLst/>
          </a:prstGeom>
        </p:spPr>
      </p:pic>
      <p:sp>
        <p:nvSpPr>
          <p:cNvPr id="37" name="Text 28"/>
          <p:cNvSpPr txBox="1"/>
          <p:nvPr/>
        </p:nvSpPr>
        <p:spPr>
          <a:xfrm>
            <a:off x="6473952" y="4983480"/>
            <a:ext cx="2157984" cy="411480"/>
          </a:xfrm>
          <a:prstGeom prst="rect">
            <a:avLst/>
          </a:prstGeom>
          <a:noFill/>
          <a:ln/>
        </p:spPr>
        <p:txBody>
          <a:bodyPr wrap="square" lIns="0" tIns="0" rIns="0" bIns="0" rtlCol="0" anchor="t"/>
          <a:lstStyle/>
          <a:p>
            <a:pPr indent="0" marL="0">
              <a:buNone/>
            </a:pPr>
            <a:r>
              <a:rPr lang="en-US" sz="1700" b="1" dirty="0">
                <a:solidFill>
                  <a:schemeClr val="tx2"/>
                </a:solidFill>
              </a:rPr>
              <a:t>Gradio</a:t>
            </a:r>
            <a:endParaRPr lang="en-US" sz="1700" dirty="0"/>
          </a:p>
        </p:txBody>
      </p:sp>
      <p:sp>
        <p:nvSpPr>
          <p:cNvPr id="38" name="Text 29"/>
          <p:cNvSpPr txBox="1"/>
          <p:nvPr/>
        </p:nvSpPr>
        <p:spPr>
          <a:xfrm>
            <a:off x="6473952" y="5394960"/>
            <a:ext cx="2157984" cy="640080"/>
          </a:xfrm>
          <a:prstGeom prst="rect">
            <a:avLst/>
          </a:prstGeom>
          <a:noFill/>
          <a:ln/>
        </p:spPr>
        <p:txBody>
          <a:bodyPr wrap="square" lIns="0" tIns="0" rIns="0" bIns="0" rtlCol="0" anchor="t"/>
          <a:lstStyle/>
          <a:p>
            <a:pPr indent="0" marL="0">
              <a:buNone/>
            </a:pPr>
            <a:r>
              <a:rPr lang="en-US" sz="1400" dirty="0">
                <a:solidFill>
                  <a:schemeClr val="tx1"/>
                </a:solidFill>
              </a:rPr>
              <a:t>Web app for the live scoring demo</a:t>
            </a:r>
            <a:endParaRPr lang="en-US" sz="1400" dirty="0"/>
          </a:p>
        </p:txBody>
      </p:sp>
      <p:sp>
        <p:nvSpPr>
          <p:cNvPr id="39" name="Tool card 7"/>
          <p:cNvSpPr/>
          <p:nvPr/>
        </p:nvSpPr>
        <p:spPr>
          <a:xfrm>
            <a:off x="9025128" y="3886200"/>
            <a:ext cx="2615184" cy="2240280"/>
          </a:xfrm>
          <a:prstGeom prst="roundRect">
            <a:avLst>
              <a:gd name="adj" fmla="val 3265"/>
            </a:avLst>
          </a:prstGeom>
          <a:solidFill>
            <a:schemeClr val="bg2"/>
          </a:solidFill>
          <a:ln/>
        </p:spPr>
      </p:sp>
      <p:sp>
        <p:nvSpPr>
          <p:cNvPr id="40" name="Tool 7 circle"/>
          <p:cNvSpPr/>
          <p:nvPr/>
        </p:nvSpPr>
        <p:spPr>
          <a:xfrm>
            <a:off x="9299448" y="4160520"/>
            <a:ext cx="685800" cy="685800"/>
          </a:xfrm>
          <a:prstGeom prst="ellipse">
            <a:avLst/>
          </a:prstGeom>
          <a:solidFill>
            <a:srgbClr val="16243A"/>
          </a:solidFill>
          <a:ln/>
        </p:spPr>
      </p:sp>
      <p:pic>
        <p:nvPicPr>
          <p:cNvPr id="41" name="Tool 7 icon" descr="preencoded.png">    </p:cNvPr>
          <p:cNvPicPr>
            <a:picLocks noChangeAspect="1"/>
          </p:cNvPicPr>
          <p:nvPr/>
        </p:nvPicPr>
        <p:blipFill>
          <a:blip r:embed="rId8"/>
          <a:stretch>
            <a:fillRect/>
          </a:stretch>
        </p:blipFill>
        <p:spPr>
          <a:xfrm>
            <a:off x="9484614" y="4345686"/>
            <a:ext cx="315468" cy="315468"/>
          </a:xfrm>
          <a:prstGeom prst="rect">
            <a:avLst/>
          </a:prstGeom>
        </p:spPr>
      </p:pic>
      <p:sp>
        <p:nvSpPr>
          <p:cNvPr id="42" name="Text 32"/>
          <p:cNvSpPr txBox="1"/>
          <p:nvPr/>
        </p:nvSpPr>
        <p:spPr>
          <a:xfrm>
            <a:off x="9299448" y="4983480"/>
            <a:ext cx="2157984" cy="411480"/>
          </a:xfrm>
          <a:prstGeom prst="rect">
            <a:avLst/>
          </a:prstGeom>
          <a:noFill/>
          <a:ln/>
        </p:spPr>
        <p:txBody>
          <a:bodyPr wrap="square" lIns="0" tIns="0" rIns="0" bIns="0" rtlCol="0" anchor="t"/>
          <a:lstStyle/>
          <a:p>
            <a:pPr indent="0" marL="0">
              <a:buNone/>
            </a:pPr>
            <a:r>
              <a:rPr lang="en-US" sz="1700" b="1" dirty="0">
                <a:solidFill>
                  <a:schemeClr val="tx2"/>
                </a:solidFill>
              </a:rPr>
              <a:t>PowerPoint</a:t>
            </a:r>
            <a:endParaRPr lang="en-US" sz="1700" dirty="0"/>
          </a:p>
        </p:txBody>
      </p:sp>
      <p:sp>
        <p:nvSpPr>
          <p:cNvPr id="43" name="Text 33"/>
          <p:cNvSpPr txBox="1"/>
          <p:nvPr/>
        </p:nvSpPr>
        <p:spPr>
          <a:xfrm>
            <a:off x="9299448" y="5394960"/>
            <a:ext cx="2157984" cy="640080"/>
          </a:xfrm>
          <a:prstGeom prst="rect">
            <a:avLst/>
          </a:prstGeom>
          <a:noFill/>
          <a:ln/>
        </p:spPr>
        <p:txBody>
          <a:bodyPr wrap="square" lIns="0" tIns="0" rIns="0" bIns="0" rtlCol="0" anchor="t"/>
          <a:lstStyle/>
          <a:p>
            <a:pPr indent="0" marL="0">
              <a:buNone/>
            </a:pPr>
            <a:r>
              <a:rPr lang="en-US" sz="1400" dirty="0">
                <a:solidFill>
                  <a:schemeClr val="tx1"/>
                </a:solidFill>
              </a:rPr>
              <a:t>Communicating the process and findings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Loan Risk">
  <a:themeElements>
    <a:clrScheme name="Loan Risk">
      <a:dk1>
        <a:srgbClr val="1A1A1A"/>
      </a:dk1>
      <a:lt1>
        <a:srgbClr val="FFFFFF"/>
      </a:lt1>
      <a:dk2>
        <a:srgbClr val="16243A"/>
      </a:dk2>
      <a:lt2>
        <a:srgbClr val="EEF2F7"/>
      </a:lt2>
      <a:accent1>
        <a:srgbClr val="E8622C"/>
      </a:accent1>
      <a:accent2>
        <a:srgbClr val="2A78D6"/>
      </a:accent2>
      <a:accent3>
        <a:srgbClr val="1A9E6E"/>
      </a:accent3>
      <a:accent4>
        <a:srgbClr val="D99A00"/>
      </a:accent4>
      <a:accent5>
        <a:srgbClr val="5B6878"/>
      </a:accent5>
      <a:accent6>
        <a:srgbClr val="C73A3A"/>
      </a:accent6>
      <a:hlink>
        <a:srgbClr val="2A78D6"/>
      </a:hlink>
      <a:folHlink>
        <a:srgbClr val="5B6878"/>
      </a:folHlink>
    </a:clrScheme>
    <a:fontScheme name="Loa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Loan Default</dc:title>
  <dc:subject>NTUC Associate DA Capstone</dc:subject>
  <dc:creator>Reshma</dc:creator>
  <cp:lastModifiedBy>Reshma</cp:lastModifiedBy>
  <cp:revision>1</cp:revision>
  <dcterms:created xsi:type="dcterms:W3CDTF">2026-10-23T13:31:45Z</dcterms:created>
  <dcterms:modified xsi:type="dcterms:W3CDTF">2026-10-23T13:31:45Z</dcterms:modified>
</cp:coreProperties>
</file>